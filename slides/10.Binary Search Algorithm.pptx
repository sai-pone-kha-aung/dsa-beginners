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embeddedFontLst>
    <p:embeddedFont>
      <p:font typeface="Fira Code" panose="020B0809050000020004" pitchFamily="49" charset="0"/>
      <p:regular r:id="rId15"/>
      <p:bold r:id="rId16"/>
    </p:embeddedFont>
    <p:embeddedFont>
      <p:font typeface="Lato" panose="020F0502020204030203" pitchFamily="34" charset="77"/>
      <p:regular r:id="rId17"/>
      <p:bold r:id="rId18"/>
      <p:italic r:id="rId19"/>
      <p:boldItalic r:id="rId20"/>
    </p:embeddedFont>
    <p:embeddedFont>
      <p:font typeface="Noto Sans Myanmar" panose="020B0502040504020204" pitchFamily="34" charset="0"/>
      <p:regular r:id="rId21"/>
      <p:bold r:id="rId22"/>
    </p:embeddedFont>
    <p:embeddedFont>
      <p:font typeface="Poppins" pitchFamily="2" charset="77"/>
      <p:regular r:id="rId23"/>
      <p:bold r:id="rId24"/>
      <p:italic r:id="rId25"/>
      <p:boldItalic r:id="rId26"/>
    </p:embeddedFont>
    <p:embeddedFont>
      <p:font typeface="Poppins SemiBold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5C5D2A-9E32-4783-94BC-00672540A791}">
  <a:tblStyle styleId="{205C5D2A-9E32-4783-94BC-00672540A7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70"/>
  </p:normalViewPr>
  <p:slideViewPr>
    <p:cSldViewPr snapToGrid="0">
      <p:cViewPr varScale="1">
        <p:scale>
          <a:sx n="117" d="100"/>
          <a:sy n="117" d="100"/>
        </p:scale>
        <p:origin x="107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EB5BEB87-EA26-17AE-AB9C-A69670B7E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>
            <a:extLst>
              <a:ext uri="{FF2B5EF4-FFF2-40B4-BE49-F238E27FC236}">
                <a16:creationId xmlns:a16="http://schemas.microsoft.com/office/drawing/2014/main" id="{1BC15E8C-5570-DBF1-3C57-0B796B07A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>
            <a:extLst>
              <a:ext uri="{FF2B5EF4-FFF2-40B4-BE49-F238E27FC236}">
                <a16:creationId xmlns:a16="http://schemas.microsoft.com/office/drawing/2014/main" id="{69FA13A0-1AC9-7091-793F-FF2CFDEE0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0487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533A917D-640A-674C-588F-627E70CF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>
            <a:extLst>
              <a:ext uri="{FF2B5EF4-FFF2-40B4-BE49-F238E27FC236}">
                <a16:creationId xmlns:a16="http://schemas.microsoft.com/office/drawing/2014/main" id="{5E601B71-D79B-4BC2-05B1-F6DD03AA9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:notes">
            <a:extLst>
              <a:ext uri="{FF2B5EF4-FFF2-40B4-BE49-F238E27FC236}">
                <a16:creationId xmlns:a16="http://schemas.microsoft.com/office/drawing/2014/main" id="{B6F873F8-0FFC-A1F5-7146-2DEBB1A79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396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3.png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1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70496" y="1889819"/>
            <a:ext cx="8051100" cy="19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 dirty="0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Binary Search</a:t>
            </a:r>
            <a:r>
              <a:rPr lang="en-US" sz="5625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25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Algorithm</a:t>
            </a:r>
            <a:endParaRPr dirty="0"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B63AEA1F-6B82-3DB3-8C87-2065BFA69887}"/>
              </a:ext>
            </a:extLst>
          </p:cNvPr>
          <p:cNvSpPr txBox="1"/>
          <p:nvPr/>
        </p:nvSpPr>
        <p:spPr>
          <a:xfrm>
            <a:off x="1809750" y="4187722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- 10 ]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1377404"/>
            <a:ext cx="1143000" cy="5715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5276" y="1720304"/>
            <a:ext cx="115815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ဘာကြောင့် Linear Search က မလုံလောက်တာလဲ?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4577804"/>
            <a:ext cx="7620000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Data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အရေအတွက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၁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သန်းလောက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ရှိလာရင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တစ်ခုချင်းစီ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လိုက်ရှာဖို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အချိန်အရမ်းကြာပါတယ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Data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သန်းထောင်ချီ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ရှိတာကြောင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 </a:t>
            </a:r>
            <a:r>
              <a:rPr lang="en-US" sz="1950" b="1" i="0" u="none" strike="noStrike" cap="none" dirty="0" err="1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ပိုမြန်တဲ</a:t>
            </a:r>
            <a:r>
              <a:rPr lang="en-US" sz="1950" b="1" i="0" u="none" strike="noStrike" cap="none" dirty="0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1" i="0" u="none" strike="noStrike" cap="none" dirty="0" err="1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နည်းလမ်း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မရှိမဖြစ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လိုအပ်လာပါတယ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1450510"/>
            <a:ext cx="5276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ဖုန်းစာအုပ်ထဲမှာ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"Min Min"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ဆိုတဲ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နာမည်ကို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ရှာမယ်ဆိုပါစို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့။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E4A410A-4EEF-76F7-45D6-FB7B976F1D2C}"/>
              </a:ext>
            </a:extLst>
          </p:cNvPr>
          <p:cNvGrpSpPr/>
          <p:nvPr/>
        </p:nvGrpSpPr>
        <p:grpSpPr>
          <a:xfrm>
            <a:off x="581025" y="5133677"/>
            <a:ext cx="5276850" cy="1386482"/>
            <a:chOff x="581025" y="5133677"/>
            <a:chExt cx="5276850" cy="1386482"/>
          </a:xfrm>
        </p:grpSpPr>
        <p:pic>
          <p:nvPicPr>
            <p:cNvPr id="101" name="Google Shape;101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5133677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838200" y="5239316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ဒီလိုမျိုး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"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ထက်ဝက်စီ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ပိုင်းပြီး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ပယ်ထုတ်သွားတဲ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(Divide and Conquer)"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နည်းလမ်းကို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Binary Search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ခေ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16AC4EE-CD3C-1E56-5BE8-A6E0828C9B3A}"/>
              </a:ext>
            </a:extLst>
          </p:cNvPr>
          <p:cNvGrpSpPr/>
          <p:nvPr/>
        </p:nvGrpSpPr>
        <p:grpSpPr>
          <a:xfrm>
            <a:off x="574901" y="2073175"/>
            <a:ext cx="5282974" cy="670321"/>
            <a:chOff x="574901" y="2073175"/>
            <a:chExt cx="5282974" cy="670321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2073175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စာမျက်နှာ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၁ (A)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စပြီး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တစ်ရွက်ချင်း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လိုက်မလှန်ပါဘူး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 (Linear Search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မလုပ်ပ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ါ)</a:t>
              </a:r>
              <a:endParaRPr dirty="0"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4901" y="2166341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3FDEF31-A6F5-5D37-21F6-1BBFE9D0BB72}"/>
              </a:ext>
            </a:extLst>
          </p:cNvPr>
          <p:cNvGrpSpPr/>
          <p:nvPr/>
        </p:nvGrpSpPr>
        <p:grpSpPr>
          <a:xfrm>
            <a:off x="574901" y="2981622"/>
            <a:ext cx="5282974" cy="670321"/>
            <a:chOff x="574901" y="2981622"/>
            <a:chExt cx="5282974" cy="670321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1104900" y="2981622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စာအုပ်ရဲ့ </a:t>
              </a:r>
              <a:r>
                <a:rPr lang="en-US" sz="1650" b="1" i="0" u="none" strike="noStrike" cap="none">
                  <a:solidFill>
                    <a:srgbClr val="818CF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အလယ်တည့်တည့် (M လောက်)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ကို လှန်ချလိုက်ပါတယ်။</a:t>
              </a:r>
              <a:endParaRPr/>
            </a:p>
          </p:txBody>
        </p:sp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4901" y="3094701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71329D5-B4FE-2045-29E4-920398A7E03C}"/>
              </a:ext>
            </a:extLst>
          </p:cNvPr>
          <p:cNvGrpSpPr/>
          <p:nvPr/>
        </p:nvGrpSpPr>
        <p:grpSpPr>
          <a:xfrm>
            <a:off x="574900" y="3890069"/>
            <a:ext cx="5282975" cy="1005482"/>
            <a:chOff x="574900" y="3890069"/>
            <a:chExt cx="5282975" cy="1005482"/>
          </a:xfrm>
        </p:grpSpPr>
        <p:sp>
          <p:nvSpPr>
            <p:cNvPr id="106" name="Google Shape;106;p15"/>
            <p:cNvSpPr txBox="1"/>
            <p:nvPr/>
          </p:nvSpPr>
          <p:spPr>
            <a:xfrm>
              <a:off x="1104900" y="3890069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အကယ်၍ ကိုယ်ရှာတဲ့ နာမည်က M ထက် နောက်ကျရင် ရှေ့တစ်ဝက်လုံးကို </a:t>
              </a:r>
              <a:r>
                <a:rPr lang="en-US" sz="1650" b="1" i="0" u="none" strike="noStrike" cap="none">
                  <a:solidFill>
                    <a:srgbClr val="FB718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ဖယ်ရှားလိုက်ပြီး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နောက်တစ်ဝက်မှာပဲ ဆက်ရှာပါတယ်။</a:t>
              </a:r>
              <a:endParaRPr/>
            </a:p>
          </p:txBody>
        </p:sp>
        <p:pic>
          <p:nvPicPr>
            <p:cNvPr id="109" name="Google Shape;109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4900" y="3985601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5"/>
          <p:cNvSpPr txBox="1"/>
          <p:nvPr/>
        </p:nvSpPr>
        <p:spPr>
          <a:xfrm>
            <a:off x="581025" y="344289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ဖုန်းစာအုပ် ဥပမာ (Phonebook Analogy) 📖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81025" y="1204614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5" descr="ဖုန်းစာအုပ် ဥပမာ (Phonebook Analogy) 📖&#10;ဖုန်းစာအုပ်ထဲမှာ &quot;Min Min&quot; ဆိုတဲ့ နာမည်ကို ရှာမယ်ဆိုပါစို့။&#10;စာမျက်နှာ ၁ (A) ကနေ စပြီး တစ်ရွက်ချင်း လိုက်မလှန်ပါဘူး။ (Linear Search မလုပ်ပါ)&#10;စာအုပ်ရဲ့ အလယ်တည့်တည့် (M လောက်) ကို လှန်ချလိုက်ပါတယ်။&#10;အကယ်၍ ကိုယ်ရှာတဲ့ နာမည်က M ထက် နောက်ကျရင် ရှေ့တစ်ဝက်လုံးကို ဖယ်ရှားလိုက်ပြီး နောက်တစ်ဝက်မှာပဲ ဆက်ရှာပါတယ်။&#10;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34175" y="14528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48308" y="4514850"/>
            <a:ext cx="22288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83687" y="3133725"/>
            <a:ext cx="4963417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 dirty="0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SORTED!</a:t>
            </a:r>
            <a:endParaRPr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6115942" y="2012156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များသည် အစဉ်လိုက်ဖြစ်နေရမည်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115942" y="2583059"/>
            <a:ext cx="5495032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Binary Search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အလုပ်လုပ်ဖို့ဆိုရင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Array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ထဲက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ဂဏန်းတွေဟာ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အငယ်မှအကြီး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(Ascending Order)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သေချာပေါက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စီထားပြီးသား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ဖြစ်ရပါမယ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6115942" y="5432821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ဘာလို့လဲဆိုတော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အစဉ်လိုက်မဖြစ်ရင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ဘယ်ဘက်သွားရမလဲ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ညာဘက်သွားရမလဲဆိုတာ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ဆုံးဖြတ်လို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မရတော့လို့ပ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AF4A12-60C6-0722-8138-F36AE5BAFF6E}"/>
              </a:ext>
            </a:extLst>
          </p:cNvPr>
          <p:cNvGrpSpPr/>
          <p:nvPr/>
        </p:nvGrpSpPr>
        <p:grpSpPr>
          <a:xfrm>
            <a:off x="6128054" y="3932050"/>
            <a:ext cx="5482996" cy="384262"/>
            <a:chOff x="6128054" y="3932050"/>
            <a:chExt cx="5482996" cy="384262"/>
          </a:xfrm>
        </p:grpSpPr>
        <p:sp>
          <p:nvSpPr>
            <p:cNvPr id="123" name="Google Shape;123;p16"/>
            <p:cNvSpPr txBox="1"/>
            <p:nvPr/>
          </p:nvSpPr>
          <p:spPr>
            <a:xfrm>
              <a:off x="8844450" y="3932050"/>
              <a:ext cx="2766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→ အလုပ်လုပ်ပါသည်။</a:t>
              </a:r>
              <a:endParaRPr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71C815F-3027-3AA5-9BBF-84BAFC47B8A7}"/>
                </a:ext>
              </a:extLst>
            </p:cNvPr>
            <p:cNvGrpSpPr/>
            <p:nvPr/>
          </p:nvGrpSpPr>
          <p:grpSpPr>
            <a:xfrm>
              <a:off x="6128054" y="3973412"/>
              <a:ext cx="2435813" cy="342900"/>
              <a:chOff x="6128054" y="3973412"/>
              <a:chExt cx="2435813" cy="342900"/>
            </a:xfrm>
          </p:grpSpPr>
          <p:pic>
            <p:nvPicPr>
              <p:cNvPr id="125" name="Google Shape;125;p16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639817" y="3973412"/>
                <a:ext cx="192405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" name="Google Shape;127;p16" descr="image.png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128054" y="4054374"/>
                <a:ext cx="219075" cy="2571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0A4D1F9-14DF-D371-3817-1DFA178CF9CB}"/>
              </a:ext>
            </a:extLst>
          </p:cNvPr>
          <p:cNvGrpSpPr/>
          <p:nvPr/>
        </p:nvGrpSpPr>
        <p:grpSpPr>
          <a:xfrm>
            <a:off x="6125466" y="4514850"/>
            <a:ext cx="5485584" cy="660300"/>
            <a:chOff x="6125466" y="4514850"/>
            <a:chExt cx="5485584" cy="660300"/>
          </a:xfrm>
        </p:grpSpPr>
        <p:sp>
          <p:nvSpPr>
            <p:cNvPr id="124" name="Google Shape;124;p16"/>
            <p:cNvSpPr txBox="1"/>
            <p:nvPr/>
          </p:nvSpPr>
          <p:spPr>
            <a:xfrm>
              <a:off x="8897250" y="4514850"/>
              <a:ext cx="27138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→ အလုပ်မလုပ်ပါ။ အရင်ဆုံး Sort လုပ်ဖို့ လိုပါမယ်။</a:t>
              </a:r>
              <a:endParaRPr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861E17C-6AA8-AFA7-4488-1E0F81F44E13}"/>
                </a:ext>
              </a:extLst>
            </p:cNvPr>
            <p:cNvGrpSpPr/>
            <p:nvPr/>
          </p:nvGrpSpPr>
          <p:grpSpPr>
            <a:xfrm>
              <a:off x="6125466" y="4624385"/>
              <a:ext cx="2447925" cy="342900"/>
              <a:chOff x="6125466" y="4624385"/>
              <a:chExt cx="2447925" cy="342900"/>
            </a:xfrm>
          </p:grpSpPr>
          <p:pic>
            <p:nvPicPr>
              <p:cNvPr id="126" name="Google Shape;126;p16" descr="image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649341" y="4624385"/>
                <a:ext cx="1924050" cy="342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" name="Google Shape;128;p16" descr="image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125466" y="4676772"/>
                <a:ext cx="190500" cy="2571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9" name="Google Shape;129;p16"/>
          <p:cNvSpPr txBox="1"/>
          <p:nvPr/>
        </p:nvSpPr>
        <p:spPr>
          <a:xfrm>
            <a:off x="581025" y="581025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B718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အရေးကြီးဆုံး စည်းကမ်းချက် ⚠️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1025" y="1638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48C4816-6A27-15C4-5F5F-6A9852A7DBF5}"/>
              </a:ext>
            </a:extLst>
          </p:cNvPr>
          <p:cNvGrpSpPr/>
          <p:nvPr/>
        </p:nvGrpSpPr>
        <p:grpSpPr>
          <a:xfrm>
            <a:off x="581025" y="2038647"/>
            <a:ext cx="3486150" cy="4180879"/>
            <a:chOff x="581025" y="2038647"/>
            <a:chExt cx="3486150" cy="4180879"/>
          </a:xfrm>
        </p:grpSpPr>
        <p:pic>
          <p:nvPicPr>
            <p:cNvPr id="136" name="Google Shape;136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038647"/>
              <a:ext cx="3486150" cy="4180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457747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17"/>
            <p:cNvSpPr txBox="1"/>
            <p:nvPr/>
          </p:nvSpPr>
          <p:spPr>
            <a:xfrm>
              <a:off x="876300" y="3457872"/>
              <a:ext cx="192024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Set Pointers</a:t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876300" y="4000797"/>
              <a:ext cx="2895600" cy="147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Array ရဲ့ အစွန်နှစ်ဖက်မှာ           နဲ့                 ဆိုပြီး အမှတ်အသား (Pointers) နှစ်ခု အရင် သတ်မှတ်လိုက်ပါတယ်။</a:t>
              </a:r>
              <a:endParaRPr/>
            </a:p>
          </p:txBody>
        </p:sp>
        <p:pic>
          <p:nvPicPr>
            <p:cNvPr id="148" name="Google Shape;148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38225" y="2619672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7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05150" y="4030783"/>
              <a:ext cx="6667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7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085850" y="4394397"/>
              <a:ext cx="781050" cy="34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C0B1F2D-EF93-268A-7487-3621CB52C71A}"/>
              </a:ext>
            </a:extLst>
          </p:cNvPr>
          <p:cNvGrpSpPr/>
          <p:nvPr/>
        </p:nvGrpSpPr>
        <p:grpSpPr>
          <a:xfrm>
            <a:off x="4352925" y="2038647"/>
            <a:ext cx="3486150" cy="4180879"/>
            <a:chOff x="4352925" y="2038647"/>
            <a:chExt cx="3486150" cy="4180879"/>
          </a:xfrm>
        </p:grpSpPr>
        <p:pic>
          <p:nvPicPr>
            <p:cNvPr id="137" name="Google Shape;137;p17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352925" y="2038647"/>
              <a:ext cx="3486150" cy="4180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7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648200" y="2457747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7"/>
            <p:cNvSpPr txBox="1"/>
            <p:nvPr/>
          </p:nvSpPr>
          <p:spPr>
            <a:xfrm>
              <a:off x="4648200" y="3457872"/>
              <a:ext cx="1940242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2. Find Middle</a:t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4648200" y="4000797"/>
              <a:ext cx="2895600" cy="18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 Pointers နှစ်ခုကြားက အလယ်တည့်တည့် အခန်း        ကို တွက်ထုတ်ပြီး ကိုယ်ရှာတဲ့ဂဏန်းနဲ့ ကိုက်/မကိုက် စစ်ပါတယ်။</a:t>
              </a:r>
              <a:endParaRPr/>
            </a:p>
          </p:txBody>
        </p:sp>
        <p:pic>
          <p:nvPicPr>
            <p:cNvPr id="151" name="Google Shape;151;p17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810125" y="2619672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7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6991350" y="4394397"/>
              <a:ext cx="552450" cy="34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C763C51-1EBE-9BBB-EB8D-7BF8D653C0E6}"/>
              </a:ext>
            </a:extLst>
          </p:cNvPr>
          <p:cNvGrpSpPr/>
          <p:nvPr/>
        </p:nvGrpSpPr>
        <p:grpSpPr>
          <a:xfrm>
            <a:off x="8124825" y="2038647"/>
            <a:ext cx="3486150" cy="4180879"/>
            <a:chOff x="8124825" y="2038647"/>
            <a:chExt cx="3486150" cy="4180879"/>
          </a:xfrm>
        </p:grpSpPr>
        <p:pic>
          <p:nvPicPr>
            <p:cNvPr id="138" name="Google Shape;138;p17" descr="image.png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124825" y="2038647"/>
              <a:ext cx="3486150" cy="4180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7" descr="image.png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8420100" y="2457747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7"/>
            <p:cNvSpPr txBox="1"/>
            <p:nvPr/>
          </p:nvSpPr>
          <p:spPr>
            <a:xfrm>
              <a:off x="8420100" y="3457872"/>
              <a:ext cx="2300287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FB7185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3. Eliminate Half</a:t>
              </a:r>
              <a:endParaRPr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8420100" y="4000797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ရှာတဲ့ဂဏန်းက Mid ထက် ကြီးရင်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ဘယ်ဘက်တစ်ခြမ်းလုံး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ကို လွှင့်ပစ်လိုက်ပြီး၊ ငယ်ရင်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ညာဘက်တစ်ခြမ်းလုံး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ကို လွှင့်ပစ်လိုက်ပါတယ်။</a:t>
              </a:r>
              <a:endParaRPr/>
            </a:p>
          </p:txBody>
        </p:sp>
        <p:pic>
          <p:nvPicPr>
            <p:cNvPr id="153" name="Google Shape;153;p17" descr="image.pn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8582025" y="2619672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581025" y="581025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ဘယ်လို အလုပ်လုပ်လဲ? (Step by Step)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81025" y="1638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0462" y="2535584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5787" y="2535584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1112" y="2535584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86437" y="2535584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1762" y="2535584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77087" y="2535584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72412" y="2535584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00462" y="4569916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395787" y="4569916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091112" y="4569916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86437" y="4569916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81762" y="4569916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177087" y="4569916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872412" y="4569916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4071937" y="1931789"/>
            <a:ext cx="40481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Step 1: လယ်တည့်တည့် (Mid) ကို စစ်မည်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976423" y="3496549"/>
            <a:ext cx="9327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7 ထက် 11 က ကြီးတဲ့အတွက် ဘယ်ဘက်ခြမ်းလုံးကို ဖျက်ပစ်မည်။ (Left ကို Mid+1 သို့ရွှေ့မည်)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214812" y="3966120"/>
            <a:ext cx="3762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Step 2: ကျန်တဲ့ အခြမ်းကို ထပ်ပိုင်းမည်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310062" y="5522416"/>
            <a:ext cx="35718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D39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Mid မှာတင် 11 ကို တွေ့သွားပါပြီ! 🎉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3862387" y="3173759"/>
            <a:ext cx="2952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Left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967412" y="3173759"/>
            <a:ext cx="2571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Mid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991475" y="3173759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Right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643687" y="5208091"/>
            <a:ext cx="2952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Left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358062" y="5208091"/>
            <a:ext cx="2571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Mid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991475" y="5208091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Right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305276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Visualizing Binary Search (Target = 11)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81025" y="1343025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3508" y="4386262"/>
            <a:ext cx="28384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581013" y="2733112"/>
            <a:ext cx="49635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O(log n)</a:t>
            </a:r>
            <a:endParaRPr dirty="0"/>
          </a:p>
        </p:txBody>
      </p:sp>
      <p:sp>
        <p:nvSpPr>
          <p:cNvPr id="257" name="Google Shape;257;p20"/>
          <p:cNvSpPr txBox="1"/>
          <p:nvPr/>
        </p:nvSpPr>
        <p:spPr>
          <a:xfrm>
            <a:off x="6115942" y="2380654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မှော်ဆန်တဲ</a:t>
            </a:r>
            <a:r>
              <a:rPr lang="en-US" sz="2100" b="1" i="0" u="none" strike="noStrike" cap="none" dirty="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 </a:t>
            </a:r>
            <a:r>
              <a:rPr lang="en-US" sz="2100" b="1" i="0" u="none" strike="noStrike" cap="none" dirty="0" err="1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အမြန်နှုန်း</a:t>
            </a:r>
            <a:r>
              <a:rPr lang="en-US" sz="2100" b="1" i="0" u="none" strike="noStrike" cap="none" dirty="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🌟</a:t>
            </a:r>
            <a:endParaRPr dirty="0"/>
          </a:p>
        </p:txBody>
      </p:sp>
      <p:sp>
        <p:nvSpPr>
          <p:cNvPr id="258" name="Google Shape;258;p20"/>
          <p:cNvSpPr txBox="1"/>
          <p:nvPr/>
        </p:nvSpPr>
        <p:spPr>
          <a:xfrm>
            <a:off x="6115942" y="3104554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အကြိမ်တိုင်းမှာ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ထက်ဝက်စီ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(Divide by 2)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ျှ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ော့ချပစ်နိုင်တဲ့အတွက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ကြာချိန်က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34D39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O(log n)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ဖြစ်သွားပါတယ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259" name="Google Shape;259;p20"/>
          <p:cNvGrpSpPr/>
          <p:nvPr/>
        </p:nvGrpSpPr>
        <p:grpSpPr>
          <a:xfrm>
            <a:off x="6115942" y="4589690"/>
            <a:ext cx="5495032" cy="1854653"/>
            <a:chOff x="6115942" y="4589690"/>
            <a:chExt cx="5495032" cy="1854653"/>
          </a:xfrm>
        </p:grpSpPr>
        <p:pic>
          <p:nvPicPr>
            <p:cNvPr id="260" name="Google Shape;260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15942" y="4589690"/>
              <a:ext cx="5495032" cy="18546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0"/>
            <p:cNvSpPr txBox="1"/>
            <p:nvPr/>
          </p:nvSpPr>
          <p:spPr>
            <a:xfrm>
              <a:off x="6401608" y="4695084"/>
              <a:ext cx="4980600" cy="147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ဒါက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Computer Science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အမြန်ဆန်ဆုံးနဲ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အထိရောက်ဆုံး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Growth Rate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တွေထဲက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တစ်ခုဖြစ်ပါတယ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Linear Search O(n)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ထက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အဆပေါင်းများစွာ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ပိုမြန်ပါတယ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262" name="Google Shape;262;p20"/>
          <p:cNvSpPr txBox="1"/>
          <p:nvPr/>
        </p:nvSpPr>
        <p:spPr>
          <a:xfrm>
            <a:off x="581025" y="581025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Complexity (အချိန်ယူမှု) ⏱️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581025" y="1638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2176399" y="1069271"/>
            <a:ext cx="783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Data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အရေအတွက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များလာလေလေ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ဘယ်လောက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ပိုမြန်လဲဆိုတာ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ကြည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ရအောင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270" name="Google Shape;270;p21"/>
          <p:cNvSpPr txBox="1"/>
          <p:nvPr/>
        </p:nvSpPr>
        <p:spPr>
          <a:xfrm>
            <a:off x="2428800" y="6350654"/>
            <a:ext cx="73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Data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သန်း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၁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ထောင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ရှိရင်တောင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အများဆုံး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၃၀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လောက်ပဲ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ရှာစရာလိုပါတယ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🤯</a:t>
            </a:r>
            <a:endParaRPr dirty="0"/>
          </a:p>
        </p:txBody>
      </p:sp>
      <p:graphicFrame>
        <p:nvGraphicFramePr>
          <p:cNvPr id="271" name="Google Shape;271;p21"/>
          <p:cNvGraphicFramePr/>
          <p:nvPr>
            <p:extLst>
              <p:ext uri="{D42A27DB-BD31-4B8C-83A1-F6EECF244321}">
                <p14:modId xmlns:p14="http://schemas.microsoft.com/office/powerpoint/2010/main" val="3663053175"/>
              </p:ext>
            </p:extLst>
          </p:nvPr>
        </p:nvGraphicFramePr>
        <p:xfrm>
          <a:off x="1684078" y="1581604"/>
          <a:ext cx="8823850" cy="4533925"/>
        </p:xfrm>
        <a:graphic>
          <a:graphicData uri="http://schemas.openxmlformats.org/drawingml/2006/table">
            <a:tbl>
              <a:tblPr firstRow="1" bandRow="1">
                <a:noFill/>
                <a:tableStyleId>{205C5D2A-9E32-4783-94BC-00672540A791}</a:tableStyleId>
              </a:tblPr>
              <a:tblGrid>
                <a:gridCol w="325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6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22D3E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Data </a:t>
                      </a:r>
                      <a:r>
                        <a:rPr lang="en-US" sz="1650" b="1" i="0" u="none" strike="noStrike" cap="none" dirty="0" err="1">
                          <a:solidFill>
                            <a:srgbClr val="22D3E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အရေအတွက</a:t>
                      </a:r>
                      <a:r>
                        <a:rPr lang="en-US" sz="1650" b="1" i="0" u="none" strike="noStrike" cap="none" dirty="0">
                          <a:solidFill>
                            <a:srgbClr val="22D3E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် (N)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B718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Linear Search 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50" b="1" i="0" u="none" strike="noStrike" cap="none">
                          <a:solidFill>
                            <a:srgbClr val="FB718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(Maximum Steps)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4D399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Binary Search 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50" b="1" i="0" u="none" strike="noStrike" cap="none">
                          <a:solidFill>
                            <a:srgbClr val="34D399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(Maximum Steps)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dk2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16 Elements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B7185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16 steps</a:t>
                      </a:r>
                      <a:endParaRPr b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4D399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4 steps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dk2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1,000 Elements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B7185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1,000 steps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4D399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10 steps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dk2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1,000,000 Elements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B7185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1,000,000 steps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4D399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20 steps !!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dk2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 Billion Elements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B7185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1,000,000,000 steps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4D399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30 steps !!!!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2" name="Google Shape;272;p21"/>
          <p:cNvSpPr txBox="1"/>
          <p:nvPr/>
        </p:nvSpPr>
        <p:spPr>
          <a:xfrm>
            <a:off x="305149" y="253246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O(log n) </a:t>
            </a:r>
            <a:r>
              <a:rPr lang="en-US" sz="3300" b="1" i="0" u="none" strike="noStrike" cap="none" dirty="0" err="1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ရဲ</a:t>
            </a:r>
            <a:r>
              <a:rPr lang="en-US" sz="3300" b="1" i="0" u="none" strike="noStrike" cap="none" dirty="0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 </a:t>
            </a:r>
            <a:r>
              <a:rPr lang="en-US" sz="3300" b="1" i="0" u="none" strike="noStrike" cap="none" dirty="0" err="1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အစွမ်း</a:t>
            </a:r>
            <a:r>
              <a:rPr lang="en-US" sz="3300" b="1" i="0" u="none" strike="noStrike" cap="none" dirty="0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(The Power of Log N)</a:t>
            </a:r>
            <a:endParaRPr dirty="0"/>
          </a:p>
        </p:txBody>
      </p:sp>
      <p:sp>
        <p:nvSpPr>
          <p:cNvPr id="273" name="Google Shape;273;p21"/>
          <p:cNvSpPr/>
          <p:nvPr/>
        </p:nvSpPr>
        <p:spPr>
          <a:xfrm>
            <a:off x="581025" y="906958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/>
      <p:bldP spid="2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566267"/>
            <a:ext cx="11029950" cy="483036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581025" y="5801984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Data Size ကြီးလာတာနဲ့အမျှ Binary Search ရဲ့ မျဉ်းက ပြန့်သွား (Flatten) ပြီး အချိန်ပိုမကြာတော့တာကို မြင်တွေ့နိုင်ပါတယ်။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581025" y="461367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Linear vs Binary (Performance Graph)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581025" y="1223367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A624631-F4CF-9D5C-3D9E-2DFC5F46DF91}"/>
              </a:ext>
            </a:extLst>
          </p:cNvPr>
          <p:cNvGrpSpPr/>
          <p:nvPr/>
        </p:nvGrpSpPr>
        <p:grpSpPr>
          <a:xfrm>
            <a:off x="6238875" y="1704379"/>
            <a:ext cx="5372100" cy="4849415"/>
            <a:chOff x="6238875" y="1704379"/>
            <a:chExt cx="5372100" cy="4849415"/>
          </a:xfrm>
        </p:grpSpPr>
        <p:pic>
          <p:nvPicPr>
            <p:cNvPr id="289" name="Google Shape;289;p23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38875" y="1704379"/>
              <a:ext cx="5372100" cy="4849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3"/>
            <p:cNvSpPr txBox="1"/>
            <p:nvPr/>
          </p:nvSpPr>
          <p:spPr>
            <a:xfrm>
              <a:off x="6534150" y="3123604"/>
              <a:ext cx="2750343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rgbClr val="FB7185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Cons (</a:t>
              </a:r>
              <a:r>
                <a:rPr lang="en-US" sz="2100" b="1" i="0" u="none" strike="noStrike" cap="none" dirty="0" err="1">
                  <a:solidFill>
                    <a:srgbClr val="FB7185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အားနည်းချက</a:t>
              </a:r>
              <a:r>
                <a:rPr lang="en-US" sz="2100" b="1" i="0" u="none" strike="noStrike" cap="none" dirty="0">
                  <a:solidFill>
                    <a:srgbClr val="FB7185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်)</a:t>
              </a:r>
              <a:endParaRPr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271B7A6-1AC3-039F-9D69-A7680A8AE2DA}"/>
                </a:ext>
              </a:extLst>
            </p:cNvPr>
            <p:cNvGrpSpPr/>
            <p:nvPr/>
          </p:nvGrpSpPr>
          <p:grpSpPr>
            <a:xfrm>
              <a:off x="6534150" y="2123479"/>
              <a:ext cx="762000" cy="762000"/>
              <a:chOff x="6534150" y="2123479"/>
              <a:chExt cx="762000" cy="762000"/>
            </a:xfrm>
          </p:grpSpPr>
          <p:pic>
            <p:nvPicPr>
              <p:cNvPr id="292" name="Google Shape;292;p23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534150" y="2123479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9" name="Google Shape;299;p23" descr="image.png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696075" y="2285404"/>
                <a:ext cx="4381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05A306-AA6C-516B-63B9-5CB068395239}"/>
                </a:ext>
              </a:extLst>
            </p:cNvPr>
            <p:cNvGrpSpPr/>
            <p:nvPr/>
          </p:nvGrpSpPr>
          <p:grpSpPr>
            <a:xfrm>
              <a:off x="6638925" y="3713827"/>
              <a:ext cx="4676775" cy="670321"/>
              <a:chOff x="6638925" y="3999904"/>
              <a:chExt cx="4676775" cy="670321"/>
            </a:xfrm>
          </p:grpSpPr>
          <p:sp>
            <p:nvSpPr>
              <p:cNvPr id="300" name="Google Shape;300;p23"/>
              <p:cNvSpPr txBox="1"/>
              <p:nvPr/>
            </p:nvSpPr>
            <p:spPr>
              <a:xfrm>
                <a:off x="6638925" y="4044401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301" name="Google Shape;301;p23"/>
              <p:cNvSpPr txBox="1"/>
              <p:nvPr/>
            </p:nvSpPr>
            <p:spPr>
              <a:xfrm>
                <a:off x="6724650" y="3999904"/>
                <a:ext cx="4591050" cy="670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Data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တွေက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Sorted (</a:t>
                </a:r>
                <a:r>
                  <a:rPr lang="en-US" sz="1650" b="1" i="0" u="none" strike="noStrike" cap="none" dirty="0" err="1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အစဉ်လိုက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်) </a:t>
                </a:r>
                <a:r>
                  <a:rPr lang="en-US" sz="1650" b="1" i="0" u="none" strike="noStrike" cap="none" dirty="0" err="1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ဖြစ်နေမှသာ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အလုပ်လုပ်ပါတယ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်။</a:t>
                </a:r>
                <a:endParaRPr dirty="0"/>
              </a:p>
            </p:txBody>
          </p:sp>
        </p:grpSp>
        <p:grpSp>
          <p:nvGrpSpPr>
            <p:cNvPr id="302" name="Google Shape;302;p23"/>
            <p:cNvGrpSpPr/>
            <p:nvPr/>
          </p:nvGrpSpPr>
          <p:grpSpPr>
            <a:xfrm>
              <a:off x="6638925" y="4586723"/>
              <a:ext cx="4676925" cy="660300"/>
              <a:chOff x="6638925" y="4670226"/>
              <a:chExt cx="4676925" cy="660300"/>
            </a:xfrm>
          </p:grpSpPr>
          <p:sp>
            <p:nvSpPr>
              <p:cNvPr id="303" name="Google Shape;303;p23"/>
              <p:cNvSpPr txBox="1"/>
              <p:nvPr/>
            </p:nvSpPr>
            <p:spPr>
              <a:xfrm>
                <a:off x="6638925" y="4714723"/>
                <a:ext cx="858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304" name="Google Shape;304;p23"/>
              <p:cNvSpPr txBox="1"/>
              <p:nvPr/>
            </p:nvSpPr>
            <p:spPr>
              <a:xfrm>
                <a:off x="6724650" y="4670226"/>
                <a:ext cx="4591200" cy="6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Sorted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မဖြစ်နေရင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အရင်ဆုံး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Sort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လုပ်ရတဲ့အတွက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 </a:t>
                </a:r>
                <a:r>
                  <a:rPr lang="en-US" sz="1650" b="0" i="0" u="none" strike="noStrike" cap="none" dirty="0" err="1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အချိန်ထပ်ကြာပါတယ</a:t>
                </a:r>
                <a:r>
                  <a:rPr lang="en-US" sz="1650" b="0" i="0" u="none" strike="noStrike" cap="none" dirty="0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်။</a:t>
                </a:r>
                <a:endParaRPr dirty="0"/>
              </a:p>
            </p:txBody>
          </p:sp>
        </p:grpSp>
      </p:grpSp>
      <p:sp>
        <p:nvSpPr>
          <p:cNvPr id="308" name="Google Shape;308;p23"/>
          <p:cNvSpPr txBox="1"/>
          <p:nvPr/>
        </p:nvSpPr>
        <p:spPr>
          <a:xfrm>
            <a:off x="581025" y="379879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အားသာချက် နှင့် အားနည်းချက်များ</a:t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581025" y="1361479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23B511-D595-D2D7-41F9-F46600751A93}"/>
              </a:ext>
            </a:extLst>
          </p:cNvPr>
          <p:cNvGrpSpPr/>
          <p:nvPr/>
        </p:nvGrpSpPr>
        <p:grpSpPr>
          <a:xfrm>
            <a:off x="581026" y="1704379"/>
            <a:ext cx="5372100" cy="4849415"/>
            <a:chOff x="581025" y="1704379"/>
            <a:chExt cx="5372100" cy="4849415"/>
          </a:xfrm>
        </p:grpSpPr>
        <p:pic>
          <p:nvPicPr>
            <p:cNvPr id="288" name="Google Shape;288;p23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81025" y="1704379"/>
              <a:ext cx="5372100" cy="48494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3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76300" y="2123479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23"/>
            <p:cNvSpPr txBox="1"/>
            <p:nvPr/>
          </p:nvSpPr>
          <p:spPr>
            <a:xfrm>
              <a:off x="876300" y="3123604"/>
              <a:ext cx="2490311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Pros (အားသာချက်)</a:t>
              </a:r>
              <a:endParaRPr/>
            </a:p>
          </p:txBody>
        </p:sp>
        <p:pic>
          <p:nvPicPr>
            <p:cNvPr id="294" name="Google Shape;294;p23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038225" y="2285404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3"/>
            <p:cNvSpPr txBox="1"/>
            <p:nvPr/>
          </p:nvSpPr>
          <p:spPr>
            <a:xfrm>
              <a:off x="1066800" y="3999904"/>
              <a:ext cx="459105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အရမ်းမြန်ပါတယ်။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Data သန်းချီရှိတဲ့ နေရာတွေမှာ အလွန်ထိရောက်ပါတယ်။</a:t>
              </a:r>
              <a:endParaRPr/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1066800" y="4787014"/>
              <a:ext cx="4591200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Memory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ထပ်မလိုပါဘူး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chemeClr val="lt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Space</a:t>
              </a:r>
              <a:r>
                <a:rPr lang="en-US" sz="1650" b="1" dirty="0">
                  <a:solidFill>
                    <a:schemeClr val="lt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 O(1)</a:t>
              </a:r>
              <a:r>
                <a:rPr lang="en-US" sz="1650" b="0" i="0" u="none" strike="noStrike" cap="none" dirty="0">
                  <a:solidFill>
                    <a:schemeClr val="lt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</a:t>
              </a:r>
              <a:endParaRPr dirty="0"/>
            </a:p>
          </p:txBody>
        </p:sp>
        <p:sp>
          <p:nvSpPr>
            <p:cNvPr id="5" name="Google Shape;300;p23">
              <a:extLst>
                <a:ext uri="{FF2B5EF4-FFF2-40B4-BE49-F238E27FC236}">
                  <a16:creationId xmlns:a16="http://schemas.microsoft.com/office/drawing/2014/main" id="{F6A29EF6-DFA7-DA38-11D9-460EA69D0C11}"/>
                </a:ext>
              </a:extLst>
            </p:cNvPr>
            <p:cNvSpPr txBox="1"/>
            <p:nvPr/>
          </p:nvSpPr>
          <p:spPr>
            <a:xfrm>
              <a:off x="866775" y="4033862"/>
              <a:ext cx="20002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•</a:t>
              </a:r>
              <a:endParaRPr dirty="0"/>
            </a:p>
          </p:txBody>
        </p:sp>
        <p:sp>
          <p:nvSpPr>
            <p:cNvPr id="6" name="Google Shape;300;p23">
              <a:extLst>
                <a:ext uri="{FF2B5EF4-FFF2-40B4-BE49-F238E27FC236}">
                  <a16:creationId xmlns:a16="http://schemas.microsoft.com/office/drawing/2014/main" id="{7501C27A-7E23-963A-AB38-5EE93F85FBCC}"/>
                </a:ext>
              </a:extLst>
            </p:cNvPr>
            <p:cNvSpPr txBox="1"/>
            <p:nvPr/>
          </p:nvSpPr>
          <p:spPr>
            <a:xfrm>
              <a:off x="823912" y="4883101"/>
              <a:ext cx="20002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•</a:t>
              </a:r>
              <a:endParaRPr dirty="0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6">
          <a:extLst>
            <a:ext uri="{FF2B5EF4-FFF2-40B4-BE49-F238E27FC236}">
              <a16:creationId xmlns:a16="http://schemas.microsoft.com/office/drawing/2014/main" id="{85FF23F9-6217-7BCA-3184-983DC0354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 descr="image.png">
            <a:extLst>
              <a:ext uri="{FF2B5EF4-FFF2-40B4-BE49-F238E27FC236}">
                <a16:creationId xmlns:a16="http://schemas.microsoft.com/office/drawing/2014/main" id="{025A44CE-11D8-11D2-3882-936B29E5FD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783DD9DB-9269-FE59-310B-5152D810C3CE}"/>
              </a:ext>
            </a:extLst>
          </p:cNvPr>
          <p:cNvSpPr txBox="1"/>
          <p:nvPr/>
        </p:nvSpPr>
        <p:spPr>
          <a:xfrm>
            <a:off x="581025" y="379879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Problems: Search Insert Position</a:t>
            </a:r>
            <a:endParaRPr dirty="0"/>
          </a:p>
        </p:txBody>
      </p:sp>
      <p:sp>
        <p:nvSpPr>
          <p:cNvPr id="309" name="Google Shape;309;p23">
            <a:extLst>
              <a:ext uri="{FF2B5EF4-FFF2-40B4-BE49-F238E27FC236}">
                <a16:creationId xmlns:a16="http://schemas.microsoft.com/office/drawing/2014/main" id="{9D240053-DA65-7DA1-D533-A9AE0EA619FD}"/>
              </a:ext>
            </a:extLst>
          </p:cNvPr>
          <p:cNvSpPr/>
          <p:nvPr/>
        </p:nvSpPr>
        <p:spPr>
          <a:xfrm>
            <a:off x="581025" y="1100222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26D22-842F-41AE-C317-DFF64AAB8425}"/>
              </a:ext>
            </a:extLst>
          </p:cNvPr>
          <p:cNvSpPr txBox="1"/>
          <p:nvPr/>
        </p:nvSpPr>
        <p:spPr>
          <a:xfrm>
            <a:off x="483054" y="1274742"/>
            <a:ext cx="1102995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Description: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Given a perfectly SORTED array of distinct integers and a `target` value, 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return the exact index if the `target` is strictly found. 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endParaRPr lang="en-US" sz="1600" b="0" dirty="0">
              <a:solidFill>
                <a:schemeClr val="tx2"/>
              </a:solidFill>
              <a:effectLst/>
              <a:latin typeface="Lato" panose="020F0502020204030203" pitchFamily="34" charset="77"/>
            </a:endParaRP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If it is NOT found, return the mathematical index where it absolutely WOULD be.</a:t>
            </a:r>
            <a:b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tx2"/>
              </a:solidFill>
              <a:effectLst/>
              <a:latin typeface="Lato" panose="020F0502020204030203" pitchFamily="34" charset="77"/>
            </a:endParaRP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Input: </a:t>
            </a:r>
            <a:r>
              <a:rPr lang="en-US" sz="1600" b="0" dirty="0" err="1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nums</a:t>
            </a: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 = [1, 3, 5, 6], target = 5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Output: 2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Explanation: 5 was successfully found exactly at index 2.</a:t>
            </a:r>
            <a:b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tx2"/>
              </a:solidFill>
              <a:effectLst/>
              <a:latin typeface="Lato" panose="020F0502020204030203" pitchFamily="34" charset="77"/>
            </a:endParaRP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Input: </a:t>
            </a:r>
            <a:r>
              <a:rPr lang="en-US" sz="1600" b="0" dirty="0" err="1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nums</a:t>
            </a: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 = [1, 3, 5, 6], target = 2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Output: 1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Explanation: 2 is not in the array, but it belongs right between 1 and 3 (at index 1).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endParaRPr lang="en-US" sz="1600" b="0" dirty="0">
              <a:solidFill>
                <a:schemeClr val="tx2"/>
              </a:solidFill>
              <a:effectLst/>
              <a:latin typeface="Lato" panose="020F0502020204030203" pitchFamily="34" charset="77"/>
            </a:endParaRP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Example 3: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Input: </a:t>
            </a:r>
            <a:r>
              <a:rPr lang="en-US" sz="1600" b="0" dirty="0" err="1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nums</a:t>
            </a: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 = [1, 3, 5, 6], target = 7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Output: 4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Explanation: 7 is larger than everything in the array, so it sits at the very end (index 4).</a:t>
            </a:r>
          </a:p>
        </p:txBody>
      </p:sp>
    </p:spTree>
    <p:extLst>
      <p:ext uri="{BB962C8B-B14F-4D97-AF65-F5344CB8AC3E}">
        <p14:creationId xmlns:p14="http://schemas.microsoft.com/office/powerpoint/2010/main" val="2000121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6">
          <a:extLst>
            <a:ext uri="{FF2B5EF4-FFF2-40B4-BE49-F238E27FC236}">
              <a16:creationId xmlns:a16="http://schemas.microsoft.com/office/drawing/2014/main" id="{6A45126B-F7A2-10A1-C990-F92DEF54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3" descr="image.png">
            <a:extLst>
              <a:ext uri="{FF2B5EF4-FFF2-40B4-BE49-F238E27FC236}">
                <a16:creationId xmlns:a16="http://schemas.microsoft.com/office/drawing/2014/main" id="{6528B5C5-058B-BEF0-1866-4957D65BB4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0FA75968-5ED2-420C-C192-2D5E629F1723}"/>
              </a:ext>
            </a:extLst>
          </p:cNvPr>
          <p:cNvSpPr txBox="1"/>
          <p:nvPr/>
        </p:nvSpPr>
        <p:spPr>
          <a:xfrm>
            <a:off x="581025" y="379879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Problems: Search Insert Position</a:t>
            </a:r>
            <a:endParaRPr dirty="0"/>
          </a:p>
        </p:txBody>
      </p:sp>
      <p:sp>
        <p:nvSpPr>
          <p:cNvPr id="309" name="Google Shape;309;p23">
            <a:extLst>
              <a:ext uri="{FF2B5EF4-FFF2-40B4-BE49-F238E27FC236}">
                <a16:creationId xmlns:a16="http://schemas.microsoft.com/office/drawing/2014/main" id="{240013B0-E555-163A-AB46-1CF631187B2A}"/>
              </a:ext>
            </a:extLst>
          </p:cNvPr>
          <p:cNvSpPr/>
          <p:nvPr/>
        </p:nvSpPr>
        <p:spPr>
          <a:xfrm>
            <a:off x="581025" y="1100222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CA0D58-ECCA-DE26-3D8D-573BE2BE0DE6}"/>
              </a:ext>
            </a:extLst>
          </p:cNvPr>
          <p:cNvSpPr txBox="1"/>
          <p:nvPr/>
        </p:nvSpPr>
        <p:spPr>
          <a:xfrm>
            <a:off x="483054" y="1274742"/>
            <a:ext cx="1102995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Input: </a:t>
            </a:r>
            <a:r>
              <a:rPr lang="en-US" sz="1600" b="0" dirty="0" err="1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nums</a:t>
            </a: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 = [1, 3, 5, 6], target = 5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Output: 2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Explanation: 5 was successfully found exactly at index 2.</a:t>
            </a:r>
            <a:b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tx2"/>
              </a:solidFill>
              <a:effectLst/>
              <a:latin typeface="Lato" panose="020F0502020204030203" pitchFamily="34" charset="77"/>
            </a:endParaRP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Input: </a:t>
            </a:r>
            <a:r>
              <a:rPr lang="en-US" sz="1600" b="0" dirty="0" err="1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nums</a:t>
            </a: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 = [1, 3, 5, 6], target = 2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Output: 1</a:t>
            </a:r>
          </a:p>
          <a:p>
            <a:pPr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600" b="0" dirty="0">
                <a:solidFill>
                  <a:schemeClr val="tx2"/>
                </a:solidFill>
                <a:effectLst/>
                <a:latin typeface="Lato" panose="020F0502020204030203" pitchFamily="34" charset="77"/>
              </a:rPr>
              <a:t>Explanation: 2 is not in the array, but it belongs right between 1 and 3 (at index 1)</a:t>
            </a:r>
          </a:p>
        </p:txBody>
      </p:sp>
    </p:spTree>
    <p:extLst>
      <p:ext uri="{BB962C8B-B14F-4D97-AF65-F5344CB8AC3E}">
        <p14:creationId xmlns:p14="http://schemas.microsoft.com/office/powerpoint/2010/main" val="24507937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6|32.9|72.6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7|3.7|11.1|23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27.2|10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9|19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8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1509</Words>
  <Application>Microsoft Macintosh PowerPoint</Application>
  <PresentationFormat>Widescreen</PresentationFormat>
  <Paragraphs>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6</cp:revision>
  <dcterms:modified xsi:type="dcterms:W3CDTF">2026-04-06T15:47:44Z</dcterms:modified>
</cp:coreProperties>
</file>