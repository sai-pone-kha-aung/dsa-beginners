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Lato" panose="020F0502020204030203" pitchFamily="34" charset="77"/>
      <p:regular r:id="rId16"/>
      <p:bold r:id="rId17"/>
      <p:italic r:id="rId18"/>
      <p:boldItalic r:id="rId19"/>
    </p:embeddedFont>
    <p:embeddedFont>
      <p:font typeface="Noto Sans Myanmar" panose="020B0502040504020204" pitchFamily="34" charset="0"/>
      <p:regular r:id="rId20"/>
      <p:bold r:id="rId21"/>
    </p:embeddedFont>
    <p:embeddedFont>
      <p:font typeface="Poppins" pitchFamily="2" charset="77"/>
      <p:regular r:id="rId22"/>
      <p:bold r:id="rId23"/>
      <p:italic r:id="rId24"/>
      <p:boldItalic r:id="rId25"/>
    </p:embeddedFont>
    <p:embeddedFont>
      <p:font typeface="Poppins SemiBold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9AEA40-E379-4815-9A7A-76865EAFC312}">
  <a:tblStyle styleId="{4E9AEA40-E379-4815-9A7A-76865EAFC3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7494DA5-7541-176B-BE59-18AEE09F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>
            <a:extLst>
              <a:ext uri="{FF2B5EF4-FFF2-40B4-BE49-F238E27FC236}">
                <a16:creationId xmlns:a16="http://schemas.microsoft.com/office/drawing/2014/main" id="{5E324316-0437-6BF0-6E48-0E69FE1A1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>
            <a:extLst>
              <a:ext uri="{FF2B5EF4-FFF2-40B4-BE49-F238E27FC236}">
                <a16:creationId xmlns:a16="http://schemas.microsoft.com/office/drawing/2014/main" id="{462518BD-B855-F0BA-07A7-A27CC1CA6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776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4836788-D3F7-2E9E-80EA-AB9F9519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>
            <a:extLst>
              <a:ext uri="{FF2B5EF4-FFF2-40B4-BE49-F238E27FC236}">
                <a16:creationId xmlns:a16="http://schemas.microsoft.com/office/drawing/2014/main" id="{2E1F3D37-007A-074F-1B74-E0E45AAE17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p10:notes">
            <a:extLst>
              <a:ext uri="{FF2B5EF4-FFF2-40B4-BE49-F238E27FC236}">
                <a16:creationId xmlns:a16="http://schemas.microsoft.com/office/drawing/2014/main" id="{9FE3AA56-E3BC-A738-02CE-54404F3CA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384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1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120354"/>
            <a:ext cx="90012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BFS</a:t>
            </a:r>
            <a:r>
              <a:rPr lang="en-US" sz="562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Algorithm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168104"/>
            <a:ext cx="85725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[ Breadth-First Search 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0AA433EB-652F-7DD4-89F4-1E3288DFE03D}"/>
              </a:ext>
            </a:extLst>
          </p:cNvPr>
          <p:cNvSpPr txBox="1"/>
          <p:nvPr/>
        </p:nvSpPr>
        <p:spPr>
          <a:xfrm>
            <a:off x="1809750" y="3750889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- 19 ]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1377404"/>
            <a:ext cx="1143000" cy="571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82623" y="2130563"/>
            <a:ext cx="1102675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ကွန်ရက်ကြီးတစ်ခုလုံးကို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စနစ်တက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ျ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ရှာဖွေခြင်း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2285999" y="4303900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Graph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ထဲက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Node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တစ်ခုကနေ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နောက်တစ်ခုကို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သွားဖို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လမ်းကြောင်းတွေ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အများကြီးရှိတဲ့အခ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ါ၊ </a:t>
            </a:r>
            <a:r>
              <a:rPr lang="en-US" sz="19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မျက်စိမလည်ဘဲ</a:t>
            </a:r>
            <a:r>
              <a:rPr lang="en-US" sz="19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</a:t>
            </a:r>
            <a:r>
              <a:rPr lang="en-US" sz="19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မထပ်ဘဲ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အနီးဆုံးကနေ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စရှာတဲ့နည်း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ဖြစ်ပါတယ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14E2C86-E32D-DAE0-98E5-F5DF3650340B}"/>
              </a:ext>
            </a:extLst>
          </p:cNvPr>
          <p:cNvGrpSpPr/>
          <p:nvPr/>
        </p:nvGrpSpPr>
        <p:grpSpPr>
          <a:xfrm>
            <a:off x="581025" y="5409223"/>
            <a:ext cx="5276850" cy="1051321"/>
            <a:chOff x="581025" y="5409223"/>
            <a:chExt cx="5276850" cy="1051321"/>
          </a:xfrm>
        </p:grpSpPr>
        <p:pic>
          <p:nvPicPr>
            <p:cNvPr id="101" name="Google Shape;101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5409223"/>
              <a:ext cx="5276850" cy="105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857250" y="5521225"/>
              <a:ext cx="476250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အဝေးကြီးကို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တန်းမသွားဘဲ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အနား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ပတ်ဝန်းကျင်ကို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အရင်ရှင်းလင်းရေး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လုပ်တဲ့နည်းပ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AF8492F-2C93-EB92-B064-DDF0E62080A8}"/>
              </a:ext>
            </a:extLst>
          </p:cNvPr>
          <p:cNvGrpSpPr/>
          <p:nvPr/>
        </p:nvGrpSpPr>
        <p:grpSpPr>
          <a:xfrm>
            <a:off x="552570" y="2043880"/>
            <a:ext cx="5276850" cy="1005482"/>
            <a:chOff x="581025" y="3178671"/>
            <a:chExt cx="5276850" cy="1005482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3178671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မိမိစတင်တဲ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(Start Node)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အနီးဆုံးမှာရှိတဲ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တိုက်ရိုက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သူငယ်ချင်း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(Neighbors)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အရင်ဆုံး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လိုက်ရှာပါတယ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3233100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390CDD0-2130-E1A7-54F6-D080674E8C42}"/>
              </a:ext>
            </a:extLst>
          </p:cNvPr>
          <p:cNvGrpSpPr/>
          <p:nvPr/>
        </p:nvGrpSpPr>
        <p:grpSpPr>
          <a:xfrm>
            <a:off x="552570" y="3654455"/>
            <a:ext cx="5305305" cy="670321"/>
            <a:chOff x="552570" y="4422278"/>
            <a:chExt cx="5305305" cy="670321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104900" y="4422278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သူတို့ကို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အကုန်ရှာပြီးမှသာ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သူတို့ရဲ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သူငယ်ချင်းတွေကို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ထပ်ပြီး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ရှာဖွေပါတယ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52570" y="4530716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5"/>
          <p:cNvSpPr txBox="1"/>
          <p:nvPr/>
        </p:nvSpPr>
        <p:spPr>
          <a:xfrm>
            <a:off x="552570" y="418802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BFS </a:t>
            </a:r>
            <a:r>
              <a:rPr lang="my-MM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ဘယ်လိုအလုပ်လုပ်လဲ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?</a:t>
            </a:r>
            <a:endParaRPr dirty="0"/>
          </a:p>
        </p:txBody>
      </p:sp>
      <p:sp>
        <p:nvSpPr>
          <p:cNvPr id="109" name="Google Shape;109;p15"/>
          <p:cNvSpPr/>
          <p:nvPr/>
        </p:nvSpPr>
        <p:spPr>
          <a:xfrm>
            <a:off x="581025" y="1304627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Breadth First Search sample as tree diagram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8350" y="15761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2108" y="4414837"/>
            <a:ext cx="23812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81013" y="2905137"/>
            <a:ext cx="4963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LEVEL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115942" y="1715988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Radius အတိုင်း ကျယ်ပြန့်သွားသည်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096000" y="2342470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Graph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ကြီးထဲမှာ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ကိုယ်ရှိနေတဲ့နေရာကနေ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Level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သတ်မှတ်ပြီး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6115942" y="5690889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Level 1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အကုန်မရှာရသေးဘဲ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Level 2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ဆီကို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လုံးဝ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မကူးသွားပါဘူး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6866F7-0D00-56A2-2708-A0A5533C5EB0}"/>
              </a:ext>
            </a:extLst>
          </p:cNvPr>
          <p:cNvGrpSpPr/>
          <p:nvPr/>
        </p:nvGrpSpPr>
        <p:grpSpPr>
          <a:xfrm>
            <a:off x="6115942" y="3300710"/>
            <a:ext cx="5495032" cy="355826"/>
            <a:chOff x="6115942" y="3300710"/>
            <a:chExt cx="5495032" cy="355826"/>
          </a:xfrm>
        </p:grpSpPr>
        <p:sp>
          <p:nvSpPr>
            <p:cNvPr id="121" name="Google Shape;121;p16"/>
            <p:cNvSpPr txBox="1"/>
            <p:nvPr/>
          </p:nvSpPr>
          <p:spPr>
            <a:xfrm>
              <a:off x="6639817" y="3300710"/>
              <a:ext cx="4971157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Level 0: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ကိုယ်တိုင် (Start Node)</a:t>
              </a:r>
              <a:endParaRPr/>
            </a:p>
          </p:txBody>
        </p:sp>
        <p:pic>
          <p:nvPicPr>
            <p:cNvPr id="124" name="Google Shape;124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15942" y="3399361"/>
              <a:ext cx="19050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30E8AC-A5A6-D557-5011-FE9D89325076}"/>
              </a:ext>
            </a:extLst>
          </p:cNvPr>
          <p:cNvGrpSpPr/>
          <p:nvPr/>
        </p:nvGrpSpPr>
        <p:grpSpPr>
          <a:xfrm>
            <a:off x="6115942" y="3873996"/>
            <a:ext cx="5495032" cy="670321"/>
            <a:chOff x="6115942" y="3873996"/>
            <a:chExt cx="5495032" cy="670321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6639817" y="3873996"/>
              <a:ext cx="4971157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Level 1: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တိုက်ရိုက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သူငယ်ချင်းများ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(1 Hop Away)</a:t>
              </a:r>
              <a:endParaRPr dirty="0"/>
            </a:p>
          </p:txBody>
        </p:sp>
        <p:pic>
          <p:nvPicPr>
            <p:cNvPr id="125" name="Google Shape;125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115942" y="3972648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A43882E-4FED-66BF-DBC7-29868C0CBC68}"/>
              </a:ext>
            </a:extLst>
          </p:cNvPr>
          <p:cNvGrpSpPr/>
          <p:nvPr/>
        </p:nvGrpSpPr>
        <p:grpSpPr>
          <a:xfrm>
            <a:off x="6115942" y="4782442"/>
            <a:ext cx="5495032" cy="670321"/>
            <a:chOff x="6115942" y="4782442"/>
            <a:chExt cx="5495032" cy="670321"/>
          </a:xfrm>
        </p:grpSpPr>
        <p:sp>
          <p:nvSpPr>
            <p:cNvPr id="123" name="Google Shape;123;p16"/>
            <p:cNvSpPr txBox="1"/>
            <p:nvPr/>
          </p:nvSpPr>
          <p:spPr>
            <a:xfrm>
              <a:off x="6639817" y="4782442"/>
              <a:ext cx="4971157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Level 2: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သူငယ်ချင်းရဲ့ သူငယ်ချင်းများ (Mutual Friends)</a:t>
              </a:r>
              <a:endParaRPr/>
            </a:p>
          </p:txBody>
        </p:sp>
        <p:pic>
          <p:nvPicPr>
            <p:cNvPr id="126" name="Google Shape;126;p1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115942" y="4902866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16"/>
          <p:cNvSpPr txBox="1"/>
          <p:nvPr/>
        </p:nvSpPr>
        <p:spPr>
          <a:xfrm>
            <a:off x="581025" y="353913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အဆင</a:t>
            </a:r>
            <a:r>
              <a:rPr lang="en-US" sz="3150" b="0" i="0" u="none" strike="noStrike" cap="none" dirty="0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့်</a:t>
            </a:r>
            <a:r>
              <a:rPr lang="en-US" sz="3150" b="0" i="0" u="none" strike="noStrike" cap="none" dirty="0" err="1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လိုက</a:t>
            </a:r>
            <a:r>
              <a:rPr lang="en-US" sz="3150" b="0" i="0" u="none" strike="noStrike" cap="none" dirty="0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</a:t>
            </a:r>
            <a:r>
              <a:rPr lang="en-US" sz="3150" b="0" i="0" u="none" strike="noStrike" cap="none" dirty="0" err="1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ရှာဖွေခြင်း</a:t>
            </a:r>
            <a:r>
              <a:rPr lang="en-US" sz="3150" b="0" i="0" u="none" strike="noStrike" cap="none" dirty="0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(Level by Level)</a:t>
            </a:r>
            <a:endParaRPr dirty="0"/>
          </a:p>
        </p:txBody>
      </p:sp>
      <p:sp>
        <p:nvSpPr>
          <p:cNvPr id="128" name="Google Shape;128;p16"/>
          <p:cNvSpPr/>
          <p:nvPr/>
        </p:nvSpPr>
        <p:spPr>
          <a:xfrm>
            <a:off x="581025" y="1373088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1887734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BFS Algorithm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အလုပ်လုပ်ဖို့အတွက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Data Structure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နှစ်ခု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မပါမဖြစ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လိုအပ်ပါတယ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B10336-453E-221C-59E3-164E0271023A}"/>
              </a:ext>
            </a:extLst>
          </p:cNvPr>
          <p:cNvGrpSpPr/>
          <p:nvPr/>
        </p:nvGrpSpPr>
        <p:grpSpPr>
          <a:xfrm>
            <a:off x="581025" y="2572047"/>
            <a:ext cx="5276850" cy="3601640"/>
            <a:chOff x="581025" y="2572047"/>
            <a:chExt cx="5276850" cy="3601640"/>
          </a:xfrm>
        </p:grpSpPr>
        <p:pic>
          <p:nvPicPr>
            <p:cNvPr id="134" name="Google Shape;134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572047"/>
              <a:ext cx="5276850" cy="36016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384E883-3A40-F0EB-EB92-8386250E942E}"/>
                </a:ext>
              </a:extLst>
            </p:cNvPr>
            <p:cNvGrpSpPr/>
            <p:nvPr/>
          </p:nvGrpSpPr>
          <p:grpSpPr>
            <a:xfrm>
              <a:off x="971550" y="3534072"/>
              <a:ext cx="4495800" cy="2106215"/>
              <a:chOff x="971550" y="3534072"/>
              <a:chExt cx="4495800" cy="2106215"/>
            </a:xfrm>
          </p:grpSpPr>
          <p:sp>
            <p:nvSpPr>
              <p:cNvPr id="138" name="Google Shape;138;p17"/>
              <p:cNvSpPr txBox="1"/>
              <p:nvPr/>
            </p:nvSpPr>
            <p:spPr>
              <a:xfrm>
                <a:off x="971550" y="3534072"/>
                <a:ext cx="44958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တန်းစီခိုင်းထားရန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</a:t>
                </a:r>
                <a:endParaRPr dirty="0"/>
              </a:p>
            </p:txBody>
          </p:sp>
          <p:sp>
            <p:nvSpPr>
              <p:cNvPr id="139" name="Google Shape;139;p17"/>
              <p:cNvSpPr txBox="1"/>
              <p:nvPr/>
            </p:nvSpPr>
            <p:spPr>
              <a:xfrm>
                <a:off x="971550" y="3964483"/>
                <a:ext cx="4495800" cy="1675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ရှာရမယ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သူငယ်ချင်းတွေကို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တန်းစီခိုင်းထားဖို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လိုပါတယ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်။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အရင်တွေ့တဲ့သူကို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Queue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ထဲ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အရင်ထည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ပြီး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၊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အရင်ဆုံး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(Front)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ပြန်ထုတ်ပြီး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ရှာဖွေရပါတယ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်။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ဒါကြောင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 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First-In, First-Out (Queue)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BFS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ရဲ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နှလုံးသားပ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ါ။</a:t>
                </a:r>
                <a:endParaRPr dirty="0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7C09A23-75A2-2DCF-62CE-7BCCF11766F3}"/>
                </a:ext>
              </a:extLst>
            </p:cNvPr>
            <p:cNvGrpSpPr/>
            <p:nvPr/>
          </p:nvGrpSpPr>
          <p:grpSpPr>
            <a:xfrm>
              <a:off x="971550" y="2991147"/>
              <a:ext cx="4720590" cy="400050"/>
              <a:chOff x="971550" y="2991147"/>
              <a:chExt cx="4720590" cy="400050"/>
            </a:xfrm>
          </p:grpSpPr>
          <p:sp>
            <p:nvSpPr>
              <p:cNvPr id="137" name="Google Shape;137;p17"/>
              <p:cNvSpPr txBox="1"/>
              <p:nvPr/>
            </p:nvSpPr>
            <p:spPr>
              <a:xfrm>
                <a:off x="971550" y="2991147"/>
                <a:ext cx="472059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762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>
                    <a:solidFill>
                      <a:srgbClr val="10B98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1. Queue (FIFO)</a:t>
                </a:r>
                <a:endParaRPr/>
              </a:p>
            </p:txBody>
          </p:sp>
          <p:pic>
            <p:nvPicPr>
              <p:cNvPr id="143" name="Google Shape;143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71550" y="3029378"/>
                <a:ext cx="333375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0776DA-047D-24DA-594B-75B3D4EF6030}"/>
              </a:ext>
            </a:extLst>
          </p:cNvPr>
          <p:cNvGrpSpPr/>
          <p:nvPr/>
        </p:nvGrpSpPr>
        <p:grpSpPr>
          <a:xfrm>
            <a:off x="6334125" y="2572047"/>
            <a:ext cx="5276850" cy="3601640"/>
            <a:chOff x="6334125" y="2572047"/>
            <a:chExt cx="5276850" cy="3601640"/>
          </a:xfrm>
        </p:grpSpPr>
        <p:pic>
          <p:nvPicPr>
            <p:cNvPr id="135" name="Google Shape;135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34125" y="2572047"/>
              <a:ext cx="5276850" cy="36016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ED9D0DD-A329-5855-B87A-387404E7B63D}"/>
                </a:ext>
              </a:extLst>
            </p:cNvPr>
            <p:cNvGrpSpPr/>
            <p:nvPr/>
          </p:nvGrpSpPr>
          <p:grpSpPr>
            <a:xfrm>
              <a:off x="6724650" y="3534072"/>
              <a:ext cx="4495800" cy="2106215"/>
              <a:chOff x="6724650" y="3534072"/>
              <a:chExt cx="4495800" cy="2106215"/>
            </a:xfrm>
          </p:grpSpPr>
          <p:sp>
            <p:nvSpPr>
              <p:cNvPr id="141" name="Google Shape;141;p17"/>
              <p:cNvSpPr txBox="1"/>
              <p:nvPr/>
            </p:nvSpPr>
            <p:spPr>
              <a:xfrm>
                <a:off x="6724650" y="3534072"/>
                <a:ext cx="44958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ပြန်မသွားမိအောင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 </a:t>
                </a: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မှတ်ရန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</a:t>
                </a:r>
                <a:endParaRPr dirty="0"/>
              </a:p>
            </p:txBody>
          </p:sp>
          <p:sp>
            <p:nvSpPr>
              <p:cNvPr id="142" name="Google Shape;142;p17"/>
              <p:cNvSpPr txBox="1"/>
              <p:nvPr/>
            </p:nvSpPr>
            <p:spPr>
              <a:xfrm>
                <a:off x="6724650" y="3964483"/>
                <a:ext cx="4495800" cy="1675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Graph တွေမှာ လမ်းကြောင်းတွေက ပတ်ချာလည် ချိတ်နေတတ်ပါတယ်။ ရောက်ပြီးသား နေရာကို နောက်တစ်ခေါက် ထပ်မသွားမိအောင် (Infinite Loop မဖြစ်အောင်) </a:t>
                </a:r>
                <a:r>
                  <a:rPr lang="en-US" sz="1650" b="1" i="0" u="none" strike="noStrike" cap="none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Visited စာရင်း</a:t>
                </a:r>
                <a:r>
                  <a:rPr lang="en-US" sz="16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ထဲမှာ အမြဲမှတ်ထားရပါတယ်။</a:t>
                </a:r>
                <a:endParaRPr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88EF020-378B-3324-6010-352729617D06}"/>
                </a:ext>
              </a:extLst>
            </p:cNvPr>
            <p:cNvGrpSpPr/>
            <p:nvPr/>
          </p:nvGrpSpPr>
          <p:grpSpPr>
            <a:xfrm>
              <a:off x="6724650" y="2991147"/>
              <a:ext cx="4720590" cy="400050"/>
              <a:chOff x="6724650" y="2991147"/>
              <a:chExt cx="4720590" cy="400050"/>
            </a:xfrm>
          </p:grpSpPr>
          <p:sp>
            <p:nvSpPr>
              <p:cNvPr id="140" name="Google Shape;140;p17"/>
              <p:cNvSpPr txBox="1"/>
              <p:nvPr/>
            </p:nvSpPr>
            <p:spPr>
              <a:xfrm>
                <a:off x="6724650" y="2991147"/>
                <a:ext cx="472059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47675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>
                    <a:solidFill>
                      <a:srgbClr val="F43F5E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2. Visited Set</a:t>
                </a:r>
                <a:endParaRPr/>
              </a:p>
            </p:txBody>
          </p:sp>
          <p:pic>
            <p:nvPicPr>
              <p:cNvPr id="144" name="Google Shape;144;p17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724650" y="2991541"/>
                <a:ext cx="304800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5" name="Google Shape;145;p17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အရေးကြီးတဲ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လက်နက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(၂)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မျိုး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dirty="0"/>
          </a:p>
        </p:txBody>
      </p:sp>
      <p:sp>
        <p:nvSpPr>
          <p:cNvPr id="146" name="Google Shape;146;p17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919287" y="6219527"/>
            <a:ext cx="8353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* Queue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အလွတ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(Empty)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ဖြစ်သွားတဲ့အထိ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Step 2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နဲ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3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ကိုပဲ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ထပ်ခါတလဲလဲ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လုပ်သွားတာပ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4E08F8-6AB4-03D9-97C4-AB7A0E399FEC}"/>
              </a:ext>
            </a:extLst>
          </p:cNvPr>
          <p:cNvGrpSpPr/>
          <p:nvPr/>
        </p:nvGrpSpPr>
        <p:grpSpPr>
          <a:xfrm>
            <a:off x="581025" y="1522511"/>
            <a:ext cx="3486150" cy="4506515"/>
            <a:chOff x="581025" y="1522511"/>
            <a:chExt cx="3486150" cy="4506515"/>
          </a:xfrm>
        </p:grpSpPr>
        <p:pic>
          <p:nvPicPr>
            <p:cNvPr id="152" name="Google Shape;152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1522511"/>
              <a:ext cx="3486150" cy="45065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1941611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8"/>
            <p:cNvSpPr txBox="1"/>
            <p:nvPr/>
          </p:nvSpPr>
          <p:spPr>
            <a:xfrm>
              <a:off x="876300" y="2941736"/>
              <a:ext cx="920115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Start</a:t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876300" y="3484661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စတင်မယ့် (Start Node) ကို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Queue ထဲ အရင်ထည့်ပါ။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ပြီးရင် ရောက်ပြီးသားလို့ သတ်မှတ်ဖို့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Visited ထဲမှာပါ တစ်ခါတည်း မှတ်ပါ။</a:t>
              </a:r>
              <a:endParaRPr/>
            </a:p>
          </p:txBody>
        </p:sp>
        <p:pic>
          <p:nvPicPr>
            <p:cNvPr id="165" name="Google Shape;165;p18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38225" y="2103536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8C2849D-5B10-C5D1-8FF9-72A2F5A3D3B9}"/>
              </a:ext>
            </a:extLst>
          </p:cNvPr>
          <p:cNvGrpSpPr/>
          <p:nvPr/>
        </p:nvGrpSpPr>
        <p:grpSpPr>
          <a:xfrm>
            <a:off x="4352925" y="1522511"/>
            <a:ext cx="3486150" cy="4506515"/>
            <a:chOff x="4352925" y="1522511"/>
            <a:chExt cx="3486150" cy="4506515"/>
          </a:xfrm>
        </p:grpSpPr>
        <p:pic>
          <p:nvPicPr>
            <p:cNvPr id="153" name="Google Shape;153;p18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52925" y="1522511"/>
              <a:ext cx="3486150" cy="45065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8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648200" y="1941611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8"/>
            <p:cNvSpPr txBox="1"/>
            <p:nvPr/>
          </p:nvSpPr>
          <p:spPr>
            <a:xfrm>
              <a:off x="4648200" y="2941736"/>
              <a:ext cx="2570321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2. Dequeue &amp; Visit</a:t>
              </a:r>
              <a:endParaRPr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4648200" y="3484661"/>
              <a:ext cx="2895600" cy="2010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Queue ရဲ့ အရှေ့ဆုံးက ကောင်ကို ထုတ် (Dequeue) ပါ။ အဲ့ဒီထုတ်လိုက်တဲ့ ကောင်နဲ့ တိုက်ရိုက်ချိတ်နေတဲ့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အိမ်နီးချင်း (Neighbors) တွေကို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လိုက်ကြည့်ပါ။</a:t>
              </a:r>
              <a:endParaRPr/>
            </a:p>
          </p:txBody>
        </p:sp>
        <p:pic>
          <p:nvPicPr>
            <p:cNvPr id="166" name="Google Shape;166;p18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10125" y="2103536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75B9B-4E6E-0873-B3D9-DE86645839B4}"/>
              </a:ext>
            </a:extLst>
          </p:cNvPr>
          <p:cNvGrpSpPr/>
          <p:nvPr/>
        </p:nvGrpSpPr>
        <p:grpSpPr>
          <a:xfrm>
            <a:off x="8124825" y="1522511"/>
            <a:ext cx="3486150" cy="4506515"/>
            <a:chOff x="8124825" y="1522511"/>
            <a:chExt cx="3486150" cy="4506515"/>
          </a:xfrm>
        </p:grpSpPr>
        <p:pic>
          <p:nvPicPr>
            <p:cNvPr id="154" name="Google Shape;154;p18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24825" y="1522511"/>
              <a:ext cx="3486150" cy="45065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8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20100" y="1941611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8"/>
            <p:cNvSpPr txBox="1"/>
            <p:nvPr/>
          </p:nvSpPr>
          <p:spPr>
            <a:xfrm>
              <a:off x="8420100" y="2941736"/>
              <a:ext cx="2440305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3. Add Neighbors</a:t>
              </a:r>
              <a:endParaRPr/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8420100" y="3484661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အိမ်နီးချင်းတွေထဲက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Visited ထဲ မပါသေးတဲ့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(မရောက်ရသေးတဲ့) ကောင်တွေကို Queue အနောက်ကို ဆက်ထည့်ပါ။ ပြီးရင် Visited မှတ်ပါ။</a:t>
              </a:r>
              <a:endParaRPr/>
            </a:p>
          </p:txBody>
        </p:sp>
        <p:pic>
          <p:nvPicPr>
            <p:cNvPr id="167" name="Google Shape;167;p18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634412" y="2103536"/>
              <a:ext cx="33337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18"/>
          <p:cNvSpPr txBox="1"/>
          <p:nvPr/>
        </p:nvSpPr>
        <p:spPr>
          <a:xfrm>
            <a:off x="581025" y="328099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ဘယ်လို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အလုပ်လုပ်လဲ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 (၃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ဆင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့်) 🔄</a:t>
            </a:r>
            <a:endParaRPr dirty="0"/>
          </a:p>
        </p:txBody>
      </p:sp>
      <p:sp>
        <p:nvSpPr>
          <p:cNvPr id="169" name="Google Shape;169;p18"/>
          <p:cNvSpPr/>
          <p:nvPr/>
        </p:nvSpPr>
        <p:spPr>
          <a:xfrm>
            <a:off x="581025" y="1179611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81025" y="581025"/>
            <a:ext cx="554069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BFS in Action </a:t>
            </a:r>
            <a:endParaRPr dirty="0"/>
          </a:p>
        </p:txBody>
      </p:sp>
      <p:sp>
        <p:nvSpPr>
          <p:cNvPr id="177" name="Google Shape;177;p19"/>
          <p:cNvSpPr/>
          <p:nvPr/>
        </p:nvSpPr>
        <p:spPr>
          <a:xfrm>
            <a:off x="581025" y="1323975"/>
            <a:ext cx="52768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1666875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A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ကနေ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စရှာမယ်ဆိုပါစို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့။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8B3EA6-C1FD-8CFD-5217-F5528D9B06C4}"/>
              </a:ext>
            </a:extLst>
          </p:cNvPr>
          <p:cNvGrpSpPr/>
          <p:nvPr/>
        </p:nvGrpSpPr>
        <p:grpSpPr>
          <a:xfrm>
            <a:off x="382379" y="4957045"/>
            <a:ext cx="5276850" cy="1721643"/>
            <a:chOff x="382379" y="4957045"/>
            <a:chExt cx="5276850" cy="1721643"/>
          </a:xfrm>
        </p:grpSpPr>
        <p:pic>
          <p:nvPicPr>
            <p:cNvPr id="175" name="Google Shape;175;p1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2379" y="4957045"/>
              <a:ext cx="5276850" cy="17216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9"/>
            <p:cNvSpPr txBox="1"/>
            <p:nvPr/>
          </p:nvSpPr>
          <p:spPr>
            <a:xfrm>
              <a:off x="639554" y="5029775"/>
              <a:ext cx="47625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Node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တစ်ခုကို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အစောဆုံး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ရောက်တဲ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လမ်းကြောင်းဟာ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Node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ဆီသွားဖို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အမြန်ဆုံး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/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အတိုဆုံး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(Shortest Path)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လမ်းကြောင်း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အမြဲတမ်း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ဖြစ်နေပါတယ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180" name="Google Shape;180;p19"/>
          <p:cNvSpPr txBox="1"/>
          <p:nvPr/>
        </p:nvSpPr>
        <p:spPr>
          <a:xfrm>
            <a:off x="898072" y="2239375"/>
            <a:ext cx="4752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Level 0: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အရင်ရောက်မယ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898072" y="2812661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Level 1: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A နဲ့ တိုက်ရိုက်ချိတ်ထားတဲ့ B နဲ့ C ကို သွားမယ်။ (Queue ထဲထည့်)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98072" y="3721108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Level 2: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B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C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ကနေ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ဆက်ချိတ်ထားတဲ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D, E, F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ဆက်သွားမယ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pic>
        <p:nvPicPr>
          <p:cNvPr id="183" name="Google Shape;183;p19" descr="&#10;BFS in Action 👁️&#10;&#10;A ကနေ စရှာမယ်ဆိုပါစို့။&#10;&#10;Level 0: A ကို အရင်ရောက်မယ်။&#10;&#10;Level 1: A နဲ့ တိုက်ရိုက်ချိတ်ထားတဲ့ B နဲ့ C ကို သွားမယ်။ (Queue ထဲထည့်)&#10;&#10;Level 2: B နဲ့ C ကနေ ဆက်ချိတ်ထားတဲ့ D, E, F တွေကို ဆက်သွားမယ်။&#10;&#10;Node တစ်ခုကို အစောဆုံး ရောက်တဲ့ လမ်းကြောင်းဟာ အဲ့ဒီ Node ဆီသွားဖို့ အမြန်ဆုံး/အတိုဆုံး (Shortest Path) လမ်းကြောင်း အမြဲတမ်း ဖြစ်နေပါတယ်။&#10;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6250" y="557700"/>
            <a:ext cx="2871300" cy="28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&#10;BFS in Action 👁️&#10;&#10;A ကနေ စရှာမယ်ဆိုပါစို့။&#10;&#10;Level 0: A ကို အရင်ရောက်မယ်။&#10;&#10;Level 1: A နဲ့ တိုက်ရိုက်ချိတ်ထားတဲ့ B နဲ့ C ကို သွားမယ်။ (Queue ထဲထည့်)&#10;&#10;Level 2: B နဲ့ C ကနေ ဆက်ချိတ်ထားတဲ့ D, E, F တွေကို ဆက်သွားမယ်။&#10;&#10;Node တစ်ခုကို အစောဆုံး ရောက်တဲ့ လမ်းကြောင်းဟာ အဲ့ဒီ Node ဆီသွားဖို့ အမြန်ဆုံး/အတိုဆုံး (Shortest Path) လမ်းကြောင်း အမြဲတမ်း ဖြစ်နေပါတယ်။&#10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77825" y="557701"/>
            <a:ext cx="2871300" cy="28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&#10;BFS in Action 👁️&#10;&#10;A ကနေ စရှာမယ်ဆိုပါစို့။&#10;&#10;Level 0: A ကို အရင်ရောက်မယ်။&#10;&#10;Level 1: A နဲ့ တိုက်ရိုက်ချိတ်ထားတဲ့ B နဲ့ C ကို သွားမယ်။ (Queue ထဲထည့်)&#10;&#10;Level 2: B နဲ့ C ကနေ ဆက်ချိတ်ထားတဲ့ D, E, F တွေကို ဆက်သွားမယ်။&#10;&#10;Node တစ်ခုကို အစောဆုံး ရောက်တဲ့ လမ်းကြောင်းဟာ အဲ့ဒီ Node ဆီသွားဖို့ အမြန်ဆုံး/အတိုဆုံး (Shortest Path) လမ်းကြောင်း အမြဲတမ်း ဖြစ်နေပါတယ်။&#10;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6250" y="3594125"/>
            <a:ext cx="2871300" cy="28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&#10;BFS in Action 👁️&#10;&#10;A ကနေ စရှာမယ်ဆိုပါစို့။&#10;&#10;Level 0: A ကို အရင်ရောက်မယ်။&#10;&#10;Level 1: A နဲ့ တိုက်ရိုက်ချိတ်ထားတဲ့ B နဲ့ C ကို သွားမယ်။ (Queue ထဲထည့်)&#10;&#10;Level 2: B နဲ့ C ကနေ ဆက်ချိတ်ထားတဲ့ D, E, F တွေကို ဆက်သွားမယ်။&#10;&#10;Node တစ်ခုကို အစောဆုံး ရောက်တဲ့ လမ်းကြောင်းဟာ အဲ့ဒီ Node ဆီသွားဖို့ အမြန်ဆုံး/အတိုဆုံး (Shortest Path) လမ်းကြောင်း အမြဲတမ်း ဖြစ်နေပါတယ်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77825" y="3594125"/>
            <a:ext cx="2871300" cy="28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0"/>
          <p:cNvGraphicFramePr/>
          <p:nvPr/>
        </p:nvGraphicFramePr>
        <p:xfrm>
          <a:off x="581013" y="1702637"/>
          <a:ext cx="11010925" cy="3838575"/>
        </p:xfrm>
        <a:graphic>
          <a:graphicData uri="http://schemas.openxmlformats.org/drawingml/2006/table">
            <a:tbl>
              <a:tblPr firstRow="1" bandRow="1">
                <a:noFill/>
                <a:tableStyleId>{4E9AEA40-E379-4815-9A7A-76865EAFC312}</a:tableStyleId>
              </a:tblPr>
              <a:tblGrid>
                <a:gridCol w="189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9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Metric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Complexity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ရှင်းလင်းချက်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Time (အမြန်နှုန်း)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O(V</a:t>
                      </a:r>
                      <a:r>
                        <a:rPr lang="en-US" sz="165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+</a:t>
                      </a:r>
                      <a:r>
                        <a:rPr lang="en-US" sz="165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V = Vertices (အစက်များ), E = Edges (မျဉ်းများ)။</a:t>
                      </a:r>
                      <a:b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        Graph တစ်ခုလုံးကို အကုန်ပတ်ရတဲ့အတွက် အစက်ရော၊ မျဉ်းအရေအတွက်ရော အားလုံးအပေါ် မူတည်ပါတယ်။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9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Space (နေရာယူမှု)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</a:t>
                      </a:r>
                      <a:r>
                        <a:rPr lang="en-US" sz="165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V</a:t>
                      </a:r>
                      <a:r>
                        <a:rPr lang="en-US" sz="165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Queue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နဲ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Visited Set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နှစ်ခုလုံးမှာ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အများဆုံးအနေနဲ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Graph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ထဲက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Node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အားလုံး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(V)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ကို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ထည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့်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သိမ်းထားရနိုင်လို့ပ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3" name="Google Shape;193;p20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&amp; Space Complexity </a:t>
            </a:r>
            <a:endParaRPr dirty="0"/>
          </a:p>
        </p:txBody>
      </p:sp>
      <p:sp>
        <p:nvSpPr>
          <p:cNvPr id="194" name="Google Shape;194;p20"/>
          <p:cNvSpPr/>
          <p:nvPr/>
        </p:nvSpPr>
        <p:spPr>
          <a:xfrm>
            <a:off x="581025" y="1323975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85166F4-A8B7-3240-94FB-D4070F3B286C}"/>
              </a:ext>
            </a:extLst>
          </p:cNvPr>
          <p:cNvGrpSpPr/>
          <p:nvPr/>
        </p:nvGrpSpPr>
        <p:grpSpPr>
          <a:xfrm>
            <a:off x="581025" y="2932375"/>
            <a:ext cx="3486150" cy="2289175"/>
            <a:chOff x="581025" y="2932375"/>
            <a:chExt cx="3486150" cy="2289175"/>
          </a:xfrm>
        </p:grpSpPr>
        <p:pic>
          <p:nvPicPr>
            <p:cNvPr id="200" name="Google Shape;200;p2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1025" y="2932375"/>
              <a:ext cx="3486150" cy="2289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1"/>
            <p:cNvSpPr txBox="1"/>
            <p:nvPr/>
          </p:nvSpPr>
          <p:spPr>
            <a:xfrm>
              <a:off x="753903" y="3257550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Shortest Path (GPS)</a:t>
              </a:r>
              <a:endParaRPr dirty="0"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828675" y="3686175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Weight မပါတဲ့ လမ်းတွေမှာ A ကနေ B ကို အတိုဆုံး ဘယ်လမ်းက သွားရမလဲ (Shortest Path) ရှာတဲ့အခါ အကောင်းဆုံး Algorithm ပါ။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5794C83-92C3-46EA-6DE3-21C268A6CEA5}"/>
              </a:ext>
            </a:extLst>
          </p:cNvPr>
          <p:cNvGrpSpPr/>
          <p:nvPr/>
        </p:nvGrpSpPr>
        <p:grpSpPr>
          <a:xfrm>
            <a:off x="4352925" y="2932375"/>
            <a:ext cx="3486150" cy="2289175"/>
            <a:chOff x="4352925" y="2932375"/>
            <a:chExt cx="3486150" cy="2289175"/>
          </a:xfrm>
        </p:grpSpPr>
        <p:pic>
          <p:nvPicPr>
            <p:cNvPr id="201" name="Google Shape;201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52925" y="2932375"/>
              <a:ext cx="3486150" cy="2289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1"/>
            <p:cNvSpPr txBox="1"/>
            <p:nvPr/>
          </p:nvSpPr>
          <p:spPr>
            <a:xfrm>
              <a:off x="4525803" y="3257550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Social Networks</a:t>
              </a:r>
              <a:endParaRPr/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4600575" y="3686175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Facebook/LinkedIn မှာ "Connection 1st degree, 2nd degree" စသဖြင့် အဆင့်လိုက် ခွဲခြားပြီး People you may know ကို ရှာပေးတာပါ။</a:t>
              </a: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DA570E4-2173-92B6-54E2-50D355CACB53}"/>
              </a:ext>
            </a:extLst>
          </p:cNvPr>
          <p:cNvGrpSpPr/>
          <p:nvPr/>
        </p:nvGrpSpPr>
        <p:grpSpPr>
          <a:xfrm>
            <a:off x="8124825" y="2932375"/>
            <a:ext cx="3486150" cy="2289175"/>
            <a:chOff x="8124825" y="2932375"/>
            <a:chExt cx="3486150" cy="2289175"/>
          </a:xfrm>
        </p:grpSpPr>
        <p:pic>
          <p:nvPicPr>
            <p:cNvPr id="202" name="Google Shape;202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24825" y="2932375"/>
              <a:ext cx="3486150" cy="2289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 txBox="1"/>
            <p:nvPr/>
          </p:nvSpPr>
          <p:spPr>
            <a:xfrm>
              <a:off x="8297703" y="3257550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Web Crawlers</a:t>
              </a:r>
              <a:endParaRPr/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8372475" y="3686175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Google Search Engine က Website တွေကို လိုက်ဖတ်တဲ့အခါ Page တစ်ခုက လင့်ခ်ကနေ နောက်တစ်ခုကို အဆင့်လိုက် ဆက်သွားတာပါ။</a:t>
              </a:r>
              <a:endParaRPr/>
            </a:p>
          </p:txBody>
        </p:sp>
      </p:grpSp>
      <p:sp>
        <p:nvSpPr>
          <p:cNvPr id="209" name="Google Shape;209;p21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ဘယ်နေရာတွေမှာ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သုံးလဲ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 (Real World Uses) 🌍</a:t>
            </a:r>
            <a:endParaRPr dirty="0"/>
          </a:p>
        </p:txBody>
      </p:sp>
      <p:sp>
        <p:nvSpPr>
          <p:cNvPr id="210" name="Google Shape;210;p21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5F338D9-387F-591D-1895-AE0EF2B4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>
            <a:extLst>
              <a:ext uri="{FF2B5EF4-FFF2-40B4-BE49-F238E27FC236}">
                <a16:creationId xmlns:a16="http://schemas.microsoft.com/office/drawing/2014/main" id="{431D582E-06ED-35B2-D683-C931087AD7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63AAA10E-75E3-5706-C64C-FB84D1441629}"/>
              </a:ext>
            </a:extLst>
          </p:cNvPr>
          <p:cNvSpPr txBox="1"/>
          <p:nvPr/>
        </p:nvSpPr>
        <p:spPr>
          <a:xfrm>
            <a:off x="581025" y="356700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Shortest Path in a Maze</a:t>
            </a:r>
            <a:endParaRPr dirty="0"/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F03A1744-217E-F5A3-7A6B-4DF8F961D6B7}"/>
              </a:ext>
            </a:extLst>
          </p:cNvPr>
          <p:cNvSpPr/>
          <p:nvPr/>
        </p:nvSpPr>
        <p:spPr>
          <a:xfrm>
            <a:off x="581025" y="936172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CFEEB-F8FB-DB45-8E90-0CC71B30D6A2}"/>
              </a:ext>
            </a:extLst>
          </p:cNvPr>
          <p:cNvSpPr txBox="1"/>
          <p:nvPr/>
        </p:nvSpPr>
        <p:spPr>
          <a:xfrm>
            <a:off x="581025" y="1198148"/>
            <a:ext cx="6096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You are given a 2D grid representing a maze.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- `0` represents an empty space (you can walk here).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- `1` represents a wall (you CANNOT walk here).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</a:br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You start at `start` coordinate (row, col) and want to reach `target` coordinate.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Find the EXACT minimum number of steps to reach the target.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If it is impossible to reach the target, return -1.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</a:br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You can move Up, Down, Left, or Right.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maze = [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[0, 0, 0, 0],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[1, 1, 0, 1],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[0, 0, 0, 0],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[0, 1, 1, 0]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]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start = (0, 0)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target = (3, 3)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The shortest path is 6 steps.</a:t>
            </a:r>
          </a:p>
        </p:txBody>
      </p:sp>
    </p:spTree>
    <p:extLst>
      <p:ext uri="{BB962C8B-B14F-4D97-AF65-F5344CB8AC3E}">
        <p14:creationId xmlns:p14="http://schemas.microsoft.com/office/powerpoint/2010/main" val="415864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CE8331C-77D4-DBFF-EB86-AA35C6884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>
            <a:extLst>
              <a:ext uri="{FF2B5EF4-FFF2-40B4-BE49-F238E27FC236}">
                <a16:creationId xmlns:a16="http://schemas.microsoft.com/office/drawing/2014/main" id="{0C62F8C5-D958-DA1D-102E-722774F070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09A4B495-EA98-040C-028F-3887A64299C7}"/>
              </a:ext>
            </a:extLst>
          </p:cNvPr>
          <p:cNvSpPr txBox="1"/>
          <p:nvPr/>
        </p:nvSpPr>
        <p:spPr>
          <a:xfrm>
            <a:off x="581025" y="356700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Degree of Separation</a:t>
            </a:r>
            <a:endParaRPr dirty="0"/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DBCE197C-3118-5E50-71F8-A94A430FCA5E}"/>
              </a:ext>
            </a:extLst>
          </p:cNvPr>
          <p:cNvSpPr/>
          <p:nvPr/>
        </p:nvSpPr>
        <p:spPr>
          <a:xfrm>
            <a:off x="581025" y="936172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8161EA-D9C1-636E-17AA-2E63D62F5A92}"/>
              </a:ext>
            </a:extLst>
          </p:cNvPr>
          <p:cNvSpPr txBox="1"/>
          <p:nvPr/>
        </p:nvSpPr>
        <p:spPr>
          <a:xfrm>
            <a:off x="581025" y="1198148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maze = [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[0, 0, 0, 0],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[1, 1, 0, 1],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[0, 0, 0, 0],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[0, 1, 1, 0]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]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start = (0, 0)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target = (3, 3)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The shortest path is 6 steps.</a:t>
            </a:r>
          </a:p>
        </p:txBody>
      </p:sp>
    </p:spTree>
    <p:extLst>
      <p:ext uri="{BB962C8B-B14F-4D97-AF65-F5344CB8AC3E}">
        <p14:creationId xmlns:p14="http://schemas.microsoft.com/office/powerpoint/2010/main" val="40796098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23.2|18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6|3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25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8.1|13.7|2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1518</Words>
  <Application>Microsoft Macintosh PowerPoint</Application>
  <PresentationFormat>Widescreen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7</cp:revision>
  <dcterms:modified xsi:type="dcterms:W3CDTF">2026-04-06T15:49:57Z</dcterms:modified>
</cp:coreProperties>
</file>