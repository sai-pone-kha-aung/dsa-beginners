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Lato" panose="020F0502020204030203" pitchFamily="34" charset="77"/>
      <p:regular r:id="rId16"/>
      <p:bold r:id="rId17"/>
      <p:italic r:id="rId18"/>
      <p:boldItalic r:id="rId19"/>
    </p:embeddedFont>
    <p:embeddedFont>
      <p:font typeface="Noto Sans Myanmar" panose="020B0502040504020204" pitchFamily="34" charset="0"/>
      <p:regular r:id="rId20"/>
      <p:bold r:id="rId21"/>
    </p:embeddedFont>
    <p:embeddedFont>
      <p:font typeface="Poppins" pitchFamily="2" charset="77"/>
      <p:regular r:id="rId22"/>
      <p:bold r:id="rId23"/>
      <p:italic r:id="rId24"/>
      <p:boldItalic r:id="rId25"/>
    </p:embeddedFont>
    <p:embeddedFont>
      <p:font typeface="Poppins SemiBold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5EBFE0-AC41-445F-8BEA-D5DAF72B3A01}">
  <a:tblStyle styleId="{855EBFE0-AC41-445F-8BEA-D5DAF72B3A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/>
    <p:restoredTop sz="94670"/>
  </p:normalViewPr>
  <p:slideViewPr>
    <p:cSldViewPr snapToGrid="0">
      <p:cViewPr varScale="1">
        <p:scale>
          <a:sx n="117" d="100"/>
          <a:sy n="117" d="100"/>
        </p:scale>
        <p:origin x="132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7F482F5-0D3D-F12B-1D9F-BC6EBFB1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>
            <a:extLst>
              <a:ext uri="{FF2B5EF4-FFF2-40B4-BE49-F238E27FC236}">
                <a16:creationId xmlns:a16="http://schemas.microsoft.com/office/drawing/2014/main" id="{8F54F4EF-EB34-7835-FD66-3653DEED1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>
            <a:extLst>
              <a:ext uri="{FF2B5EF4-FFF2-40B4-BE49-F238E27FC236}">
                <a16:creationId xmlns:a16="http://schemas.microsoft.com/office/drawing/2014/main" id="{A2A6FE8B-3451-1F22-0DD7-9D11FC494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344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4C87654F-78E6-84FF-4085-9D66A85C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>
            <a:extLst>
              <a:ext uri="{FF2B5EF4-FFF2-40B4-BE49-F238E27FC236}">
                <a16:creationId xmlns:a16="http://schemas.microsoft.com/office/drawing/2014/main" id="{FFA48E5C-384F-7C41-BE00-EF572A4B2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>
            <a:extLst>
              <a:ext uri="{FF2B5EF4-FFF2-40B4-BE49-F238E27FC236}">
                <a16:creationId xmlns:a16="http://schemas.microsoft.com/office/drawing/2014/main" id="{F812816F-6D51-6589-36CF-836B63060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948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35467" y="2318444"/>
            <a:ext cx="85212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DFS</a:t>
            </a:r>
            <a:r>
              <a:rPr lang="en-US" sz="5625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Algorithm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38350" y="3366194"/>
            <a:ext cx="81153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[ Depth-First Search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F534E0C9-F566-94D3-1D31-0EC0ED07909B}"/>
              </a:ext>
            </a:extLst>
          </p:cNvPr>
          <p:cNvSpPr txBox="1"/>
          <p:nvPr/>
        </p:nvSpPr>
        <p:spPr>
          <a:xfrm>
            <a:off x="1784167" y="3944324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</a:t>
            </a:r>
            <a:r>
              <a:rPr lang="en-US" sz="1950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20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044154"/>
            <a:ext cx="1143000" cy="571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35317" y="2387054"/>
            <a:ext cx="1092136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Going Deep (အောက်ဆုံးထိ ဆင်းမယ်)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DFS </a:t>
            </a:r>
            <a:r>
              <a:rPr lang="en-US" sz="1950" b="1" i="0" u="none" strike="noStrike" cap="none" dirty="0" err="1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950" b="1" i="0" u="none" strike="noStrike" cap="none" dirty="0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မြေတူးစက်လို</a:t>
            </a:r>
            <a:r>
              <a:rPr lang="en-US" sz="1950" b="1" i="0" u="none" strike="noStrike" cap="none" dirty="0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အောက်ဆုံးရောက်တဲ့အထိ</a:t>
            </a:r>
            <a:r>
              <a:rPr lang="en-US" sz="1950" b="1" i="0" u="none" strike="noStrike" cap="none" dirty="0">
                <a:solidFill>
                  <a:srgbClr val="F43F5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(Depth)</a:t>
            </a:r>
            <a:r>
              <a:rPr lang="en-US" sz="19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တစ်လမ်းတည်းကို</a:t>
            </a:r>
            <a:r>
              <a:rPr lang="en-US" sz="19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အရင်ဆုံး</a:t>
            </a:r>
            <a:r>
              <a:rPr lang="en-US" sz="19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တူးဆင်းသွားတဲ</a:t>
            </a:r>
            <a:r>
              <a:rPr lang="en-US" sz="19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နည်းလမ်းဖြစ်ပါတယ</a:t>
            </a:r>
            <a:r>
              <a:rPr lang="en-US" sz="19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193300"/>
            <a:ext cx="63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ဝင်္ကပါ (Maze) ကြီးတစ်ခုထဲ ရောက်နေတယ်လို့ မြင်ယောင်ကြည့်ပါ။</a:t>
            </a: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82A418-ED92-DD84-12D5-2618F8520018}"/>
              </a:ext>
            </a:extLst>
          </p:cNvPr>
          <p:cNvGrpSpPr/>
          <p:nvPr/>
        </p:nvGrpSpPr>
        <p:grpSpPr>
          <a:xfrm>
            <a:off x="581025" y="4950963"/>
            <a:ext cx="5276850" cy="1386482"/>
            <a:chOff x="581025" y="4950963"/>
            <a:chExt cx="5276850" cy="1386482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4950963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38200" y="5083933"/>
              <a:ext cx="47625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ဒီလို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"</a:t>
              </a: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လမ်းဆုံးထိသွား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ပိတ်ရင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ပြန်လှည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(Backtracking)"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လုပ်တဲ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သဘောတရားကို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DFS </a:t>
              </a:r>
              <a:r>
                <a:rPr lang="en-US" sz="1650" b="0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CE8A50-3EE9-2837-CB88-F63C0B195EC8}"/>
              </a:ext>
            </a:extLst>
          </p:cNvPr>
          <p:cNvGrpSpPr/>
          <p:nvPr/>
        </p:nvGrpSpPr>
        <p:grpSpPr>
          <a:xfrm>
            <a:off x="581025" y="1708925"/>
            <a:ext cx="5276775" cy="1066800"/>
            <a:chOff x="581025" y="1708925"/>
            <a:chExt cx="5276775" cy="1066800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1708925"/>
              <a:ext cx="47529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လမ်းရွေးခြင်း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လမ်းဆုံရောက်ရင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လမ်းတစ်လမ်းကို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ရွေးပြီး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လမ်းဆုံးတဲ့အထိ</a:t>
              </a:r>
              <a:r>
                <a:rPr lang="en-US" sz="1650" b="1" i="0" u="none" strike="noStrike" cap="none" dirty="0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(Dead-end)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ဆက်လ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ျှ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ောက်သွားပါတယ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1804100"/>
              <a:ext cx="1524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465103-3065-4090-1AFB-39E24AAB1F41}"/>
              </a:ext>
            </a:extLst>
          </p:cNvPr>
          <p:cNvGrpSpPr/>
          <p:nvPr/>
        </p:nvGrpSpPr>
        <p:grpSpPr>
          <a:xfrm>
            <a:off x="533400" y="3037250"/>
            <a:ext cx="6759675" cy="660300"/>
            <a:chOff x="533400" y="3037250"/>
            <a:chExt cx="6759675" cy="660300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038675" y="3037250"/>
              <a:ext cx="62544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ပြန်လှည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ခြင်း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(Backtrack):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လမ်းပိတ်နေပြီ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့)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မရှိတော့ဘူး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ဆိုရင်မ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ှ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နောက်ဆုံးဖြတ်ခဲ့တဲ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လမ်းဆုံကို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ပြန်လှည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33400" y="3162430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866B2A0-FA24-356E-8CB2-0727EA472624}"/>
              </a:ext>
            </a:extLst>
          </p:cNvPr>
          <p:cNvGrpSpPr/>
          <p:nvPr/>
        </p:nvGrpSpPr>
        <p:grpSpPr>
          <a:xfrm>
            <a:off x="574862" y="3959075"/>
            <a:ext cx="5942638" cy="660300"/>
            <a:chOff x="574862" y="3959075"/>
            <a:chExt cx="5942638" cy="660300"/>
          </a:xfrm>
        </p:grpSpPr>
        <p:sp>
          <p:nvSpPr>
            <p:cNvPr id="106" name="Google Shape;106;p15"/>
            <p:cNvSpPr txBox="1"/>
            <p:nvPr/>
          </p:nvSpPr>
          <p:spPr>
            <a:xfrm>
              <a:off x="1104900" y="3959075"/>
              <a:ext cx="54126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နောက်တစ်လမ်းရွေး: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ပြီးရင် မသွားရသေးတဲ့ နောက်လမ်းတစ်ခုကို ထပ်ရွေးပြီး အဆုံးထိ ထပ်သွားပါတယ်။</a:t>
              </a:r>
              <a:endParaRPr/>
            </a:p>
          </p:txBody>
        </p:sp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4862" y="4056696"/>
              <a:ext cx="1905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5"/>
          <p:cNvSpPr txBox="1"/>
          <p:nvPr/>
        </p:nvSpPr>
        <p:spPr>
          <a:xfrm>
            <a:off x="514800" y="277982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ဝင</a:t>
            </a: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်္</a:t>
            </a:r>
            <a:r>
              <a:rPr lang="en-US" sz="3150" b="0" i="0" u="none" strike="noStrike" cap="none" dirty="0" err="1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ကပါထဲက</a:t>
            </a: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ထွက်ပေါက်ရှာခြင်း</a:t>
            </a: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(Maze Analogy) 🧩</a:t>
            </a:r>
            <a:endParaRPr dirty="0"/>
          </a:p>
        </p:txBody>
      </p:sp>
      <p:sp>
        <p:nvSpPr>
          <p:cNvPr id="111" name="Google Shape;111;p15"/>
          <p:cNvSpPr/>
          <p:nvPr/>
        </p:nvSpPr>
        <p:spPr>
          <a:xfrm>
            <a:off x="581025" y="963915"/>
            <a:ext cx="11030100" cy="96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 descr="&#10;ဝင်္ကပါထဲက ထွက်ပေါက်ရှာခြင်း (Maze Analogy) 🧩&#10;&#10;ဝင်္ကပါ (Maze) ကြီးတစ်ခုထဲ ရောက်နေတယ်လို့ မြင်ယောင်ကြည့်ပါ။&#10;&#10;လမ်းရွေးခြင်း: လမ်းဆုံရောက်ရင် လမ်းတစ်လမ်းကို ရွေးပြီး လမ်းဆုံးတဲ့အထိ (Dead-end) ဆက်လျှောက်သွားပါတယ်။&#10;&#10;ပြန်လှည့်ခြင်း (Backtrack): လမ်းပိတ်နေပြီ (သို့) မရှိတော့ဘူး ဆိုရင်မှ နောက်ဆုံးဖြတ်ခဲ့တဲ့ လမ်းဆုံကို ပြန်လှည့်ပါတယ်။&#10;&#10;နောက်တစ်လမ်းရွေး: ပြီးရင် မသွားရသေးတဲ့ နောက်လမ်းတစ်ခုကို ထပ်ရွေးပြီး အဆုံးထိ ထပ်သွားပါတယ်။&#10;&#10;ဒီလို &quot;လမ်းဆုံးထိသွား၊ ပိတ်ရင် ပြန်လှည့် (Backtracking)&quot; လုပ်တဲ့ သဘောတရားကို DFS လို့ ခေါ်ပါတယ်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1600" y="1804100"/>
            <a:ext cx="3960375" cy="39603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8708" y="4510087"/>
            <a:ext cx="34480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81013" y="2930662"/>
            <a:ext cx="4963500" cy="1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LIFO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115942" y="2074068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5F5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ကို အသုံးပြုသည်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115942" y="2655093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BFS </a:t>
            </a:r>
            <a:r>
              <a:rPr lang="en-US" sz="16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Queue (FIFO) </a:t>
            </a:r>
            <a:r>
              <a:rPr lang="en-US" sz="16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သုံးခဲ့သလို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DFS </a:t>
            </a:r>
            <a:r>
              <a:rPr lang="en-US" sz="16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မှာတော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(LIFO)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အသုံးပြုပါတယ</a:t>
            </a:r>
            <a:r>
              <a:rPr lang="en-US" sz="1650" b="0" i="0" u="none" strike="noStrike" cap="none" dirty="0">
                <a:solidFill>
                  <a:srgbClr val="A3A3A3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034330-3076-5B8F-E70E-FF730400EF38}"/>
              </a:ext>
            </a:extLst>
          </p:cNvPr>
          <p:cNvGrpSpPr/>
          <p:nvPr/>
        </p:nvGrpSpPr>
        <p:grpSpPr>
          <a:xfrm>
            <a:off x="6115942" y="3658790"/>
            <a:ext cx="5495032" cy="1005482"/>
            <a:chOff x="6115942" y="3658790"/>
            <a:chExt cx="5495032" cy="1005482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6639817" y="3658790"/>
              <a:ext cx="4971157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နောက်ဆုံးတွေ့တဲ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လမ်းဆုံ</a:t>
              </a:r>
              <a:r>
                <a:rPr lang="en-US" sz="1650" b="1" i="0" u="none" strike="noStrike" cap="none" dirty="0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်္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ကပါထဲမှာ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နောက်ဆုံးတွေ့ခဲ့တဲ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လမ်းဆုံကို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မှတ်ထားပြီး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အဲ့ဒီကနေပဲ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အရင်ဆုံး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ပြန်စရပါတယ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(Last In, First Out)</a:t>
              </a:r>
              <a:endParaRPr dirty="0"/>
            </a:p>
          </p:txBody>
        </p:sp>
        <p:pic>
          <p:nvPicPr>
            <p:cNvPr id="124" name="Google Shape;124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15942" y="3772196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2FFB670-D8A8-EDD4-182C-6C7AA3766AC9}"/>
              </a:ext>
            </a:extLst>
          </p:cNvPr>
          <p:cNvGrpSpPr/>
          <p:nvPr/>
        </p:nvGrpSpPr>
        <p:grpSpPr>
          <a:xfrm>
            <a:off x="6101457" y="4902398"/>
            <a:ext cx="5509517" cy="1005482"/>
            <a:chOff x="6101457" y="4902398"/>
            <a:chExt cx="5509517" cy="1005482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6639817" y="4902398"/>
              <a:ext cx="4971157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Recursion (Call Stack):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လက်တွေ့ Code ရေးတဲ့အခါ Stack ကို ကိုယ်တိုင်ဆောက်စရာမလိုဘဲ </a:t>
              </a:r>
              <a:r>
                <a:rPr lang="en-US" sz="1650" b="1" i="0" u="none" strike="noStrike" cap="none">
                  <a:solidFill>
                    <a:srgbClr val="A855F7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Recursion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ကို သုံးလိုက်ရင် ပိုလွယ်သွားပါတယ်။</a:t>
              </a:r>
              <a:endParaRPr/>
            </a:p>
          </p:txBody>
        </p:sp>
        <p:pic>
          <p:nvPicPr>
            <p:cNvPr id="125" name="Google Shape;125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01457" y="4996983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6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of DFS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005B1B6-6E1D-E816-9C36-6BD17FA1FEE8}"/>
              </a:ext>
            </a:extLst>
          </p:cNvPr>
          <p:cNvGrpSpPr/>
          <p:nvPr/>
        </p:nvGrpSpPr>
        <p:grpSpPr>
          <a:xfrm>
            <a:off x="581025" y="1831181"/>
            <a:ext cx="5276850" cy="4557712"/>
            <a:chOff x="581025" y="1831181"/>
            <a:chExt cx="5276850" cy="455771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2AA28A1-D84F-B4E2-0D20-9589677F8EA8}"/>
                </a:ext>
              </a:extLst>
            </p:cNvPr>
            <p:cNvGrpSpPr/>
            <p:nvPr/>
          </p:nvGrpSpPr>
          <p:grpSpPr>
            <a:xfrm>
              <a:off x="581025" y="1831181"/>
              <a:ext cx="5276850" cy="4557712"/>
              <a:chOff x="581025" y="1831181"/>
              <a:chExt cx="5276850" cy="4557712"/>
            </a:xfrm>
          </p:grpSpPr>
          <p:pic>
            <p:nvPicPr>
              <p:cNvPr id="133" name="Google Shape;133;p17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1025" y="1831181"/>
                <a:ext cx="5276850" cy="45577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17"/>
              <p:cNvSpPr txBox="1"/>
              <p:nvPr/>
            </p:nvSpPr>
            <p:spPr>
              <a:xfrm>
                <a:off x="971550" y="2250281"/>
                <a:ext cx="472059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476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06B6D4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BFS (Breadth-First)</a:t>
                </a:r>
                <a:endParaRPr/>
              </a:p>
            </p:txBody>
          </p:sp>
          <p:sp>
            <p:nvSpPr>
              <p:cNvPr id="136" name="Google Shape;136;p17"/>
              <p:cNvSpPr txBox="1"/>
              <p:nvPr/>
            </p:nvSpPr>
            <p:spPr>
              <a:xfrm>
                <a:off x="971550" y="2793206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>
                    <a:solidFill>
                      <a:srgbClr val="F5F5F5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ရေလှိုင်း / အကျယ်</a:t>
                </a: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971550" y="3223617"/>
                <a:ext cx="4495800" cy="2010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4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A3A3A3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ကိုယ့်အနား (Neighbors) မှာ ရှိတဲ့သူတွေကို အရင်အကုန်ရှာတယ်။ ပြီးမှ တစ်ဆင့် (Level) ဆင်းတယ်။ </a:t>
                </a:r>
                <a:b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650" b="1" i="0" u="none" strike="noStrike" cap="none">
                    <a:solidFill>
                      <a:srgbClr val="F5F5F5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အသုံးပြုမှု:</a:t>
                </a:r>
                <a:r>
                  <a:rPr lang="en-US" sz="1650" b="0" i="0" u="none" strike="noStrike" cap="none">
                    <a:solidFill>
                      <a:srgbClr val="A3A3A3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အတိုဆုံးလမ်း (Shortest Path) ရှာချင်တဲ့အခါ အသုံးဝင်ပါတယ်။</a:t>
                </a:r>
                <a:endParaRPr/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971550" y="5520332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06B6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Uses: Queue (FIFO)</a:t>
                </a:r>
                <a:endParaRPr/>
              </a:p>
            </p:txBody>
          </p:sp>
        </p:grpSp>
        <p:pic>
          <p:nvPicPr>
            <p:cNvPr id="143" name="Google Shape;143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71550" y="2288512"/>
              <a:ext cx="3048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3D0C87-06B6-CDB2-F9A5-1998A0942948}"/>
              </a:ext>
            </a:extLst>
          </p:cNvPr>
          <p:cNvGrpSpPr/>
          <p:nvPr/>
        </p:nvGrpSpPr>
        <p:grpSpPr>
          <a:xfrm>
            <a:off x="6334125" y="1831181"/>
            <a:ext cx="5276850" cy="4557712"/>
            <a:chOff x="6334125" y="1831181"/>
            <a:chExt cx="5276850" cy="4557712"/>
          </a:xfrm>
        </p:grpSpPr>
        <p:pic>
          <p:nvPicPr>
            <p:cNvPr id="134" name="Google Shape;134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4125" y="1831181"/>
              <a:ext cx="5276850" cy="45577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7"/>
            <p:cNvSpPr txBox="1"/>
            <p:nvPr/>
          </p:nvSpPr>
          <p:spPr>
            <a:xfrm>
              <a:off x="6724650" y="2250281"/>
              <a:ext cx="47205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43F5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DFS (Depth-First)</a:t>
              </a:r>
              <a:endParaRPr dirty="0"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6724650" y="2793206"/>
              <a:ext cx="4495800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မြေတူးစက် / အနက်</a:t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6724650" y="3223617"/>
              <a:ext cx="44958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လမ်းတစ်လမ်းတွေ့တာနဲ့ အဲ့ဒီလမ်းအတိုင်း အဆုံးထိ (Dead-end) အရင် သွားလိုက်တယ်။ ပိတ်မှ ပြန်လှည့်လာတယ်။ 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အသုံးပြုမှု:</a:t>
              </a: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လမ်းကြောင်းရှိမရှိ စမ်းသပ်ချင်တဲ့အခါ၊ ပဟေဋ္ဌိ ဖြေရှင်းတဲ့အခါ သုံးပါတယ်။</a:t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6724650" y="5823034"/>
              <a:ext cx="44958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43F5E"/>
                  </a:solidFill>
                  <a:latin typeface="Fira Code"/>
                  <a:ea typeface="Fira Code"/>
                  <a:cs typeface="Fira Code"/>
                  <a:sym typeface="Fira Code"/>
                </a:rPr>
                <a:t>Uses: Stack (LIFO) / Recursion</a:t>
              </a:r>
              <a:endParaRPr/>
            </a:p>
          </p:txBody>
        </p:sp>
        <p:pic>
          <p:nvPicPr>
            <p:cNvPr id="144" name="Google Shape;144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24650" y="2288512"/>
              <a:ext cx="200025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7"/>
          <p:cNvSpPr txBox="1"/>
          <p:nvPr/>
        </p:nvSpPr>
        <p:spPr>
          <a:xfrm>
            <a:off x="581025" y="469106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BFS နဲ့ DFS ဘာကွာလဲ? ⚖️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1488281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95FFA9-4614-1539-6257-D7761C4FC9D7}"/>
              </a:ext>
            </a:extLst>
          </p:cNvPr>
          <p:cNvGrpSpPr/>
          <p:nvPr/>
        </p:nvGrpSpPr>
        <p:grpSpPr>
          <a:xfrm>
            <a:off x="581025" y="2024360"/>
            <a:ext cx="3486150" cy="4171354"/>
            <a:chOff x="581025" y="2024360"/>
            <a:chExt cx="3486150" cy="4171354"/>
          </a:xfrm>
        </p:grpSpPr>
        <p:pic>
          <p:nvPicPr>
            <p:cNvPr id="152" name="Google Shape;152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024360"/>
              <a:ext cx="3486150" cy="4171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44346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8"/>
            <p:cNvSpPr txBox="1"/>
            <p:nvPr/>
          </p:nvSpPr>
          <p:spPr>
            <a:xfrm>
              <a:off x="876300" y="3443585"/>
              <a:ext cx="1910238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43F5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Start &amp; Visit</a:t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876300" y="3986510"/>
              <a:ext cx="28956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စတင်မယ့် Node ကို ရောက်ပြီလို့ </a:t>
              </a: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Visited</a:t>
              </a: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ထဲမှာ မှတ်လိုက်ပါ။ (ပြန်မလာမိအောင်ပါ)</a:t>
              </a:r>
              <a:endParaRPr/>
            </a:p>
          </p:txBody>
        </p:sp>
        <p:pic>
          <p:nvPicPr>
            <p:cNvPr id="164" name="Google Shape;164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66800" y="2605385"/>
              <a:ext cx="3810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A000D11-B2FC-AF1E-601B-5D6D78A4238C}"/>
              </a:ext>
            </a:extLst>
          </p:cNvPr>
          <p:cNvGrpSpPr/>
          <p:nvPr/>
        </p:nvGrpSpPr>
        <p:grpSpPr>
          <a:xfrm>
            <a:off x="4352925" y="2024360"/>
            <a:ext cx="3486150" cy="4171354"/>
            <a:chOff x="4352925" y="2024360"/>
            <a:chExt cx="3486150" cy="4171354"/>
          </a:xfrm>
        </p:grpSpPr>
        <p:pic>
          <p:nvPicPr>
            <p:cNvPr id="153" name="Google Shape;153;p18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2024360"/>
              <a:ext cx="3486150" cy="4171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8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244346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8"/>
            <p:cNvSpPr txBox="1"/>
            <p:nvPr/>
          </p:nvSpPr>
          <p:spPr>
            <a:xfrm>
              <a:off x="4648200" y="3443585"/>
              <a:ext cx="1570196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Dig Deep</a:t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4648200" y="3986510"/>
              <a:ext cx="28956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သူနဲ့ ချိတ်ထားတဲ့ အိမ်နီးချင်းတွေထဲက </a:t>
              </a: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မရောက်ဖူးသေးတဲ့ သူဆီကို</a:t>
              </a: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ချက်ချင်း ဆင်းသွားပါ။ (Recursion ပြန်ခေါ်ပါ)</a:t>
              </a:r>
              <a:endParaRPr/>
            </a:p>
          </p:txBody>
        </p:sp>
        <p:pic>
          <p:nvPicPr>
            <p:cNvPr id="165" name="Google Shape;165;p18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81550" y="2605385"/>
              <a:ext cx="4953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21980F1-1686-785F-76C7-87A12E41ADCD}"/>
              </a:ext>
            </a:extLst>
          </p:cNvPr>
          <p:cNvGrpSpPr/>
          <p:nvPr/>
        </p:nvGrpSpPr>
        <p:grpSpPr>
          <a:xfrm>
            <a:off x="8124825" y="2024360"/>
            <a:ext cx="3486150" cy="4171354"/>
            <a:chOff x="8124825" y="2024360"/>
            <a:chExt cx="3486150" cy="4171354"/>
          </a:xfrm>
        </p:grpSpPr>
        <p:pic>
          <p:nvPicPr>
            <p:cNvPr id="154" name="Google Shape;154;p18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2024360"/>
              <a:ext cx="3486150" cy="4171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8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244346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8"/>
            <p:cNvSpPr txBox="1"/>
            <p:nvPr/>
          </p:nvSpPr>
          <p:spPr>
            <a:xfrm>
              <a:off x="8420100" y="3443585"/>
              <a:ext cx="1770221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3. Backtrack</a:t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8420100" y="3986510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မရောက်ဖူးတဲ့ အိမ်နီးချင်း မရှိတော့ရင် (လမ်းဆုံးသွားရင်) </a:t>
              </a:r>
              <a:r>
                <a:rPr lang="en-US" sz="1650" b="1" i="0" u="none" strike="noStrike" cap="none">
                  <a:solidFill>
                    <a:srgbClr val="F5F5F5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အနောက်ကို တစ်လှမ်း ပြန်ဆုတ်ပြီး</a:t>
              </a:r>
              <a:r>
                <a:rPr lang="en-US" sz="16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ကျန်တဲ့လမ်းကို ဆက်သွားပါ။</a:t>
              </a:r>
              <a:endParaRPr/>
            </a:p>
          </p:txBody>
        </p:sp>
        <p:pic>
          <p:nvPicPr>
            <p:cNvPr id="166" name="Google Shape;166;p18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82025" y="2605385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" name="Google Shape;167;p18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DFS အလုပ်လုပ်ပုံ (၃ ဆင့်) 🔄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81025" y="581025"/>
            <a:ext cx="554069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DFS in Action</a:t>
            </a:r>
            <a:endParaRPr dirty="0"/>
          </a:p>
        </p:txBody>
      </p:sp>
      <p:sp>
        <p:nvSpPr>
          <p:cNvPr id="175" name="Google Shape;175;p19"/>
          <p:cNvSpPr/>
          <p:nvPr/>
        </p:nvSpPr>
        <p:spPr>
          <a:xfrm>
            <a:off x="581025" y="1323975"/>
            <a:ext cx="52768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81025" y="1666875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5F5F5"/>
                </a:solidFill>
                <a:latin typeface="Fira Code"/>
                <a:ea typeface="Fira Code"/>
                <a:cs typeface="Fira Code"/>
                <a:sym typeface="Fira Code"/>
              </a:rPr>
              <a:t>A </a:t>
            </a:r>
            <a:r>
              <a:rPr lang="my-MM" sz="1800" b="0" i="0" u="none" strike="noStrike" cap="none" dirty="0">
                <a:solidFill>
                  <a:srgbClr val="F5F5F5"/>
                </a:solidFill>
                <a:latin typeface="Fira Code"/>
                <a:ea typeface="Fira Code"/>
                <a:cs typeface="Fira Code"/>
                <a:sym typeface="Fira Code"/>
              </a:rPr>
              <a:t>ကနေ စရှာမယ်ဆိုပါစို့။</a:t>
            </a:r>
            <a:endParaRPr lang="my-MM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FED99-4A12-653F-E297-D5022B250BEB}"/>
              </a:ext>
            </a:extLst>
          </p:cNvPr>
          <p:cNvSpPr txBox="1"/>
          <p:nvPr/>
        </p:nvSpPr>
        <p:spPr>
          <a:xfrm>
            <a:off x="491378" y="2365920"/>
            <a:ext cx="61677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F43F5E"/>
                </a:solidFill>
                <a:effectLst/>
                <a:latin typeface="Lato" panose="020F0502020204030203" pitchFamily="34" charset="77"/>
              </a:rPr>
              <a:t>Start: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 A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ကို ရောက်တယ်။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A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ရဲ့ သူငယ်ချင်း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B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ဆီ ဆင်းတယ်။</a:t>
            </a:r>
            <a:endParaRPr lang="my-MM" sz="1800" b="0" dirty="0">
              <a:effectLst/>
              <a:latin typeface="Lato" panose="020F0502020204030203" pitchFamily="34" charset="77"/>
            </a:endParaRPr>
          </a:p>
          <a:p>
            <a:pPr>
              <a:buNone/>
            </a:pPr>
            <a:br>
              <a:rPr lang="my-MM" sz="1800" b="0" dirty="0">
                <a:effectLst/>
                <a:latin typeface="Lato" panose="020F0502020204030203" pitchFamily="34" charset="77"/>
              </a:rPr>
            </a:br>
            <a:endParaRPr lang="my-MM" sz="1800" b="0" dirty="0">
              <a:effectLst/>
              <a:latin typeface="Lato" panose="020F0502020204030203" pitchFamily="34" charset="77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F43F5E"/>
                </a:solidFill>
                <a:effectLst/>
                <a:latin typeface="Lato" panose="020F0502020204030203" pitchFamily="34" charset="77"/>
              </a:rPr>
              <a:t>Go Deep: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 B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ကနေ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C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ဆီ မသွားသေးဘူး!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B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ရဲ့ သူငယ်ချင်း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D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ဆီ အဆုံးထိ ဆင်းတယ်။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D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မှာ လမ်းဆုံးပြီ။</a:t>
            </a:r>
            <a:endParaRPr lang="my-MM" sz="1800" b="0" dirty="0">
              <a:effectLst/>
              <a:latin typeface="Lato" panose="020F0502020204030203" pitchFamily="34" charset="77"/>
            </a:endParaRPr>
          </a:p>
          <a:p>
            <a:pPr>
              <a:buNone/>
            </a:pPr>
            <a:br>
              <a:rPr lang="my-MM" sz="1800" b="0" dirty="0">
                <a:effectLst/>
                <a:latin typeface="Lato" panose="020F0502020204030203" pitchFamily="34" charset="77"/>
              </a:rPr>
            </a:br>
            <a:endParaRPr lang="my-MM" sz="1800" b="0" dirty="0">
              <a:effectLst/>
              <a:latin typeface="Lato" panose="020F0502020204030203" pitchFamily="34" charset="77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F59E0B"/>
                </a:solidFill>
                <a:effectLst/>
                <a:latin typeface="Lato" panose="020F0502020204030203" pitchFamily="34" charset="77"/>
              </a:rPr>
              <a:t>Backtrack: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 D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ကနေ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B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ကို ပြန်လှည့်တယ်။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B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ကနေ အခြားလမ်း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E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ဆီ ဆက်ဆင်းတယ်။</a:t>
            </a:r>
            <a:endParaRPr lang="my-MM" sz="1800" b="0" dirty="0">
              <a:effectLst/>
              <a:latin typeface="Lato" panose="020F0502020204030203" pitchFamily="34" charset="77"/>
            </a:endParaRPr>
          </a:p>
          <a:p>
            <a:pPr>
              <a:buNone/>
            </a:pPr>
            <a:br>
              <a:rPr lang="my-MM" sz="1800" b="0" dirty="0">
                <a:effectLst/>
                <a:latin typeface="Lato" panose="020F0502020204030203" pitchFamily="34" charset="77"/>
              </a:rPr>
            </a:br>
            <a:endParaRPr lang="my-MM" sz="1800" b="0" dirty="0">
              <a:effectLst/>
              <a:latin typeface="Lato" panose="020F0502020204030203" pitchFamily="34" charset="77"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F43F5E"/>
                </a:solidFill>
                <a:effectLst/>
                <a:latin typeface="Lato" panose="020F0502020204030203" pitchFamily="34" charset="77"/>
              </a:rPr>
              <a:t>Continue: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 E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အဆုံးထိရောက်ရင် ပြန်လှည့်ပြီး နောက်ဆုံးမှ </a:t>
            </a:r>
            <a:r>
              <a:rPr lang="en-US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C </a:t>
            </a:r>
            <a:r>
              <a:rPr lang="my-MM" sz="1800" b="0" i="0" u="none" strike="noStrike" dirty="0">
                <a:solidFill>
                  <a:srgbClr val="D4D4D8"/>
                </a:solidFill>
                <a:effectLst/>
                <a:latin typeface="Lato" panose="020F0502020204030203" pitchFamily="34" charset="77"/>
              </a:rPr>
              <a:t>ဘက်ကို ကူးသွားပါတယ်။</a:t>
            </a:r>
            <a:endParaRPr lang="my-MM" sz="1800" b="0" dirty="0">
              <a:effectLst/>
              <a:latin typeface="Lato" panose="020F0502020204030203" pitchFamily="34" charset="77"/>
            </a:endParaRPr>
          </a:p>
          <a:p>
            <a:pPr>
              <a:buNone/>
            </a:pPr>
            <a:br>
              <a:rPr lang="my-MM" sz="1800" dirty="0">
                <a:latin typeface="Lato" panose="020F0502020204030203" pitchFamily="34" charset="77"/>
              </a:rPr>
            </a:br>
            <a:endParaRPr lang="en-TH" sz="1800" dirty="0">
              <a:latin typeface="Lato" panose="020F0502020204030203" pitchFamily="34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1A95D29-9FBD-C64F-E516-DDEFAD3134FF}"/>
              </a:ext>
            </a:extLst>
          </p:cNvPr>
          <p:cNvSpPr/>
          <p:nvPr/>
        </p:nvSpPr>
        <p:spPr>
          <a:xfrm>
            <a:off x="9179859" y="1622032"/>
            <a:ext cx="708212" cy="699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TH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15955E-DF5E-B8D6-B3D1-D888BC437A46}"/>
              </a:ext>
            </a:extLst>
          </p:cNvPr>
          <p:cNvSpPr/>
          <p:nvPr/>
        </p:nvSpPr>
        <p:spPr>
          <a:xfrm>
            <a:off x="8202706" y="2625842"/>
            <a:ext cx="708212" cy="699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TH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47BA7-C355-9D55-E9F9-514A8EE5AC6F}"/>
              </a:ext>
            </a:extLst>
          </p:cNvPr>
          <p:cNvSpPr/>
          <p:nvPr/>
        </p:nvSpPr>
        <p:spPr>
          <a:xfrm>
            <a:off x="10100422" y="2625842"/>
            <a:ext cx="708212" cy="699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TH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C4D13D-B65E-E279-1D22-F3DE29B2E0A1}"/>
              </a:ext>
            </a:extLst>
          </p:cNvPr>
          <p:cNvSpPr/>
          <p:nvPr/>
        </p:nvSpPr>
        <p:spPr>
          <a:xfrm>
            <a:off x="7279901" y="3543383"/>
            <a:ext cx="708212" cy="699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TH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6946240-1E20-FB40-721B-88668CDC3EDF}"/>
              </a:ext>
            </a:extLst>
          </p:cNvPr>
          <p:cNvSpPr/>
          <p:nvPr/>
        </p:nvSpPr>
        <p:spPr>
          <a:xfrm>
            <a:off x="8929468" y="3645756"/>
            <a:ext cx="708212" cy="699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en-TH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33B1BBC-68AF-3DDD-4AD6-C715F69FCD7F}"/>
              </a:ext>
            </a:extLst>
          </p:cNvPr>
          <p:cNvCxnSpPr>
            <a:stCxn id="18" idx="3"/>
            <a:endCxn id="19" idx="7"/>
          </p:cNvCxnSpPr>
          <p:nvPr/>
        </p:nvCxnSpPr>
        <p:spPr>
          <a:xfrm flipH="1">
            <a:off x="8807203" y="2218704"/>
            <a:ext cx="476371" cy="50951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80902-36AF-6F8C-53E6-C320198796AC}"/>
              </a:ext>
            </a:extLst>
          </p:cNvPr>
          <p:cNvCxnSpPr>
            <a:stCxn id="19" idx="3"/>
            <a:endCxn id="21" idx="7"/>
          </p:cNvCxnSpPr>
          <p:nvPr/>
        </p:nvCxnSpPr>
        <p:spPr>
          <a:xfrm flipH="1">
            <a:off x="7884398" y="3222514"/>
            <a:ext cx="422023" cy="42324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AFC734-D991-86AB-4978-29D17CCAFFC9}"/>
              </a:ext>
            </a:extLst>
          </p:cNvPr>
          <p:cNvCxnSpPr>
            <a:cxnSpLocks/>
            <a:stCxn id="22" idx="0"/>
            <a:endCxn id="19" idx="5"/>
          </p:cNvCxnSpPr>
          <p:nvPr/>
        </p:nvCxnSpPr>
        <p:spPr>
          <a:xfrm flipH="1" flipV="1">
            <a:off x="8807203" y="3222514"/>
            <a:ext cx="476371" cy="42324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BE55798-0323-B236-BB31-2871893AB4B8}"/>
              </a:ext>
            </a:extLst>
          </p:cNvPr>
          <p:cNvCxnSpPr>
            <a:stCxn id="18" idx="5"/>
            <a:endCxn id="20" idx="1"/>
          </p:cNvCxnSpPr>
          <p:nvPr/>
        </p:nvCxnSpPr>
        <p:spPr>
          <a:xfrm>
            <a:off x="9784356" y="2218704"/>
            <a:ext cx="419781" cy="50951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/>
        </p:nvGraphicFramePr>
        <p:xfrm>
          <a:off x="590550" y="1835062"/>
          <a:ext cx="11010900" cy="3838575"/>
        </p:xfrm>
        <a:graphic>
          <a:graphicData uri="http://schemas.openxmlformats.org/drawingml/2006/table">
            <a:tbl>
              <a:tblPr firstRow="1" bandRow="1">
                <a:noFill/>
                <a:tableStyleId>{855EBFE0-AC41-445F-8BEA-D5DAF72B3A01}</a:tableStyleId>
              </a:tblPr>
              <a:tblGrid>
                <a:gridCol w="183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9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43F5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Metric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3F5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Complexity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3F5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ရှင်းလင်းချက်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Time (အမြန်နှုန်း)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br>
                        <a:rPr lang="en-US" sz="1650" b="0" i="0" u="none" strike="noStrike" cap="none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O(V+E)</a:t>
                      </a:r>
                      <a:br>
                        <a:rPr lang="en-US" sz="1650" b="0" i="0" u="none" strike="noStrike" cap="none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          </a:t>
                      </a:r>
                      <a:br>
                        <a:rPr lang="en-US" sz="1650" b="0" i="0" u="none" strike="noStrike" cap="none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V = Vertices (အစက်များ), E = Edges (မျဉ်းများ)။</a:t>
                      </a:r>
                      <a:b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        BFS နည်းတူပါပဲ၊ Graph တစ်ခုလုံးက Node တွေနဲ့ လမ်းကြောင်းတွေ အကုန်လုံးကို လိုက်စစ်ရလို့ပါ။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9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A855F7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Space (နေရာယူမှု)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A855F7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</a:t>
                      </a:r>
                      <a:r>
                        <a:rPr lang="en-US" sz="1650">
                          <a:solidFill>
                            <a:srgbClr val="A855F7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A855F7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V 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Recursion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သုံးထားလို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Call Stack Memory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Visited Set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ထဲမှာ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အများဆုံး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Node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အရေအတွက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 (V)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အထိ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နေရာယူနိုင်ပါတယ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&amp; Space Complexity</a:t>
            </a:r>
            <a:endParaRPr dirty="0"/>
          </a:p>
        </p:txBody>
      </p:sp>
      <p:sp>
        <p:nvSpPr>
          <p:cNvPr id="189" name="Google Shape;189;p20"/>
          <p:cNvSpPr/>
          <p:nvPr/>
        </p:nvSpPr>
        <p:spPr>
          <a:xfrm>
            <a:off x="581025" y="13239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C4B6FB5-9D50-BF51-4768-F7A438429F04}"/>
              </a:ext>
            </a:extLst>
          </p:cNvPr>
          <p:cNvGrpSpPr/>
          <p:nvPr/>
        </p:nvGrpSpPr>
        <p:grpSpPr>
          <a:xfrm>
            <a:off x="581025" y="2932375"/>
            <a:ext cx="3486150" cy="2289175"/>
            <a:chOff x="581025" y="2932375"/>
            <a:chExt cx="3486150" cy="2289175"/>
          </a:xfrm>
        </p:grpSpPr>
        <p:pic>
          <p:nvPicPr>
            <p:cNvPr id="195" name="Google Shape;195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932375"/>
              <a:ext cx="3486150" cy="2289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1"/>
            <p:cNvSpPr txBox="1"/>
            <p:nvPr/>
          </p:nvSpPr>
          <p:spPr>
            <a:xfrm>
              <a:off x="753903" y="3257550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F43F5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Solving Puzzles</a:t>
              </a:r>
              <a:endParaRPr/>
            </a:p>
          </p:txBody>
        </p:sp>
        <p:sp>
          <p:nvSpPr>
            <p:cNvPr id="199" name="Google Shape;199;p21"/>
            <p:cNvSpPr txBox="1"/>
            <p:nvPr/>
          </p:nvSpPr>
          <p:spPr>
            <a:xfrm>
              <a:off x="828675" y="3686175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Sudoku, Maze လို ပဟေဋ္ဌိတွေမှာ လမ်းကြောင်းတစ်ခုကို မှားတဲ့အထိ သွား၊ မှားရင် ပြန်လှည့် (Backtracking) ဆိုတဲ့ ပုံစံအတွက် DFS က အကောင်းဆုံးပါ။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429BBFE-6FA2-A20B-0A81-ADE89B56D23D}"/>
              </a:ext>
            </a:extLst>
          </p:cNvPr>
          <p:cNvGrpSpPr/>
          <p:nvPr/>
        </p:nvGrpSpPr>
        <p:grpSpPr>
          <a:xfrm>
            <a:off x="4352925" y="2932375"/>
            <a:ext cx="3486150" cy="2289175"/>
            <a:chOff x="4352925" y="2932375"/>
            <a:chExt cx="3486150" cy="2289175"/>
          </a:xfrm>
        </p:grpSpPr>
        <p:pic>
          <p:nvPicPr>
            <p:cNvPr id="196" name="Google Shape;196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932375"/>
              <a:ext cx="3486150" cy="2289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1"/>
            <p:cNvSpPr txBox="1"/>
            <p:nvPr/>
          </p:nvSpPr>
          <p:spPr>
            <a:xfrm>
              <a:off x="4525803" y="3257550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Topological Sorting</a:t>
              </a:r>
              <a:endParaRPr dirty="0"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4600575" y="3686175"/>
              <a:ext cx="2991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"အလုပ် A ပြီးမှ B လုပ်ရမယ်" ဆိုတဲ့ Task တွေ စီစဉ်တဲ့အခါ (Dependency Graph) DFS ကို အသုံးပြုပြီး စီစဉ်ပေးရပါတယ်။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6F50643-F04F-DE5B-D6F1-6D7A7706CCA8}"/>
              </a:ext>
            </a:extLst>
          </p:cNvPr>
          <p:cNvGrpSpPr/>
          <p:nvPr/>
        </p:nvGrpSpPr>
        <p:grpSpPr>
          <a:xfrm>
            <a:off x="8124825" y="2932375"/>
            <a:ext cx="3486150" cy="2289175"/>
            <a:chOff x="8124825" y="2932375"/>
            <a:chExt cx="3486150" cy="2289175"/>
          </a:xfrm>
        </p:grpSpPr>
        <p:pic>
          <p:nvPicPr>
            <p:cNvPr id="197" name="Google Shape;197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932375"/>
              <a:ext cx="3486150" cy="2289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1"/>
            <p:cNvSpPr txBox="1"/>
            <p:nvPr/>
          </p:nvSpPr>
          <p:spPr>
            <a:xfrm>
              <a:off x="8372328" y="3257550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Detecting Cycles</a:t>
              </a:r>
              <a:endParaRPr dirty="0"/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8447100" y="3686175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3A3A3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Graph ကြီးထဲမှာ ပတ်ချာလည် (Infinite Loop) ဖြစ်နေတဲ့ လမ်းကြောင်းတွေ ပါ/မပါ စစ်ဆေးချင်တဲ့အခါ အသုံးဝင်ပါတယ်။</a:t>
              </a:r>
              <a:endParaRPr/>
            </a:p>
          </p:txBody>
        </p:sp>
      </p:grpSp>
      <p:sp>
        <p:nvSpPr>
          <p:cNvPr id="204" name="Google Shape;204;p21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</a:t>
            </a: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သုံးလဲ</a:t>
            </a: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 (Real World Uses) </a:t>
            </a:r>
            <a:endParaRPr dirty="0"/>
          </a:p>
        </p:txBody>
      </p:sp>
      <p:sp>
        <p:nvSpPr>
          <p:cNvPr id="205" name="Google Shape;205;p21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id="{714BF390-AC31-ADE1-6E41-3D106992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>
            <a:extLst>
              <a:ext uri="{FF2B5EF4-FFF2-40B4-BE49-F238E27FC236}">
                <a16:creationId xmlns:a16="http://schemas.microsoft.com/office/drawing/2014/main" id="{5A3D3409-8D44-C2AE-0308-A8BD771117FA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5CB331C9-A6F8-F213-E7D7-FAB5ED956DBF}"/>
              </a:ext>
            </a:extLst>
          </p:cNvPr>
          <p:cNvSpPr txBox="1"/>
          <p:nvPr/>
        </p:nvSpPr>
        <p:spPr>
          <a:xfrm>
            <a:off x="581025" y="284716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Find if Path Exists in Graph</a:t>
            </a:r>
            <a:endParaRPr dirty="0"/>
          </a:p>
        </p:txBody>
      </p:sp>
      <p:sp>
        <p:nvSpPr>
          <p:cNvPr id="205" name="Google Shape;205;p21">
            <a:extLst>
              <a:ext uri="{FF2B5EF4-FFF2-40B4-BE49-F238E27FC236}">
                <a16:creationId xmlns:a16="http://schemas.microsoft.com/office/drawing/2014/main" id="{F50FF6E2-4B33-8F8F-139F-EE3F3B4A5ACA}"/>
              </a:ext>
            </a:extLst>
          </p:cNvPr>
          <p:cNvSpPr/>
          <p:nvPr/>
        </p:nvSpPr>
        <p:spPr>
          <a:xfrm>
            <a:off x="581025" y="981639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0E9A3-9CB5-7A72-9124-53E678EF3BCE}"/>
              </a:ext>
            </a:extLst>
          </p:cNvPr>
          <p:cNvSpPr txBox="1"/>
          <p:nvPr/>
        </p:nvSpPr>
        <p:spPr>
          <a:xfrm>
            <a:off x="581024" y="1203339"/>
            <a:ext cx="757685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There is a bi-directional graph with 'n' vertices. You are given the Graph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(represented as an Adjacency List / Python Dictionary).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 also receive a `source` node and a `destination` node.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Return `True` if there is ANY valid path that leads entirely from the `source`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to the `destination`. Return `False` if no path exists.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source = "A", destination = "C"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Graph: {"A": ["B", "C"], "B": ["A"], "C": ["A"]}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True (You can step directly from A to C)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source = "A", destination = "Z"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Graph: {"A": ["B"], "B": ["A"], "Z": []}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False (There is no connecting line to Z)</a:t>
            </a:r>
          </a:p>
        </p:txBody>
      </p:sp>
    </p:spTree>
    <p:extLst>
      <p:ext uri="{BB962C8B-B14F-4D97-AF65-F5344CB8AC3E}">
        <p14:creationId xmlns:p14="http://schemas.microsoft.com/office/powerpoint/2010/main" val="365176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3">
          <a:extLst>
            <a:ext uri="{FF2B5EF4-FFF2-40B4-BE49-F238E27FC236}">
              <a16:creationId xmlns:a16="http://schemas.microsoft.com/office/drawing/2014/main" id="{AE961C4C-0759-4D54-9A70-686C8D42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>
            <a:extLst>
              <a:ext uri="{FF2B5EF4-FFF2-40B4-BE49-F238E27FC236}">
                <a16:creationId xmlns:a16="http://schemas.microsoft.com/office/drawing/2014/main" id="{F745728F-8B46-1018-0FAA-918CFE42761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791EA5CD-8536-EFB2-AEF5-99C3A4E026BE}"/>
              </a:ext>
            </a:extLst>
          </p:cNvPr>
          <p:cNvSpPr txBox="1"/>
          <p:nvPr/>
        </p:nvSpPr>
        <p:spPr>
          <a:xfrm>
            <a:off x="581025" y="284716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Find if Path Exists in Graph</a:t>
            </a:r>
            <a:endParaRPr dirty="0"/>
          </a:p>
        </p:txBody>
      </p:sp>
      <p:sp>
        <p:nvSpPr>
          <p:cNvPr id="205" name="Google Shape;205;p21">
            <a:extLst>
              <a:ext uri="{FF2B5EF4-FFF2-40B4-BE49-F238E27FC236}">
                <a16:creationId xmlns:a16="http://schemas.microsoft.com/office/drawing/2014/main" id="{7BE07A41-890E-39AA-F3F7-DE7D224EC5B2}"/>
              </a:ext>
            </a:extLst>
          </p:cNvPr>
          <p:cNvSpPr/>
          <p:nvPr/>
        </p:nvSpPr>
        <p:spPr>
          <a:xfrm>
            <a:off x="581025" y="981639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787B7-BE59-C1B8-9F80-AE79F61D1B7F}"/>
              </a:ext>
            </a:extLst>
          </p:cNvPr>
          <p:cNvSpPr txBox="1"/>
          <p:nvPr/>
        </p:nvSpPr>
        <p:spPr>
          <a:xfrm>
            <a:off x="581024" y="1203339"/>
            <a:ext cx="75768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source = "A", destination = "C"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Graph: {"A": ["B", "C"], "B": ["A"], "C": ["A"]}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True (You can step directly from A to C)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source = "A", destination = "Z"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Graph: {"A": ["B"], "B": ["A"], "Z": []}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False (There is no connecting line to Z)</a:t>
            </a:r>
          </a:p>
        </p:txBody>
      </p:sp>
    </p:spTree>
    <p:extLst>
      <p:ext uri="{BB962C8B-B14F-4D97-AF65-F5344CB8AC3E}">
        <p14:creationId xmlns:p14="http://schemas.microsoft.com/office/powerpoint/2010/main" val="41111635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9|7.6|17.6|9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|13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66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20.3|19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9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3.4|22.7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1601</Words>
  <Application>Microsoft Macintosh PowerPoint</Application>
  <PresentationFormat>Widescreen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6</cp:revision>
  <dcterms:modified xsi:type="dcterms:W3CDTF">2026-04-06T15:50:11Z</dcterms:modified>
</cp:coreProperties>
</file>