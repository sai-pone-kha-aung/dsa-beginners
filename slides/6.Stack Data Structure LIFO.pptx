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Fira Code" panose="020B0809050000020004" pitchFamily="49" charset="0"/>
      <p:regular r:id="rId13"/>
      <p:bold r:id="rId14"/>
    </p:embeddedFont>
    <p:embeddedFont>
      <p:font typeface="Lato" panose="020F0502020204030203" pitchFamily="34" charset="77"/>
      <p:regular r:id="rId15"/>
      <p:bold r:id="rId16"/>
      <p:italic r:id="rId17"/>
      <p:boldItalic r:id="rId18"/>
    </p:embeddedFont>
    <p:embeddedFont>
      <p:font typeface="Noto Sans Myanmar" panose="020B0502040504020204" pitchFamily="34" charset="0"/>
      <p:regular r:id="rId19"/>
      <p:bold r:id="rId20"/>
    </p:embeddedFont>
    <p:embeddedFont>
      <p:font typeface="Poppins" pitchFamily="2" charset="77"/>
      <p:regular r:id="rId21"/>
      <p:bold r:id="rId22"/>
      <p:italic r:id="rId23"/>
      <p:boldItalic r:id="rId24"/>
    </p:embeddedFont>
    <p:embeddedFont>
      <p:font typeface="Poppins SemiBold" pitchFamily="2" charset="77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8E8F92-5C3E-4861-9C4D-3DCDD34F1B52}">
  <a:tblStyle styleId="{5A8E8F92-5C3E-4861-9C4D-3DCDD34F1B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A4D577E4-7C57-58FB-52D1-AFC626EB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>
            <a:extLst>
              <a:ext uri="{FF2B5EF4-FFF2-40B4-BE49-F238E27FC236}">
                <a16:creationId xmlns:a16="http://schemas.microsoft.com/office/drawing/2014/main" id="{CD7A92A1-6C8C-F138-8460-1D80FA133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:notes">
            <a:extLst>
              <a:ext uri="{FF2B5EF4-FFF2-40B4-BE49-F238E27FC236}">
                <a16:creationId xmlns:a16="http://schemas.microsoft.com/office/drawing/2014/main" id="{09BA36C8-F279-08AF-5967-2926E0758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8589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90411" y="2498369"/>
            <a:ext cx="9811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Stack</a:t>
            </a: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Data Structure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75" y="3488969"/>
            <a:ext cx="85725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B82F6"/>
                </a:solidFill>
                <a:latin typeface="Fira Code"/>
                <a:ea typeface="Fira Code"/>
                <a:cs typeface="Fira Code"/>
                <a:sym typeface="Fira Code"/>
              </a:rPr>
              <a:t>[ LIFO - Last In, First Out ]</a:t>
            </a:r>
            <a:endParaRPr dirty="0"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AAA7A53D-39CC-EEF1-C4B3-1BCF7BA1C088}"/>
              </a:ext>
            </a:extLst>
          </p:cNvPr>
          <p:cNvSpPr txBox="1"/>
          <p:nvPr/>
        </p:nvSpPr>
        <p:spPr>
          <a:xfrm>
            <a:off x="1809750" y="4120738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- 6 ]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242244"/>
            <a:ext cx="952500" cy="57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495675" y="2585144"/>
            <a:ext cx="52006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LIFO ဆိုတာဘာလဲ?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286000" y="4109144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Last-In, First-Out: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နေ့စဉ်ဘဝမှာ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မြင်တွေ့နေရတဲ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စနစ်တစ်ခုဖြစ်ပြီး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ကွန်ပျူတာမှာ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အရေးပါဆုံး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Structure </a:t>
            </a:r>
            <a:r>
              <a:rPr lang="en-US" sz="1950" b="0" i="0" u="none" strike="noStrike" cap="none" dirty="0" err="1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တစ်ခုဖြစ်ပါတယ</a:t>
            </a:r>
            <a:r>
              <a:rPr lang="en-US" sz="1950" b="0" i="0" u="none" strike="noStrike" cap="none" dirty="0">
                <a:solidFill>
                  <a:srgbClr val="A1A1AA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887438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စားသောက်ဆိုင်မှာ ပန်းကန်တွေကို အပေါ်ကို တစ်ချပ်ချင်း ထပ်တင် (Stack) ထားတာကို မြင်ဖူးမှာပါ။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BDBE76-6D94-D526-C66A-CF96F008117E}"/>
              </a:ext>
            </a:extLst>
          </p:cNvPr>
          <p:cNvGrpSpPr/>
          <p:nvPr/>
        </p:nvGrpSpPr>
        <p:grpSpPr>
          <a:xfrm>
            <a:off x="581025" y="2700635"/>
            <a:ext cx="5276850" cy="3528588"/>
            <a:chOff x="581025" y="2700635"/>
            <a:chExt cx="5276850" cy="3528588"/>
          </a:xfrm>
        </p:grpSpPr>
        <p:pic>
          <p:nvPicPr>
            <p:cNvPr id="100" name="Google Shape;100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5177902"/>
              <a:ext cx="5276850" cy="1051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 txBox="1"/>
            <p:nvPr/>
          </p:nvSpPr>
          <p:spPr>
            <a:xfrm>
              <a:off x="857250" y="5281314"/>
              <a:ext cx="4762500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ဒီလိုမျိုး </a:t>
              </a:r>
              <a:r>
                <a:rPr lang="en-US" sz="1650" b="1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"နောက်ဆုံးမှ ရောက်လာတဲ့အရာကို၊ ပထမဆုံး ပြန်ထုတ်တဲ့"</a:t>
              </a:r>
              <a:r>
                <a:rPr lang="en-US" sz="1650" b="0" i="0" u="none" strike="noStrike" cap="none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သဘောတရားကို LIFO လို့ ခေါ်ပါတယ်။</a:t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1104900" y="2700635"/>
              <a:ext cx="4752975" cy="3351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ပန်းကန်အသစ်ကို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အပေ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ဆုံးမှာ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တင်လို့ရပါတယ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1104900" y="3273921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ပန်းကန်ပြန်ယူမယ်ဆိုရင်လည်း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EF444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အပေ</a:t>
              </a:r>
              <a:r>
                <a:rPr lang="en-US" sz="1650" b="1" i="0" u="none" strike="noStrike" cap="none" dirty="0">
                  <a:solidFill>
                    <a:srgbClr val="EF444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1" i="0" u="none" strike="noStrike" cap="none" dirty="0" err="1">
                  <a:solidFill>
                    <a:srgbClr val="EF444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ဆုံးက</a:t>
              </a:r>
              <a:r>
                <a:rPr lang="en-US" sz="1650" b="1" i="0" u="none" strike="noStrike" cap="none" dirty="0">
                  <a:solidFill>
                    <a:srgbClr val="EF444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</a:t>
              </a:r>
              <a:r>
                <a:rPr lang="en-US" sz="1650" b="1" i="0" u="none" strike="noStrike" cap="none" dirty="0" err="1">
                  <a:solidFill>
                    <a:srgbClr val="EF444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နောက်ဆုံးတင်ခဲ့တဲ</a:t>
              </a:r>
              <a:r>
                <a:rPr lang="en-US" sz="1650" b="1" i="0" u="none" strike="noStrike" cap="none" dirty="0">
                  <a:solidFill>
                    <a:srgbClr val="EF4444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့)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ပန်းကန်ကိုပဲ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အရင်ယူရပါတယ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1104900" y="4182367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အလယ်က ကောင်ကို ဆွဲထုတ်လို့ မရပါဘူး (ပြိုကျသွားနိုင်ပါတယ်)။</a:t>
              </a:r>
              <a:endParaRPr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2755744"/>
              <a:ext cx="190500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3307258"/>
              <a:ext cx="276225" cy="25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81025" y="421570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5"/>
          <p:cNvSpPr txBox="1"/>
          <p:nvPr/>
        </p:nvSpPr>
        <p:spPr>
          <a:xfrm>
            <a:off x="581025" y="525363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ပန်းကန်ပြားများ ထပ်ထားသလိုပါပဲ 🍽️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544538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ပန်းကန်ပြားများ ထပ်ထားသလိုပါပဲ 🍽️&#10;စားသောက်ဆိုင်မှာ ပန်းကန်တွေကို အပေါ်ကို တစ်ချပ်ချင်း ထပ်တင် (Stack) ထားတာကို မြင်ဖူးမှာပါ။&#10;ပန်းကန်အသစ်ကို အပေါ်ဆုံးမှာ ပဲ တင်လို့ရပါတယ်။&#10;ပန်းကန်ပြန်ယူမယ်ဆိုရင်လည်း အပေါ်ဆုံးက (နောက်ဆုံးတင်ခဲ့တဲ့) ပန်းကန်ကိုပဲ အရင်ယူရပါတယ်။&#10;အလယ်က ကောင်ကို ဆွဲထုတ်လို့ မရပါဘူး (ပြိုကျသွားနိုင်ပါတယ်)။&#10;"/>
          <p:cNvPicPr preferRelativeResize="0"/>
          <p:nvPr/>
        </p:nvPicPr>
        <p:blipFill rotWithShape="1">
          <a:blip r:embed="rId9">
            <a:alphaModFix/>
          </a:blip>
          <a:srcRect t="15562"/>
          <a:stretch/>
        </p:blipFill>
        <p:spPr>
          <a:xfrm>
            <a:off x="6845400" y="1929698"/>
            <a:ext cx="4876800" cy="4117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06228"/>
            <a:ext cx="3486150" cy="3807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06228"/>
            <a:ext cx="3486150" cy="3807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06228"/>
            <a:ext cx="3486150" cy="3807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9675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76300" y="3596878"/>
            <a:ext cx="95011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Push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4139803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ရဲ့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အပေါ်ဆုံးမှာ (Top)</a:t>
            </a: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Data အသစ်တစ်ခုကို သွားထည့်တာကို ခေါ်ပါတယ်။ (ပန်းကန်ပြား အသစ်တင်ခြင်း)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59675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48200" y="3596878"/>
            <a:ext cx="84010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Pop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8200" y="4139803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ရဲ့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အပေါ်ဆုံးမှာ (Top)</a:t>
            </a: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ရှိနေတဲ့ Data ကို ဖယ်ထုတ်ပြီး ယူသုံးတာကို ခေါ်ပါတယ်။ (ပန်းကန်ပြား ပြန်ယူခြင်း)</a:t>
            </a:r>
            <a:endParaRPr/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59675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420100" y="3596878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Peek / Top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20100" y="4139803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အပေါ်ဆုံးမှာ ဘာရှိနေလဲဆိုတာကို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မဖယ်ထုတ်ဘဲ</a:t>
            </a: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ကြည့်ရုံသက်သက် ကြည့်တာကို ခေါ်ပါတယ်။</a:t>
            </a:r>
            <a:endParaRPr/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90612" y="2758678"/>
            <a:ext cx="333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62512" y="2758678"/>
            <a:ext cx="33337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53450" y="2758678"/>
            <a:ext cx="495300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ရဲ့ အဓိက လုပ်ဆောင်ချက် (၃) မျိုး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29550" y="1748432"/>
            <a:ext cx="28575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81024" y="581025"/>
            <a:ext cx="74143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150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Visualization</a:t>
            </a: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581025" y="2200275"/>
            <a:ext cx="52768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2543175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stack.push</a:t>
            </a:r>
            <a:r>
              <a:rPr lang="en-US" sz="1800" b="0" i="0" u="none" strike="noStrike" cap="none" dirty="0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(10)</a:t>
            </a:r>
            <a:endParaRPr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3099345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stack.push(20)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81025" y="3655516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Fira Code"/>
                <a:ea typeface="Fira Code"/>
                <a:cs typeface="Fira Code"/>
                <a:sym typeface="Fira Code"/>
              </a:rPr>
              <a:t>stack.push(30)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4211687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F4444"/>
                </a:solidFill>
                <a:latin typeface="Fira Code"/>
                <a:ea typeface="Fira Code"/>
                <a:cs typeface="Fira Code"/>
                <a:sym typeface="Fira Code"/>
              </a:rPr>
              <a:t>stack.pop() → 30 ထွက်သွားမည်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28C622-86EA-77CE-9669-C9DEDB12A6AC}"/>
              </a:ext>
            </a:extLst>
          </p:cNvPr>
          <p:cNvGrpSpPr/>
          <p:nvPr/>
        </p:nvGrpSpPr>
        <p:grpSpPr>
          <a:xfrm>
            <a:off x="581025" y="5148857"/>
            <a:ext cx="5276850" cy="1386482"/>
            <a:chOff x="581025" y="5148857"/>
            <a:chExt cx="5276850" cy="1386482"/>
          </a:xfrm>
        </p:grpSpPr>
        <p:pic>
          <p:nvPicPr>
            <p:cNvPr id="143" name="Google Shape;143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81025" y="5148857"/>
              <a:ext cx="5276850" cy="1386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7"/>
            <p:cNvSpPr txBox="1"/>
            <p:nvPr/>
          </p:nvSpPr>
          <p:spPr>
            <a:xfrm>
              <a:off x="857250" y="5284927"/>
              <a:ext cx="4762500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Stack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သည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Container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တစ်ခုဖြစ်ပြီး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အမြဲတမ်း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Top (</a:t>
              </a:r>
              <a:r>
                <a:rPr lang="en-US" sz="1650" b="1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ထိပ်ဆုံး</a:t>
              </a:r>
              <a:r>
                <a:rPr lang="en-US" sz="1650" b="1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)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တစ်ခုတည်းကနေသာ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အဝင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်/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အထွက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363720A-1946-37DB-9E4A-FE06FFD5F70E}"/>
              </a:ext>
            </a:extLst>
          </p:cNvPr>
          <p:cNvSpPr/>
          <p:nvPr/>
        </p:nvSpPr>
        <p:spPr>
          <a:xfrm>
            <a:off x="7914576" y="4624871"/>
            <a:ext cx="2687445" cy="7390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dirty="0"/>
              <a:t>10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3737AE0-993D-75BF-99A8-E5B4A1791249}"/>
              </a:ext>
            </a:extLst>
          </p:cNvPr>
          <p:cNvSpPr/>
          <p:nvPr/>
        </p:nvSpPr>
        <p:spPr>
          <a:xfrm>
            <a:off x="7914577" y="3842184"/>
            <a:ext cx="2687445" cy="7390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dirty="0"/>
              <a:t>20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32F4772-04B4-B6A9-D500-EEE20A19AD95}"/>
              </a:ext>
            </a:extLst>
          </p:cNvPr>
          <p:cNvSpPr/>
          <p:nvPr/>
        </p:nvSpPr>
        <p:spPr>
          <a:xfrm>
            <a:off x="7914577" y="3059497"/>
            <a:ext cx="2687445" cy="7390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H" dirty="0"/>
              <a:t>30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562100" y="39787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Complexity (Big O)</a:t>
            </a:r>
            <a:endParaRPr/>
          </a:p>
        </p:txBody>
      </p:sp>
      <p:graphicFrame>
        <p:nvGraphicFramePr>
          <p:cNvPr id="156" name="Google Shape;156;p18"/>
          <p:cNvGraphicFramePr/>
          <p:nvPr>
            <p:extLst>
              <p:ext uri="{D42A27DB-BD31-4B8C-83A1-F6EECF244321}">
                <p14:modId xmlns:p14="http://schemas.microsoft.com/office/powerpoint/2010/main" val="4141166517"/>
              </p:ext>
            </p:extLst>
          </p:nvPr>
        </p:nvGraphicFramePr>
        <p:xfrm>
          <a:off x="672193" y="1496716"/>
          <a:ext cx="10866663" cy="3864567"/>
        </p:xfrm>
        <a:graphic>
          <a:graphicData uri="http://schemas.openxmlformats.org/drawingml/2006/table">
            <a:tbl>
              <a:tblPr>
                <a:noFill/>
                <a:tableStyleId>{5A8E8F92-5C3E-4861-9C4D-3DCDD34F1B52}</a:tableStyleId>
              </a:tblPr>
              <a:tblGrid>
                <a:gridCol w="3622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2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74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OPERATION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TIME COMPLEXITY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2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PUSH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O(1)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ထိပ်ဆုံးကို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တိုက်ရိုက်သွားထည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့်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လို့ရလို့ပ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2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POP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lt1"/>
                          </a:solidFill>
                        </a:rPr>
                        <a:t>O(1)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ထိပ်ဆုံးကောင်ကို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ချက်ချင်း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ယူလို့ရလို့ပ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42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PEEK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O(1)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Top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ကို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သိနေတဲ့အတွက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ချက်ချင်း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ဖတ်လို့ရပါတယ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်။</a:t>
                      </a:r>
                      <a:endParaRPr sz="1650" dirty="0">
                        <a:solidFill>
                          <a:srgbClr val="D4D4D8"/>
                        </a:solidFill>
                        <a:latin typeface="Noto Sans Myanmar"/>
                        <a:ea typeface="Noto Sans Myanmar"/>
                        <a:cs typeface="Noto Sans Myanmar"/>
                        <a:sym typeface="Noto Sans Myanma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420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Search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O(n)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အောက်ဆုံးမှာ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ရှိနေရင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်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အပေ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ါ်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ကနေ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တစ်ခုချင်း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ဖယ်ပြီးမ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ှ </a:t>
                      </a:r>
                      <a:r>
                        <a:rPr lang="en-US" sz="1650" dirty="0" err="1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ရှာရလို့ပ</a:t>
                      </a:r>
                      <a:r>
                        <a:rPr lang="en-US" sz="1650" dirty="0">
                          <a:solidFill>
                            <a:srgbClr val="D4D4D8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ါ။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95908" y="4557712"/>
            <a:ext cx="25336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581025" y="3128962"/>
            <a:ext cx="4963417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ERROR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6115942" y="2069306"/>
            <a:ext cx="5769783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</a:t>
            </a:r>
            <a:r>
              <a:rPr lang="en-US" sz="2100" b="0" i="0" u="none" strike="noStrike" cap="none" dirty="0" err="1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ပြည</a:t>
            </a:r>
            <a:r>
              <a:rPr lang="en-US" sz="2100" b="0" i="0" u="none" strike="noStrike" cap="none" dirty="0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့်</a:t>
            </a:r>
            <a:r>
              <a:rPr lang="en-US" sz="2100" b="0" i="0" u="none" strike="noStrike" cap="none" dirty="0" err="1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သွားခြင်း</a:t>
            </a:r>
            <a:r>
              <a:rPr lang="en-US" sz="2100" b="0" i="0" u="none" strike="noStrike" cap="none" dirty="0">
                <a:solidFill>
                  <a:srgbClr val="EF444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💥</a:t>
            </a:r>
            <a:endParaRPr dirty="0"/>
          </a:p>
        </p:txBody>
      </p:sp>
      <p:sp>
        <p:nvSpPr>
          <p:cNvPr id="165" name="Google Shape;165;p19"/>
          <p:cNvSpPr txBox="1"/>
          <p:nvPr/>
        </p:nvSpPr>
        <p:spPr>
          <a:xfrm>
            <a:off x="6115942" y="2793206"/>
            <a:ext cx="5495032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မှာ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သတ်မှတ်ထားတဲ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အတိုင်းအတာ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(Size Limit)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ရှိပါတယ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6639817" y="3654028"/>
            <a:ext cx="49713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  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မလုပ်ဘဲ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	</a:t>
            </a:r>
            <a:r>
              <a:rPr lang="en-US" sz="1650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       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ချည်းပဲ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ဆက်တိုက်လုပ်နေရင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အခန်းပြည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သွားတတ်ပါတယ</a:t>
            </a:r>
            <a:r>
              <a:rPr lang="en-US" sz="1650" b="0" i="0" u="none" strike="noStrike" cap="none" dirty="0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6639817" y="4572000"/>
            <a:ext cx="4971157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Programming မှာ (ဥပမာ - Function က ကိုယ့်ကိုယ်ကို အဆုံးမရှိ ပြန်ခေါ်နေရင်) Memory ပြည့်ပြီး Program Crash ဖြစ်သွားတာကို </a:t>
            </a:r>
            <a:r>
              <a:rPr lang="en-US" sz="1650" b="1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Stack Overflow</a:t>
            </a:r>
            <a:r>
              <a:rPr lang="en-US" sz="1650" b="0" i="0" u="none" strike="noStrike" cap="none">
                <a:solidFill>
                  <a:srgbClr val="D4D4D8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လို့ ခေါ်ပါတယ်။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39830" y="3606403"/>
            <a:ext cx="5524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72617" y="3606403"/>
            <a:ext cx="66675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Overflow </a:t>
            </a:r>
            <a:r>
              <a:rPr lang="en-US" sz="3150" b="0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ဆိုတာ</a:t>
            </a:r>
            <a:r>
              <a:rPr lang="en-US" sz="3150" b="0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ကြားဖူးလား</a:t>
            </a:r>
            <a:r>
              <a:rPr lang="en-US" sz="3150" b="0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?</a:t>
            </a:r>
            <a:endParaRPr dirty="0"/>
          </a:p>
        </p:txBody>
      </p:sp>
      <p:sp>
        <p:nvSpPr>
          <p:cNvPr id="171" name="Google Shape;171;p19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/>
      <p:bldP spid="166" grpId="0"/>
      <p:bldP spid="1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C861130-9DF2-AA21-C414-AA718F0A28C8}"/>
              </a:ext>
            </a:extLst>
          </p:cNvPr>
          <p:cNvGrpSpPr/>
          <p:nvPr/>
        </p:nvGrpSpPr>
        <p:grpSpPr>
          <a:xfrm>
            <a:off x="1809750" y="2314267"/>
            <a:ext cx="8572575" cy="1066800"/>
            <a:chOff x="1809750" y="2314267"/>
            <a:chExt cx="8572575" cy="1066800"/>
          </a:xfrm>
        </p:grpSpPr>
        <p:sp>
          <p:nvSpPr>
            <p:cNvPr id="177" name="Google Shape;177;p20"/>
            <p:cNvSpPr txBox="1"/>
            <p:nvPr/>
          </p:nvSpPr>
          <p:spPr>
            <a:xfrm>
              <a:off x="2333625" y="2314267"/>
              <a:ext cx="80487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</a:t>
              </a:r>
              <a:r>
                <a:rPr lang="en-US" sz="1650" b="1" i="0" u="none" strike="noStrike" cap="none" dirty="0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သတ်ချက်ဖြင</a:t>
              </a:r>
              <a:r>
                <a:rPr lang="en-US" sz="1650" b="1" i="0" u="none" strike="noStrike" cap="none" dirty="0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 </a:t>
              </a:r>
              <a:r>
                <a:rPr lang="en-US" sz="1650" b="1" i="0" u="none" strike="noStrike" cap="none" dirty="0" err="1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ကာကွယ်ခြင်း</a:t>
              </a:r>
              <a:r>
                <a:rPr lang="en-US" sz="1650" b="1" i="0" u="none" strike="noStrike" cap="none" dirty="0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(Safety):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ဆိုရင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ကြိုက်တဲ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Index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လှမ်းယူလို့ရပါတယ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 Stack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ကတော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အပေ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ဆုံးကောင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(Top)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ကလွဲပြီး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ကျန်တာကို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ယူခွင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့်</a:t>
              </a:r>
              <a:r>
                <a:rPr lang="en-US" sz="1650" b="1" i="0" u="none" strike="noStrike" cap="none" dirty="0" err="1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မပေးပါဘူး</a:t>
              </a:r>
              <a:r>
                <a:rPr lang="en-US" sz="1650" b="1" i="0" u="none" strike="noStrike" cap="none" dirty="0">
                  <a:solidFill>
                    <a:srgbClr val="F8FAFC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။</a:t>
              </a:r>
              <a:endParaRPr dirty="0"/>
            </a:p>
          </p:txBody>
        </p:sp>
        <p:pic>
          <p:nvPicPr>
            <p:cNvPr id="180" name="Google Shape;180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809750" y="2392262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CA64C9E-F07C-2423-7FF1-7C3E15ADFB40}"/>
              </a:ext>
            </a:extLst>
          </p:cNvPr>
          <p:cNvGrpSpPr/>
          <p:nvPr/>
        </p:nvGrpSpPr>
        <p:grpSpPr>
          <a:xfrm>
            <a:off x="1809750" y="3655814"/>
            <a:ext cx="8572500" cy="670321"/>
            <a:chOff x="1809750" y="3655814"/>
            <a:chExt cx="8572500" cy="670321"/>
          </a:xfrm>
        </p:grpSpPr>
        <p:sp>
          <p:nvSpPr>
            <p:cNvPr id="178" name="Google Shape;178;p20"/>
            <p:cNvSpPr txBox="1"/>
            <p:nvPr/>
          </p:nvSpPr>
          <p:spPr>
            <a:xfrm>
              <a:off x="2333625" y="3655814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လုပ်ငန်းစဉ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650" b="1" i="0" u="none" strike="noStrike" cap="none" dirty="0" err="1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တိကျခြင်း</a:t>
              </a:r>
              <a:r>
                <a:rPr lang="en-US" sz="1650" b="1" i="0" u="none" strike="noStrike" cap="none" dirty="0">
                  <a:solidFill>
                    <a:srgbClr val="10B981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Order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အစီအစဉ်တက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အလုပ်လုပ်စေချင်တဲ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နေရာတွေမှာ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အမှားမရှိစေဖို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စည်းမျဉ်း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(LIFO Rule)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သတ်မှတ်လိုက်တာပ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ါ။</a:t>
              </a:r>
              <a:endParaRPr dirty="0"/>
            </a:p>
          </p:txBody>
        </p:sp>
        <p:pic>
          <p:nvPicPr>
            <p:cNvPr id="181" name="Google Shape;181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809750" y="3776662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D44D83-99E2-CC81-6799-72C56C4CE429}"/>
              </a:ext>
            </a:extLst>
          </p:cNvPr>
          <p:cNvGrpSpPr/>
          <p:nvPr/>
        </p:nvGrpSpPr>
        <p:grpSpPr>
          <a:xfrm>
            <a:off x="1809750" y="4783039"/>
            <a:ext cx="8572500" cy="670321"/>
            <a:chOff x="1809750" y="4564260"/>
            <a:chExt cx="8572500" cy="670321"/>
          </a:xfrm>
        </p:grpSpPr>
        <p:sp>
          <p:nvSpPr>
            <p:cNvPr id="179" name="Google Shape;179;p20"/>
            <p:cNvSpPr txBox="1"/>
            <p:nvPr/>
          </p:nvSpPr>
          <p:spPr>
            <a:xfrm>
              <a:off x="2333625" y="4564260"/>
              <a:ext cx="8048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3B82F6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Implementation: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နောက်ကွယ်မှာတော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Stack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(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သို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့) Linked List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တည်ဆောက်ထားတာပဲ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ဖြစ်ပါတယ</a:t>
              </a:r>
              <a:r>
                <a:rPr lang="en-US" sz="16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82" name="Google Shape;182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809750" y="4642245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0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ထက် ဘာလို့ Stack သုံးရတာလဲ?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7AAAB3FA-5253-14A9-8E8C-98FCE5F50FBC}"/>
              </a:ext>
            </a:extLst>
          </p:cNvPr>
          <p:cNvGrpSpPr/>
          <p:nvPr/>
        </p:nvGrpSpPr>
        <p:grpSpPr>
          <a:xfrm>
            <a:off x="581025" y="2628335"/>
            <a:ext cx="3486150" cy="2390775"/>
            <a:chOff x="581025" y="2628335"/>
            <a:chExt cx="3486150" cy="2390775"/>
          </a:xfrm>
        </p:grpSpPr>
        <p:pic>
          <p:nvPicPr>
            <p:cNvPr id="190" name="Google Shape;190;p21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2628335"/>
              <a:ext cx="3486150" cy="239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1"/>
            <p:cNvSpPr txBox="1"/>
            <p:nvPr/>
          </p:nvSpPr>
          <p:spPr>
            <a:xfrm>
              <a:off x="753903" y="2843466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Browser History</a:t>
              </a:r>
              <a:endParaRPr dirty="0"/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828675" y="3272091"/>
              <a:ext cx="2991000" cy="145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Website တွေဝင်တဲ့အခါ လက်ရှိ Page ကို Stack ထဲ Push လုပ်ပါတယ်။ Back Button နှိပ်လိုက်ရင် Stack ကနေ Pop လုပ်ပြီး နောက်ဆုံးကြည့်ခဲ့တဲ့ Page ကို ပြန်ခေါ်ပါတယ်။</a:t>
              </a:r>
              <a:endParaRPr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7E00CC1-3604-3E44-8259-B9ECD918D5A0}"/>
              </a:ext>
            </a:extLst>
          </p:cNvPr>
          <p:cNvGrpSpPr/>
          <p:nvPr/>
        </p:nvGrpSpPr>
        <p:grpSpPr>
          <a:xfrm>
            <a:off x="4352925" y="2628335"/>
            <a:ext cx="3486150" cy="2390775"/>
            <a:chOff x="4352925" y="2628335"/>
            <a:chExt cx="3486150" cy="2390775"/>
          </a:xfrm>
        </p:grpSpPr>
        <p:pic>
          <p:nvPicPr>
            <p:cNvPr id="191" name="Google Shape;191;p21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352925" y="2628335"/>
              <a:ext cx="3486150" cy="239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1"/>
            <p:cNvSpPr txBox="1"/>
            <p:nvPr/>
          </p:nvSpPr>
          <p:spPr>
            <a:xfrm>
              <a:off x="4525803" y="2843466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Undo Feature (Ctrl+Z)</a:t>
              </a:r>
              <a:endParaRPr/>
            </a:p>
          </p:txBody>
        </p:sp>
        <p:sp>
          <p:nvSpPr>
            <p:cNvPr id="196" name="Google Shape;196;p21"/>
            <p:cNvSpPr txBox="1"/>
            <p:nvPr/>
          </p:nvSpPr>
          <p:spPr>
            <a:xfrm>
              <a:off x="4600575" y="3272091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စာရိုက်တဲ့အခ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လုပ်ခဲ့သမ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ျှ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မှတ်ထားပြီး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, Undo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နှိပ်လိုက်ရင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နောက်ဆုံးလုပ်ခဲ့တဲ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အလုပ်ကို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အရင်ဆုံး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ပြန်ဖျက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 (Pop)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ပေးပါတယ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A69B0-8ACF-84AC-97C3-38C4E581909A}"/>
              </a:ext>
            </a:extLst>
          </p:cNvPr>
          <p:cNvGrpSpPr/>
          <p:nvPr/>
        </p:nvGrpSpPr>
        <p:grpSpPr>
          <a:xfrm>
            <a:off x="8124825" y="2628335"/>
            <a:ext cx="3486150" cy="2390775"/>
            <a:chOff x="8124825" y="2628335"/>
            <a:chExt cx="3486150" cy="2390775"/>
          </a:xfrm>
        </p:grpSpPr>
        <p:pic>
          <p:nvPicPr>
            <p:cNvPr id="192" name="Google Shape;192;p21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124825" y="2628335"/>
              <a:ext cx="3486150" cy="2390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" name="Google Shape;197;p21"/>
            <p:cNvSpPr txBox="1"/>
            <p:nvPr/>
          </p:nvSpPr>
          <p:spPr>
            <a:xfrm>
              <a:off x="8297703" y="2843466"/>
              <a:ext cx="314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Function Call Stack</a:t>
              </a:r>
              <a:endParaRPr dirty="0"/>
            </a:p>
          </p:txBody>
        </p:sp>
        <p:sp>
          <p:nvSpPr>
            <p:cNvPr id="198" name="Google Shape;198;p21"/>
            <p:cNvSpPr txBox="1"/>
            <p:nvPr/>
          </p:nvSpPr>
          <p:spPr>
            <a:xfrm>
              <a:off x="8372475" y="3272091"/>
              <a:ext cx="2991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Code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ရေးတဲ့အခ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 Function A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ကနေ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Function B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ကိုခေ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ါ်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ရင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်၊ A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Stack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ခဏမှတ်ထားပြီး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B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ပြီးမ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ှ A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ကို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350" b="0" i="0" u="none" strike="noStrike" cap="none" dirty="0" err="1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ပြန်လုပ်ပါတယ</a:t>
              </a:r>
              <a:r>
                <a:rPr lang="en-US" sz="1350" b="0" i="0" u="none" strike="noStrike" cap="none" dirty="0">
                  <a:solidFill>
                    <a:srgbClr val="D4D4D8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</p:grpSp>
      <p:sp>
        <p:nvSpPr>
          <p:cNvPr id="199" name="Google Shape;199;p21"/>
          <p:cNvSpPr txBox="1"/>
          <p:nvPr/>
        </p:nvSpPr>
        <p:spPr>
          <a:xfrm>
            <a:off x="581025" y="500062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ဘယ်နေရာတွေမှာ သုံးလဲ? (Real World Uses)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81025" y="1519237"/>
            <a:ext cx="11029950" cy="9525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Shape 188">
          <a:extLst>
            <a:ext uri="{FF2B5EF4-FFF2-40B4-BE49-F238E27FC236}">
              <a16:creationId xmlns:a16="http://schemas.microsoft.com/office/drawing/2014/main" id="{797605BB-C384-A3C4-B3C2-EEF4EA6D9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89;p21" descr="image.png">
            <a:extLst>
              <a:ext uri="{FF2B5EF4-FFF2-40B4-BE49-F238E27FC236}">
                <a16:creationId xmlns:a16="http://schemas.microsoft.com/office/drawing/2014/main" id="{02FB0198-98F7-B4F2-38DD-11DA0FC7A52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>
            <a:extLst>
              <a:ext uri="{FF2B5EF4-FFF2-40B4-BE49-F238E27FC236}">
                <a16:creationId xmlns:a16="http://schemas.microsoft.com/office/drawing/2014/main" id="{D7777B43-0494-E599-FD64-D78DEBFA93FB}"/>
              </a:ext>
            </a:extLst>
          </p:cNvPr>
          <p:cNvSpPr txBox="1"/>
          <p:nvPr/>
        </p:nvSpPr>
        <p:spPr>
          <a:xfrm>
            <a:off x="581025" y="348742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Valid Parentheses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846D71-AE42-BE3B-BBD0-F15024FA856B}"/>
              </a:ext>
            </a:extLst>
          </p:cNvPr>
          <p:cNvSpPr txBox="1"/>
          <p:nvPr/>
        </p:nvSpPr>
        <p:spPr>
          <a:xfrm>
            <a:off x="581025" y="1026069"/>
            <a:ext cx="11110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Description: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Given a string `s` containing just the characters '(', ')', '{', '}', '[' and ']', 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determine if the input string is valid.</a:t>
            </a:r>
          </a:p>
          <a:p>
            <a:endParaRPr lang="en-US" sz="18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An input string is valid if: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1. Open brackets must be closed by the same type of brackets.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2. Open brackets must be closed in the correct order.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3. Every close bracket has a corresponding open bracket of the same type.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C6A56-AF8C-414B-1427-D471F5D6C400}"/>
              </a:ext>
            </a:extLst>
          </p:cNvPr>
          <p:cNvSpPr txBox="1"/>
          <p:nvPr/>
        </p:nvSpPr>
        <p:spPr>
          <a:xfrm>
            <a:off x="581025" y="3526972"/>
            <a:ext cx="25431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Example 1: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Input: s = "()"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Output: True</a:t>
            </a:r>
          </a:p>
          <a:p>
            <a:endParaRPr lang="en-US" sz="18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Example 2: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Input: s = "()[]{}"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Output: True</a:t>
            </a:r>
          </a:p>
          <a:p>
            <a:endParaRPr lang="en-US" sz="18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Example 3: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Input: s = "(]"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Output: False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61861-5E60-42AA-BEE4-30BDB7BBE707}"/>
              </a:ext>
            </a:extLst>
          </p:cNvPr>
          <p:cNvSpPr txBox="1"/>
          <p:nvPr/>
        </p:nvSpPr>
        <p:spPr>
          <a:xfrm>
            <a:off x="2522084" y="3526972"/>
            <a:ext cx="361405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Example 4: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Input: s = "([)]"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Output: False (The brackets are not closed in the correct inner-to-outer order!)</a:t>
            </a:r>
            <a:b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</a:br>
            <a:endParaRPr lang="en-US" sz="1800" dirty="0">
              <a:solidFill>
                <a:schemeClr val="bg1"/>
              </a:solidFill>
              <a:latin typeface="Lato" panose="020F0502020204030203" pitchFamily="34" charset="77"/>
            </a:endParaRP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Example 5: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Input: s = "{[]}"</a:t>
            </a:r>
          </a:p>
          <a:p>
            <a:r>
              <a:rPr lang="en-US" sz="1800" dirty="0">
                <a:solidFill>
                  <a:schemeClr val="bg1"/>
                </a:solidFill>
                <a:latin typeface="Lato" panose="020F0502020204030203" pitchFamily="34" charset="77"/>
              </a:rPr>
              <a:t>Output: True</a:t>
            </a:r>
          </a:p>
        </p:txBody>
      </p:sp>
    </p:spTree>
    <p:extLst>
      <p:ext uri="{BB962C8B-B14F-4D97-AF65-F5344CB8AC3E}">
        <p14:creationId xmlns:p14="http://schemas.microsoft.com/office/powerpoint/2010/main" val="25762327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7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1|19.5|31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32.5|29.3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1297</Words>
  <Application>Microsoft Macintosh PowerPoint</Application>
  <PresentationFormat>Widescreen</PresentationFormat>
  <Paragraphs>85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Noto Sans Myanmar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5</cp:revision>
  <dcterms:modified xsi:type="dcterms:W3CDTF">2026-04-06T15:46:51Z</dcterms:modified>
</cp:coreProperties>
</file>