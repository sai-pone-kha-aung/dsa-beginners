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notesSlides/notesSlide4.xml" ContentType="application/vnd.openxmlformats-officedocument.presentationml.notesSlide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tags/tag5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6.xml" ContentType="application/vnd.openxmlformats-officedocument.presentationml.tags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embeddedFontLst>
    <p:embeddedFont>
      <p:font typeface="Fira Code" panose="020B0809050000020004" pitchFamily="49" charset="0"/>
      <p:regular r:id="rId11"/>
      <p:bold r:id="rId12"/>
    </p:embeddedFont>
    <p:embeddedFont>
      <p:font typeface="Noto Sans Myanmar" panose="020B0502040504020204" pitchFamily="34" charset="0"/>
      <p:regular r:id="rId13"/>
      <p:bold r:id="rId14"/>
    </p:embeddedFont>
    <p:embeddedFont>
      <p:font typeface="Poppins" pitchFamily="2" charset="77"/>
      <p:regular r:id="rId15"/>
      <p:bold r:id="rId16"/>
      <p:italic r:id="rId17"/>
      <p:boldItalic r:id="rId18"/>
    </p:embeddedFont>
    <p:embeddedFont>
      <p:font typeface="Poppins SemiBold" pitchFamily="2" charset="77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0"/>
  </p:normalViewPr>
  <p:slideViewPr>
    <p:cSldViewPr snapToGrid="0">
      <p:cViewPr varScale="1">
        <p:scale>
          <a:sx n="117" d="100"/>
          <a:sy n="117" d="100"/>
        </p:scale>
        <p:origin x="904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font" Target="fonts/font1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g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g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12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.png"/><Relationship Id="rId9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.png"/><Relationship Id="rId7" Type="http://schemas.openxmlformats.org/officeDocument/2006/relationships/image" Target="../media/image26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jpg"/><Relationship Id="rId4" Type="http://schemas.openxmlformats.org/officeDocument/2006/relationships/image" Target="../media/image23.png"/><Relationship Id="rId9" Type="http://schemas.openxmlformats.org/officeDocument/2006/relationships/image" Target="../media/image28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7" Type="http://schemas.openxmlformats.org/officeDocument/2006/relationships/image" Target="../media/image3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595437" y="1748879"/>
            <a:ext cx="90012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50" b="1" i="0" u="none" strike="noStrike" cap="none" dirty="0">
                <a:solidFill>
                  <a:srgbClr val="22D3EE"/>
                </a:solidFill>
                <a:latin typeface="Poppins"/>
                <a:ea typeface="Poppins"/>
                <a:cs typeface="Poppins"/>
                <a:sym typeface="Poppins"/>
              </a:rPr>
              <a:t>DSA</a:t>
            </a:r>
            <a:r>
              <a:rPr lang="en-US" sz="5250" b="1" i="0" u="none" strike="noStrike" cap="none" dirty="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5250" b="1" i="0" u="none" strike="noStrike" cap="none" dirty="0" err="1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ဆိုတာဘာလဲ</a:t>
            </a:r>
            <a:r>
              <a:rPr lang="en-US" sz="5250" b="1" i="0" u="none" strike="noStrike" cap="none" dirty="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? 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250" b="1" i="0" u="none" strike="noStrike" cap="none" dirty="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5250" b="1" i="0" u="none" strike="noStrike" cap="none" dirty="0" err="1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ဘာလို</a:t>
            </a:r>
            <a:r>
              <a:rPr lang="en-US" sz="5250" b="1" i="0" u="none" strike="noStrike" cap="none" dirty="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့ </a:t>
            </a:r>
            <a:r>
              <a:rPr lang="en-US" sz="5250" b="1" i="0" u="none" strike="noStrike" cap="none" dirty="0" err="1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လေ့လာသင</a:t>
            </a:r>
            <a:r>
              <a:rPr lang="en-US" sz="5250" b="1" i="0" u="none" strike="noStrike" cap="none" dirty="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့်</a:t>
            </a:r>
            <a:r>
              <a:rPr lang="en-US" sz="5250" b="1" i="0" u="none" strike="noStrike" cap="none" dirty="0" err="1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တာလဲ</a:t>
            </a:r>
            <a:r>
              <a:rPr lang="en-US" sz="5250" b="1" i="0" u="none" strike="noStrike" cap="none" dirty="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?</a:t>
            </a:r>
            <a:endParaRPr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1809775" y="3913189"/>
            <a:ext cx="8572500" cy="480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 dirty="0">
                <a:solidFill>
                  <a:srgbClr val="A855F7"/>
                </a:solidFill>
                <a:latin typeface="Fira Code"/>
                <a:ea typeface="Fira Code"/>
                <a:cs typeface="Fira Code"/>
                <a:sym typeface="Fira Code"/>
              </a:rPr>
              <a:t>[ Y2K </a:t>
            </a:r>
            <a:r>
              <a:rPr lang="en-US" sz="1950" b="0" i="0" u="none" strike="noStrike" cap="none" dirty="0" err="1">
                <a:solidFill>
                  <a:srgbClr val="A855F7"/>
                </a:solidFill>
                <a:latin typeface="Fira Code"/>
                <a:ea typeface="Fira Code"/>
                <a:cs typeface="Fira Code"/>
                <a:sym typeface="Fira Code"/>
              </a:rPr>
              <a:t>DevHub</a:t>
            </a:r>
            <a:r>
              <a:rPr lang="en-US" sz="1950" b="0" i="0" u="none" strike="noStrike" cap="none" dirty="0">
                <a:solidFill>
                  <a:srgbClr val="A855F7"/>
                </a:solidFill>
                <a:latin typeface="Fira Code"/>
                <a:ea typeface="Fira Code"/>
                <a:cs typeface="Fira Code"/>
                <a:sym typeface="Fira Code"/>
              </a:rPr>
              <a:t> : Beginner DSA Series - 1 ]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/>
          <p:nvPr/>
        </p:nvSpPr>
        <p:spPr>
          <a:xfrm>
            <a:off x="5524500" y="2044154"/>
            <a:ext cx="1143000" cy="5715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1530429" y="2387054"/>
            <a:ext cx="9131141" cy="13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DSA ၏ </a:t>
            </a:r>
            <a:r>
              <a:rPr lang="en-US" sz="4800" b="1" i="0" u="none" strike="noStrike" cap="none" dirty="0" err="1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အဓိက</a:t>
            </a:r>
            <a:r>
              <a:rPr lang="en-US" sz="4800" b="1" i="0" u="none" strike="noStrike" cap="none" dirty="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4800" b="1" i="0" u="none" strike="noStrike" cap="none" dirty="0" err="1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အစိတ်အပိုင်းများ</a:t>
            </a:r>
            <a:endParaRPr dirty="0"/>
          </a:p>
        </p:txBody>
      </p:sp>
      <p:sp>
        <p:nvSpPr>
          <p:cNvPr id="94" name="Google Shape;94;p14"/>
          <p:cNvSpPr txBox="1"/>
          <p:nvPr/>
        </p:nvSpPr>
        <p:spPr>
          <a:xfrm>
            <a:off x="2286000" y="3911054"/>
            <a:ext cx="7620000" cy="7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DSA </a:t>
            </a:r>
            <a:r>
              <a:rPr lang="en-US" sz="19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ဆိုတာ</a:t>
            </a:r>
            <a:r>
              <a:rPr lang="en-US" sz="19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950" b="1" i="0" u="none" strike="noStrike" cap="none" dirty="0">
                <a:solidFill>
                  <a:srgbClr val="22D3EE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Data Structures</a:t>
            </a:r>
            <a:r>
              <a:rPr lang="en-US" sz="19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9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နဲ</a:t>
            </a:r>
            <a:r>
              <a:rPr lang="en-US" sz="19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့ </a:t>
            </a:r>
            <a:r>
              <a:rPr lang="en-US" sz="1950" b="1" i="0" u="none" strike="noStrike" cap="none" dirty="0">
                <a:solidFill>
                  <a:srgbClr val="A855F7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Algorithms</a:t>
            </a:r>
            <a:r>
              <a:rPr lang="en-US" sz="19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9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ဆိုတဲ</a:t>
            </a:r>
            <a:r>
              <a:rPr lang="en-US" sz="19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့ </a:t>
            </a:r>
            <a:r>
              <a:rPr lang="en-US" sz="19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အဓိက</a:t>
            </a:r>
            <a:r>
              <a:rPr lang="en-US" sz="19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9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အပိုင်းနှစ်ပိုင်း</a:t>
            </a:r>
            <a:r>
              <a:rPr lang="en-US" sz="19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9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ပေါင်းစပ်ထားတာ</a:t>
            </a:r>
            <a:r>
              <a:rPr lang="en-US" sz="19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9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ဖြစ်ပါတယ</a:t>
            </a:r>
            <a:r>
              <a:rPr lang="en-US" sz="19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်။ </a:t>
            </a:r>
            <a:endParaRPr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" grpId="0"/>
      <p:bldP spid="9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2954833"/>
            <a:ext cx="5276850" cy="28360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2954833"/>
            <a:ext cx="5276850" cy="2836068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 txBox="1"/>
          <p:nvPr/>
        </p:nvSpPr>
        <p:spPr>
          <a:xfrm>
            <a:off x="581025" y="2283024"/>
            <a:ext cx="11029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Algorithm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ကောင်းဖို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့ Data Structure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မှန်ကန်စွာ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ရွေးချယ်နိုင်ဖို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့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လိုအပ်ပါတယ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်။</a:t>
            </a:r>
            <a:endParaRPr dirty="0"/>
          </a:p>
        </p:txBody>
      </p:sp>
      <p:sp>
        <p:nvSpPr>
          <p:cNvPr id="103" name="Google Shape;103;p15"/>
          <p:cNvSpPr txBox="1"/>
          <p:nvPr/>
        </p:nvSpPr>
        <p:spPr>
          <a:xfrm>
            <a:off x="971550" y="3373933"/>
            <a:ext cx="472059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2D3E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1. Data Structure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971550" y="3916858"/>
            <a:ext cx="4495800" cy="1340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Data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တွေကို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ကွန်ပျူတာထဲမှာ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1" i="0" u="none" strike="noStrike" cap="none" dirty="0" err="1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စနစ်တက</a:t>
            </a:r>
            <a:r>
              <a:rPr lang="en-US" sz="1650" b="1" i="0" u="none" strike="noStrike" cap="none" dirty="0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ျ </a:t>
            </a:r>
            <a:r>
              <a:rPr lang="en-US" sz="1650" b="1" i="0" u="none" strike="noStrike" cap="none" dirty="0" err="1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သိမ်းဆည်း</a:t>
            </a:r>
            <a:r>
              <a:rPr lang="en-US" sz="1650" b="1" i="0" u="none" strike="noStrike" cap="none" dirty="0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၊ </a:t>
            </a:r>
            <a:r>
              <a:rPr lang="en-US" sz="1650" b="1" i="0" u="none" strike="noStrike" cap="none" dirty="0" err="1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စီစဉ်တဲ</a:t>
            </a:r>
            <a:r>
              <a:rPr lang="en-US" sz="1650" b="1" i="0" u="none" strike="noStrike" cap="none" dirty="0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့ </a:t>
            </a:r>
            <a:r>
              <a:rPr lang="en-US" sz="1650" b="1" i="0" u="none" strike="noStrike" cap="none" dirty="0" err="1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နည်းလမ်း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တွေကို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ခေ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ါ်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ပါတယ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်။ (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ဥပမာ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- Array, Linked List, Tree, Graph)</a:t>
            </a:r>
            <a:endParaRPr dirty="0"/>
          </a:p>
        </p:txBody>
      </p:sp>
      <p:sp>
        <p:nvSpPr>
          <p:cNvPr id="105" name="Google Shape;105;p15"/>
          <p:cNvSpPr txBox="1"/>
          <p:nvPr/>
        </p:nvSpPr>
        <p:spPr>
          <a:xfrm>
            <a:off x="6724650" y="3373933"/>
            <a:ext cx="472059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62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A855F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2. Algorithm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6724650" y="3916858"/>
            <a:ext cx="4495800" cy="1340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ပ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ြဿ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နာတစ်ခုကို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ဖြေရှင်းဖို့အတွက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်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လိုက်နာရမယ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့် </a:t>
            </a:r>
            <a:r>
              <a:rPr lang="en-US" sz="1650" b="1" i="0" u="none" strike="noStrike" cap="none" dirty="0" err="1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အဆင</a:t>
            </a:r>
            <a:r>
              <a:rPr lang="en-US" sz="1650" b="1" i="0" u="none" strike="noStrike" cap="none" dirty="0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့်</a:t>
            </a:r>
            <a:r>
              <a:rPr lang="en-US" sz="1650" b="1" i="0" u="none" strike="noStrike" cap="none" dirty="0" err="1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ဆင</a:t>
            </a:r>
            <a:r>
              <a:rPr lang="en-US" sz="1650" b="1" i="0" u="none" strike="noStrike" cap="none" dirty="0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့် </a:t>
            </a:r>
            <a:r>
              <a:rPr lang="en-US" sz="1650" b="1" i="0" u="none" strike="noStrike" cap="none" dirty="0" err="1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လုပ်ငန်းစဉ်များ</a:t>
            </a:r>
            <a:r>
              <a:rPr lang="en-US" sz="1650" b="1" i="0" u="none" strike="noStrike" cap="none" dirty="0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(Step-by-step instructions)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ကို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ခေ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ါ်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ပါတယ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်။ (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ဥပမာ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- Sorting, Searching)</a:t>
            </a:r>
            <a:endParaRPr dirty="0"/>
          </a:p>
        </p:txBody>
      </p:sp>
      <p:pic>
        <p:nvPicPr>
          <p:cNvPr id="107" name="Google Shape;107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71550" y="3383458"/>
            <a:ext cx="2381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724650" y="3388262"/>
            <a:ext cx="33337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 txBox="1"/>
          <p:nvPr/>
        </p:nvSpPr>
        <p:spPr>
          <a:xfrm>
            <a:off x="581025" y="781563"/>
            <a:ext cx="11581447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 err="1">
                <a:solidFill>
                  <a:srgbClr val="22D3E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နှစ်ခုလုံးကို</a:t>
            </a:r>
            <a:r>
              <a:rPr lang="en-US" sz="3150" b="1" i="0" u="none" strike="noStrike" cap="none" dirty="0">
                <a:solidFill>
                  <a:srgbClr val="22D3E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</a:t>
            </a:r>
            <a:r>
              <a:rPr lang="en-US" sz="3150" b="1" i="0" u="none" strike="noStrike" cap="none" dirty="0" err="1">
                <a:solidFill>
                  <a:srgbClr val="22D3E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ပေါင်းစပ်အသုံးပြုခြင်း</a:t>
            </a:r>
            <a:r>
              <a:rPr lang="en-US" sz="3150" b="1" i="0" u="none" strike="noStrike" cap="none" dirty="0">
                <a:solidFill>
                  <a:srgbClr val="22D3E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</a:t>
            </a:r>
            <a:endParaRPr dirty="0"/>
          </a:p>
        </p:txBody>
      </p:sp>
      <p:sp>
        <p:nvSpPr>
          <p:cNvPr id="110" name="Google Shape;110;p15"/>
          <p:cNvSpPr/>
          <p:nvPr/>
        </p:nvSpPr>
        <p:spPr>
          <a:xfrm>
            <a:off x="581025" y="1600200"/>
            <a:ext cx="1102995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" grpId="0"/>
      <p:bldP spid="10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6"/>
          <p:cNvSpPr txBox="1"/>
          <p:nvPr/>
        </p:nvSpPr>
        <p:spPr>
          <a:xfrm>
            <a:off x="581025" y="1928813"/>
            <a:ext cx="52768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Data Structure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တွေကို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စာအုပ်တွေ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(Data)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ကို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သိမ်းဆည်းတဲ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့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စာအုပ်စင်တစ်ခုလို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့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မြင်ယောင်ကြည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့်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ပ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ါ။</a:t>
            </a:r>
            <a:endParaRPr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E99E001-DE53-C84A-A544-94AC56E7A7CC}"/>
              </a:ext>
            </a:extLst>
          </p:cNvPr>
          <p:cNvGrpSpPr/>
          <p:nvPr/>
        </p:nvGrpSpPr>
        <p:grpSpPr>
          <a:xfrm>
            <a:off x="581025" y="5279771"/>
            <a:ext cx="5276850" cy="1051321"/>
            <a:chOff x="581025" y="5279771"/>
            <a:chExt cx="5276850" cy="1051321"/>
          </a:xfrm>
        </p:grpSpPr>
        <p:pic>
          <p:nvPicPr>
            <p:cNvPr id="116" name="Google Shape;116;p16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81025" y="5279771"/>
              <a:ext cx="5276850" cy="105132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" name="Google Shape;118;p16"/>
            <p:cNvSpPr txBox="1"/>
            <p:nvPr/>
          </p:nvSpPr>
          <p:spPr>
            <a:xfrm>
              <a:off x="857250" y="5414369"/>
              <a:ext cx="4762500" cy="6703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မှန်ကန်တဲ</a:t>
              </a:r>
              <a:r>
                <a:rPr lang="en-US" sz="1650" b="0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 Data Structure </a:t>
              </a:r>
              <a:r>
                <a:rPr lang="en-US" sz="1650" b="0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ကို</a:t>
              </a:r>
              <a:r>
                <a:rPr lang="en-US" sz="1650" b="0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ရွေးချယ်နိုင်ရင</a:t>
              </a:r>
              <a:r>
                <a:rPr lang="en-US" sz="1650" b="0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 Program </a:t>
              </a:r>
              <a:r>
                <a:rPr lang="en-US" sz="1650" b="0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ဟာ</a:t>
              </a:r>
              <a:r>
                <a:rPr lang="en-US" sz="1650" b="0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ပိုမိုမြန်ဆန်စွာ</a:t>
              </a:r>
              <a:r>
                <a:rPr lang="en-US" sz="1650" b="0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ဖြေရှင်းနိုင်ပါတယ</a:t>
              </a:r>
              <a:r>
                <a:rPr lang="en-US" sz="1650" b="0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်။</a:t>
              </a:r>
              <a:endParaRPr dirty="0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1DB3C776-3A0D-1978-B33F-5661FAC8F9AC}"/>
              </a:ext>
            </a:extLst>
          </p:cNvPr>
          <p:cNvGrpSpPr/>
          <p:nvPr/>
        </p:nvGrpSpPr>
        <p:grpSpPr>
          <a:xfrm>
            <a:off x="595312" y="2843510"/>
            <a:ext cx="5262563" cy="1005482"/>
            <a:chOff x="595312" y="2843510"/>
            <a:chExt cx="5262563" cy="1005482"/>
          </a:xfrm>
        </p:grpSpPr>
        <p:sp>
          <p:nvSpPr>
            <p:cNvPr id="119" name="Google Shape;119;p16"/>
            <p:cNvSpPr txBox="1"/>
            <p:nvPr/>
          </p:nvSpPr>
          <p:spPr>
            <a:xfrm>
              <a:off x="1104900" y="2843510"/>
              <a:ext cx="4752975" cy="10054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1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ပုံထားတဲ့စာအုပ်များ</a:t>
              </a:r>
              <a:r>
                <a:rPr lang="en-US" sz="1650" b="1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: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ကြမ်းပြင်ပေ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ါ်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မှာ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ပုံထားရင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စာအုပ်တစ်အုပ်ကို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ပြန်ရှာတဲ့အခ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ါ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အချိန်အရမ်းကြာပါတယ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်။</a:t>
              </a:r>
              <a:endParaRPr dirty="0"/>
            </a:p>
          </p:txBody>
        </p:sp>
        <p:pic>
          <p:nvPicPr>
            <p:cNvPr id="121" name="Google Shape;121;p16" descr="image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95312" y="2948583"/>
              <a:ext cx="219075" cy="2571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EEA5E252-0848-E6B7-40E9-5F717D6BD4A1}"/>
              </a:ext>
            </a:extLst>
          </p:cNvPr>
          <p:cNvGrpSpPr/>
          <p:nvPr/>
        </p:nvGrpSpPr>
        <p:grpSpPr>
          <a:xfrm>
            <a:off x="581025" y="4087117"/>
            <a:ext cx="5276850" cy="670321"/>
            <a:chOff x="581025" y="4087117"/>
            <a:chExt cx="5276850" cy="670321"/>
          </a:xfrm>
        </p:grpSpPr>
        <p:sp>
          <p:nvSpPr>
            <p:cNvPr id="120" name="Google Shape;120;p16"/>
            <p:cNvSpPr txBox="1"/>
            <p:nvPr/>
          </p:nvSpPr>
          <p:spPr>
            <a:xfrm>
              <a:off x="1104900" y="4087117"/>
              <a:ext cx="4752975" cy="6703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1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စနစ်ကျသော</a:t>
              </a:r>
              <a:r>
                <a:rPr lang="en-US" sz="1650" b="1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1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စာအုပ်စင</a:t>
              </a:r>
              <a:r>
                <a:rPr lang="en-US" sz="1650" b="1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်: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အမျိုးအစားအလိုက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 (A-Z)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စီထားရင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ချက်ချင်း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ပြန်ရှာလို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လွယ်ကူပါတယ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်။</a:t>
              </a:r>
              <a:endParaRPr dirty="0"/>
            </a:p>
          </p:txBody>
        </p:sp>
        <p:pic>
          <p:nvPicPr>
            <p:cNvPr id="122" name="Google Shape;122;p16" descr="image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581025" y="4120455"/>
              <a:ext cx="247650" cy="2571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3" name="Google Shape;123;p16"/>
          <p:cNvSpPr txBox="1"/>
          <p:nvPr/>
        </p:nvSpPr>
        <p:spPr>
          <a:xfrm>
            <a:off x="581025" y="781563"/>
            <a:ext cx="11581447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22D3E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Data Structure </a:t>
            </a:r>
            <a:endParaRPr dirty="0"/>
          </a:p>
        </p:txBody>
      </p:sp>
      <p:sp>
        <p:nvSpPr>
          <p:cNvPr id="124" name="Google Shape;124;p16"/>
          <p:cNvSpPr/>
          <p:nvPr/>
        </p:nvSpPr>
        <p:spPr>
          <a:xfrm>
            <a:off x="581025" y="1600200"/>
            <a:ext cx="1102995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5" name="Google Shape;125;p16" descr="Data Structure (စာအုပ်စင် ဥပမာ) Data Structure တွေကို စာအုပ်တွေ (Data) ကို သိမ်းဆည်းတဲ့ စာအုပ်စင်တစ်ခုလို့ မြင်ယောင်ကြည့်ပါ။&#10;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004957" y="1871956"/>
            <a:ext cx="4329793" cy="4379383"/>
          </a:xfrm>
          <a:prstGeom prst="roundRect">
            <a:avLst>
              <a:gd name="adj" fmla="val 10326"/>
            </a:avLst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/>
        </p:nvSpPr>
        <p:spPr>
          <a:xfrm>
            <a:off x="6334125" y="1429345"/>
            <a:ext cx="52768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Algorithm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ဆိုတာ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ဟင်းချက်နည်း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စာအုပ်နဲ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့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အတိအက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ျ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တူညီပါတယ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်။</a:t>
            </a:r>
            <a:endParaRPr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2CACDA6-1033-6EF1-71E4-7C7F2214AC0D}"/>
              </a:ext>
            </a:extLst>
          </p:cNvPr>
          <p:cNvGrpSpPr/>
          <p:nvPr/>
        </p:nvGrpSpPr>
        <p:grpSpPr>
          <a:xfrm>
            <a:off x="6334125" y="5247977"/>
            <a:ext cx="5276850" cy="1386482"/>
            <a:chOff x="6334125" y="5247977"/>
            <a:chExt cx="5276850" cy="1386482"/>
          </a:xfrm>
        </p:grpSpPr>
        <p:pic>
          <p:nvPicPr>
            <p:cNvPr id="131" name="Google Shape;131;p17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6334125" y="5247977"/>
              <a:ext cx="5276850" cy="138648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" name="Google Shape;133;p17"/>
            <p:cNvSpPr txBox="1"/>
            <p:nvPr/>
          </p:nvSpPr>
          <p:spPr>
            <a:xfrm>
              <a:off x="6610350" y="5355588"/>
              <a:ext cx="4762500" cy="10054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Computer </a:t>
              </a:r>
              <a:r>
                <a:rPr lang="en-US" sz="1650" b="0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ဟာ</a:t>
              </a:r>
              <a:r>
                <a:rPr lang="en-US" sz="1650" b="0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သူ့ဘာသာ</a:t>
              </a:r>
              <a:r>
                <a:rPr lang="en-US" sz="1650" b="0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မစဉ်းစားတတ်ပါဘူး</a:t>
              </a:r>
              <a:r>
                <a:rPr lang="en-US" sz="1650" b="0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။ Programmer </a:t>
              </a:r>
              <a:r>
                <a:rPr lang="en-US" sz="1650" b="0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က</a:t>
              </a:r>
              <a:r>
                <a:rPr lang="en-US" sz="1650" b="0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သေချာချရေးပေးမှသာ</a:t>
              </a:r>
              <a:r>
                <a:rPr lang="en-US" sz="1650" b="0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အလုပ်လုပ်နိုင်တာပ</a:t>
              </a:r>
              <a:r>
                <a:rPr lang="en-US" sz="1650" b="0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ါ။</a:t>
              </a:r>
              <a:endParaRPr dirty="0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06CEEA30-0709-C835-44AB-2552050D9182}"/>
              </a:ext>
            </a:extLst>
          </p:cNvPr>
          <p:cNvGrpSpPr/>
          <p:nvPr/>
        </p:nvGrpSpPr>
        <p:grpSpPr>
          <a:xfrm>
            <a:off x="6334125" y="2340768"/>
            <a:ext cx="5276850" cy="1340643"/>
            <a:chOff x="6334125" y="2340768"/>
            <a:chExt cx="5276850" cy="1340643"/>
          </a:xfrm>
        </p:grpSpPr>
        <p:sp>
          <p:nvSpPr>
            <p:cNvPr id="134" name="Google Shape;134;p17"/>
            <p:cNvSpPr txBox="1"/>
            <p:nvPr/>
          </p:nvSpPr>
          <p:spPr>
            <a:xfrm>
              <a:off x="6858000" y="2340768"/>
              <a:ext cx="4752975" cy="13406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1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အဆင</a:t>
              </a:r>
              <a:r>
                <a:rPr lang="en-US" sz="1650" b="1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့်</a:t>
              </a:r>
              <a:r>
                <a:rPr lang="en-US" sz="1650" b="1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ဆင</a:t>
              </a:r>
              <a:r>
                <a:rPr lang="en-US" sz="1650" b="1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့် </a:t>
              </a:r>
              <a:r>
                <a:rPr lang="en-US" sz="1650" b="1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လိုက်နာခြင်း</a:t>
              </a:r>
              <a:r>
                <a:rPr lang="en-US" sz="1650" b="1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: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ခေါက်ဆွဲပြုတ်မယ်ဆိုရင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ရေနွေးအရင်တည်မယ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်၊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ခေါက်ဆွဲထည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့်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မယ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်၊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အထုပ်ဖောက်ထည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့်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မယ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စတဲ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အဆင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့်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လေးတွေအတိုင်း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လုပ်ရသလိုပါပဲ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။</a:t>
              </a:r>
              <a:endParaRPr dirty="0"/>
            </a:p>
          </p:txBody>
        </p:sp>
        <p:pic>
          <p:nvPicPr>
            <p:cNvPr id="136" name="Google Shape;136;p17" descr="image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6334125" y="2374106"/>
              <a:ext cx="314325" cy="2571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2E85FE7A-0089-87A8-81D5-97A947C791C7}"/>
              </a:ext>
            </a:extLst>
          </p:cNvPr>
          <p:cNvGrpSpPr/>
          <p:nvPr/>
        </p:nvGrpSpPr>
        <p:grpSpPr>
          <a:xfrm>
            <a:off x="6334125" y="3919537"/>
            <a:ext cx="5276850" cy="1005482"/>
            <a:chOff x="6334125" y="3919537"/>
            <a:chExt cx="5276850" cy="1005482"/>
          </a:xfrm>
        </p:grpSpPr>
        <p:sp>
          <p:nvSpPr>
            <p:cNvPr id="135" name="Google Shape;135;p17"/>
            <p:cNvSpPr txBox="1"/>
            <p:nvPr/>
          </p:nvSpPr>
          <p:spPr>
            <a:xfrm>
              <a:off x="6858000" y="3919537"/>
              <a:ext cx="4752975" cy="10054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1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တိကျမှု</a:t>
              </a:r>
              <a:r>
                <a:rPr lang="en-US" sz="1650" b="1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1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လိုအပ်သည</a:t>
              </a:r>
              <a:r>
                <a:rPr lang="en-US" sz="1650" b="1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်: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အဆင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့် (Step)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တွေ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ကျော်သွားလို့မရပါဘူး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။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သေချာတိကျတဲ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 Instructions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တွေ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ဖြစ်ဖို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လိုပါတယ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်။</a:t>
              </a:r>
              <a:endParaRPr dirty="0"/>
            </a:p>
          </p:txBody>
        </p:sp>
        <p:pic>
          <p:nvPicPr>
            <p:cNvPr id="137" name="Google Shape;137;p17" descr="image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6334125" y="3952875"/>
              <a:ext cx="276225" cy="2571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8" name="Google Shape;138;p17"/>
          <p:cNvSpPr txBox="1"/>
          <p:nvPr/>
        </p:nvSpPr>
        <p:spPr>
          <a:xfrm>
            <a:off x="581025" y="318875"/>
            <a:ext cx="73836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A855F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Algorithm</a:t>
            </a:r>
            <a:endParaRPr dirty="0"/>
          </a:p>
        </p:txBody>
      </p:sp>
      <p:sp>
        <p:nvSpPr>
          <p:cNvPr id="139" name="Google Shape;139;p17"/>
          <p:cNvSpPr/>
          <p:nvPr/>
        </p:nvSpPr>
        <p:spPr>
          <a:xfrm>
            <a:off x="581025" y="1137046"/>
            <a:ext cx="1102995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0" name="Google Shape;140;p17" descr="Algorithm (ဟင်းချက်နည်း ဥပမာ) Algorithm ဆိုတာ ဟင်းချက်နည်း စာအုပ်နဲ့ အတိအကျ တူညီပါတယ်။&#10;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40075" y="1264925"/>
            <a:ext cx="4876800" cy="4876800"/>
          </a:xfrm>
          <a:prstGeom prst="roundRect">
            <a:avLst>
              <a:gd name="adj" fmla="val 10151"/>
            </a:avLst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1856779"/>
            <a:ext cx="3486150" cy="45065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352925" y="1856779"/>
            <a:ext cx="3486150" cy="45065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124825" y="1856779"/>
            <a:ext cx="3486150" cy="45065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76300" y="2275879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8"/>
          <p:cNvSpPr txBox="1"/>
          <p:nvPr/>
        </p:nvSpPr>
        <p:spPr>
          <a:xfrm>
            <a:off x="876300" y="3276004"/>
            <a:ext cx="256032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22D3E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1. Problem Solving</a:t>
            </a:r>
            <a:endParaRPr dirty="0"/>
          </a:p>
        </p:txBody>
      </p:sp>
      <p:sp>
        <p:nvSpPr>
          <p:cNvPr id="151" name="Google Shape;151;p18"/>
          <p:cNvSpPr txBox="1"/>
          <p:nvPr/>
        </p:nvSpPr>
        <p:spPr>
          <a:xfrm>
            <a:off x="876300" y="3818929"/>
            <a:ext cx="2895600" cy="2010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Programming Language (Python, JS)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တတ်ရုံနဲ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့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မလုံလောက်ပါဘူး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။ DSA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က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1" i="0" u="none" strike="noStrike" cap="none" dirty="0" err="1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ပ</a:t>
            </a:r>
            <a:r>
              <a:rPr lang="en-US" sz="1650" b="1" i="0" u="none" strike="noStrike" cap="none" dirty="0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ြဿ</a:t>
            </a:r>
            <a:r>
              <a:rPr lang="en-US" sz="1650" b="1" i="0" u="none" strike="noStrike" cap="none" dirty="0" err="1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နာကို</a:t>
            </a:r>
            <a:r>
              <a:rPr lang="en-US" sz="1650" b="1" i="0" u="none" strike="noStrike" cap="none" dirty="0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1" i="0" u="none" strike="noStrike" cap="none" dirty="0" err="1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ဘယ်လို</a:t>
            </a:r>
            <a:r>
              <a:rPr lang="en-US" sz="1650" b="1" i="0" u="none" strike="noStrike" cap="none" dirty="0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1" i="0" u="none" strike="noStrike" cap="none" dirty="0" err="1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ဖြေရှင်းမလဲ</a:t>
            </a:r>
            <a:r>
              <a:rPr lang="en-US" sz="1650" b="1" i="0" u="none" strike="noStrike" cap="none" dirty="0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(Logic)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ဆိုတာကို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သင်ပေးပါတယ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်။</a:t>
            </a:r>
            <a:endParaRPr dirty="0"/>
          </a:p>
        </p:txBody>
      </p:sp>
      <p:pic>
        <p:nvPicPr>
          <p:cNvPr id="152" name="Google Shape;152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648200" y="2275879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8"/>
          <p:cNvSpPr txBox="1"/>
          <p:nvPr/>
        </p:nvSpPr>
        <p:spPr>
          <a:xfrm>
            <a:off x="4648200" y="3276004"/>
            <a:ext cx="2270283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10B9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2. Efficient Code</a:t>
            </a:r>
            <a:endParaRPr dirty="0"/>
          </a:p>
        </p:txBody>
      </p:sp>
      <p:sp>
        <p:nvSpPr>
          <p:cNvPr id="154" name="Google Shape;154;p18"/>
          <p:cNvSpPr txBox="1"/>
          <p:nvPr/>
        </p:nvSpPr>
        <p:spPr>
          <a:xfrm>
            <a:off x="4648200" y="3818929"/>
            <a:ext cx="2895600" cy="1675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App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တစ်ခုရေးတဲ့အခ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ါ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အလုပ်လုပ်ရုံနဲ့မရဘဲ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၊ User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တွေ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စိတ်မရှည်အောင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် </a:t>
            </a:r>
            <a:r>
              <a:rPr lang="en-US" sz="1650" b="1" i="0" u="none" strike="noStrike" cap="none" dirty="0" err="1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ပိုမြန်ပြီး</a:t>
            </a:r>
            <a:r>
              <a:rPr lang="en-US" sz="1650" b="1" i="0" u="none" strike="noStrike" cap="none" dirty="0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Memory </a:t>
            </a:r>
            <a:r>
              <a:rPr lang="en-US" sz="1650" b="1" i="0" u="none" strike="noStrike" cap="none" dirty="0" err="1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စားသက်သာတဲ</a:t>
            </a:r>
            <a:r>
              <a:rPr lang="en-US" sz="1650" b="1" i="0" u="none" strike="noStrike" cap="none" dirty="0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့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Code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တွေ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ရေးတတ်ဖို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့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လိုပါတယ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်။</a:t>
            </a:r>
            <a:endParaRPr dirty="0"/>
          </a:p>
        </p:txBody>
      </p:sp>
      <p:pic>
        <p:nvPicPr>
          <p:cNvPr id="155" name="Google Shape;155;p18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420100" y="2275879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8"/>
          <p:cNvSpPr txBox="1"/>
          <p:nvPr/>
        </p:nvSpPr>
        <p:spPr>
          <a:xfrm>
            <a:off x="8420100" y="3276004"/>
            <a:ext cx="2550318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A855F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3. Tech Interviews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8420100" y="3818929"/>
            <a:ext cx="2895600" cy="1675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Google, Meta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လို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ကုမ္ပဏီကြီးတွေသာမက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ယခုခေတ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် Tech Company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တော်တော်များများက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1" i="0" u="none" strike="noStrike" cap="none" dirty="0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Interview </a:t>
            </a:r>
            <a:r>
              <a:rPr lang="en-US" sz="1650" b="1" i="0" u="none" strike="noStrike" cap="none" dirty="0" err="1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ဝင်ရင</a:t>
            </a:r>
            <a:r>
              <a:rPr lang="en-US" sz="1650" b="1" i="0" u="none" strike="noStrike" cap="none" dirty="0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် DSA </a:t>
            </a:r>
            <a:r>
              <a:rPr lang="en-US" sz="1650" b="1" i="0" u="none" strike="noStrike" cap="none" dirty="0" err="1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ကို</a:t>
            </a:r>
            <a:r>
              <a:rPr lang="en-US" sz="1650" b="1" i="0" u="none" strike="noStrike" cap="none" dirty="0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1" i="0" u="none" strike="noStrike" cap="none" dirty="0" err="1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အဓိက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မေးလေ့ရှိပါတယ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်။</a:t>
            </a:r>
            <a:endParaRPr dirty="0"/>
          </a:p>
        </p:txBody>
      </p:sp>
      <p:pic>
        <p:nvPicPr>
          <p:cNvPr id="158" name="Google Shape;158;p18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038225" y="2437804"/>
            <a:ext cx="438150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8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810125" y="2437804"/>
            <a:ext cx="438150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8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582025" y="2437804"/>
            <a:ext cx="438150" cy="4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8"/>
          <p:cNvSpPr txBox="1"/>
          <p:nvPr/>
        </p:nvSpPr>
        <p:spPr>
          <a:xfrm>
            <a:off x="581025" y="494704"/>
            <a:ext cx="11581447" cy="885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22D3E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ဘာကြောင့် DSA ကို မဖြစ်မနေ လေ့လာသင့်တာလဲ?</a:t>
            </a:r>
            <a:endParaRPr/>
          </a:p>
        </p:txBody>
      </p:sp>
      <p:sp>
        <p:nvSpPr>
          <p:cNvPr id="162" name="Google Shape;162;p18"/>
          <p:cNvSpPr/>
          <p:nvPr/>
        </p:nvSpPr>
        <p:spPr>
          <a:xfrm>
            <a:off x="581025" y="1513879"/>
            <a:ext cx="1102995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0" grpId="0"/>
      <p:bldP spid="151" grpId="0"/>
      <p:bldP spid="153" grpId="0"/>
      <p:bldP spid="154" grpId="0"/>
      <p:bldP spid="15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9"/>
          <p:cNvSpPr txBox="1"/>
          <p:nvPr/>
        </p:nvSpPr>
        <p:spPr>
          <a:xfrm>
            <a:off x="581025" y="581025"/>
            <a:ext cx="11581500" cy="8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22D3E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လက်တွေ့ကမ္ဘာမှာ ဘယ်လိုသုံးလဲ? (Real World) 🌍</a:t>
            </a:r>
            <a:endParaRPr/>
          </a:p>
        </p:txBody>
      </p:sp>
      <p:sp>
        <p:nvSpPr>
          <p:cNvPr id="178" name="Google Shape;178;p19"/>
          <p:cNvSpPr/>
          <p:nvPr/>
        </p:nvSpPr>
        <p:spPr>
          <a:xfrm>
            <a:off x="581025" y="1600200"/>
            <a:ext cx="1102995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316BD00-B432-6683-C884-E2ACD997F7E9}"/>
              </a:ext>
            </a:extLst>
          </p:cNvPr>
          <p:cNvGrpSpPr/>
          <p:nvPr/>
        </p:nvGrpSpPr>
        <p:grpSpPr>
          <a:xfrm>
            <a:off x="581025" y="1990725"/>
            <a:ext cx="3486150" cy="4238625"/>
            <a:chOff x="581025" y="1990725"/>
            <a:chExt cx="3486150" cy="4238625"/>
          </a:xfrm>
        </p:grpSpPr>
        <p:pic>
          <p:nvPicPr>
            <p:cNvPr id="168" name="Google Shape;168;p19" descr="image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81025" y="1990725"/>
              <a:ext cx="3486150" cy="42386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1" name="Google Shape;171;p19"/>
            <p:cNvSpPr txBox="1"/>
            <p:nvPr/>
          </p:nvSpPr>
          <p:spPr>
            <a:xfrm>
              <a:off x="753903" y="4381500"/>
              <a:ext cx="3140392" cy="333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i="0" u="none" strike="noStrike" cap="none">
                  <a:solidFill>
                    <a:srgbClr val="22D3EE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Google Maps</a:t>
              </a:r>
              <a:endParaRPr/>
            </a:p>
          </p:txBody>
        </p:sp>
        <p:sp>
          <p:nvSpPr>
            <p:cNvPr id="172" name="Google Shape;172;p19"/>
            <p:cNvSpPr txBox="1"/>
            <p:nvPr/>
          </p:nvSpPr>
          <p:spPr>
            <a:xfrm>
              <a:off x="828675" y="4810125"/>
              <a:ext cx="2990850" cy="102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 i="0" u="none" strike="noStrike" cap="none" dirty="0" err="1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လမ်းတွေပိတ်နေတဲ့ကြားက</a:t>
              </a:r>
              <a:r>
                <a:rPr lang="en-US" sz="1350" b="0" i="0" u="none" strike="noStrike" cap="none" dirty="0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350" b="0" i="0" u="none" strike="noStrike" cap="none" dirty="0" err="1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အတိုဆုံးနဲ</a:t>
              </a:r>
              <a:r>
                <a:rPr lang="en-US" sz="1350" b="0" i="0" u="none" strike="noStrike" cap="none" dirty="0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 </a:t>
              </a:r>
              <a:r>
                <a:rPr lang="en-US" sz="1350" b="0" i="0" u="none" strike="noStrike" cap="none" dirty="0" err="1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အမြန်ဆုံးလမ်း</a:t>
              </a:r>
              <a:r>
                <a:rPr lang="en-US" sz="1350" b="0" i="0" u="none" strike="noStrike" cap="none" dirty="0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(Shortest Path) </a:t>
              </a:r>
              <a:r>
                <a:rPr lang="en-US" sz="1350" b="0" i="0" u="none" strike="noStrike" cap="none" dirty="0" err="1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ကို</a:t>
              </a:r>
              <a:r>
                <a:rPr lang="en-US" sz="1350" b="0" i="0" u="none" strike="noStrike" cap="none" dirty="0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350" b="0" i="0" u="none" strike="noStrike" cap="none" dirty="0" err="1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ရှာပေးတာဟာ</a:t>
              </a:r>
              <a:r>
                <a:rPr lang="en-US" sz="1350" b="0" i="0" u="none" strike="noStrike" cap="none" dirty="0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Graph Data Structure </a:t>
              </a:r>
              <a:r>
                <a:rPr lang="en-US" sz="1350" b="0" i="0" u="none" strike="noStrike" cap="none" dirty="0" err="1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ကို</a:t>
              </a:r>
              <a:r>
                <a:rPr lang="en-US" sz="1350" b="0" i="0" u="none" strike="noStrike" cap="none" dirty="0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350" b="0" i="0" u="none" strike="noStrike" cap="none" dirty="0" err="1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သုံးထားတာပ</a:t>
              </a:r>
              <a:r>
                <a:rPr lang="en-US" sz="1350" b="0" i="0" u="none" strike="noStrike" cap="none" dirty="0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ါ။</a:t>
              </a:r>
              <a:endParaRPr dirty="0"/>
            </a:p>
          </p:txBody>
        </p:sp>
        <p:pic>
          <p:nvPicPr>
            <p:cNvPr id="179" name="Google Shape;179;p19" descr="Google Map"/>
            <p:cNvPicPr preferRelativeResize="0"/>
            <p:nvPr/>
          </p:nvPicPr>
          <p:blipFill rotWithShape="1">
            <a:blip r:embed="rId5">
              <a:alphaModFix/>
            </a:blip>
            <a:srcRect b="32501"/>
            <a:stretch/>
          </p:blipFill>
          <p:spPr>
            <a:xfrm>
              <a:off x="884975" y="2247900"/>
              <a:ext cx="2878200" cy="1942800"/>
            </a:xfrm>
            <a:prstGeom prst="roundRect">
              <a:avLst>
                <a:gd name="adj" fmla="val 8493"/>
              </a:avLst>
            </a:prstGeom>
            <a:noFill/>
            <a:ln>
              <a:noFill/>
            </a:ln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D3EDFCC6-FD81-3702-5E7B-FB318B3C9D2D}"/>
              </a:ext>
            </a:extLst>
          </p:cNvPr>
          <p:cNvGrpSpPr/>
          <p:nvPr/>
        </p:nvGrpSpPr>
        <p:grpSpPr>
          <a:xfrm>
            <a:off x="4352925" y="1990725"/>
            <a:ext cx="3486150" cy="4238625"/>
            <a:chOff x="4352925" y="1990725"/>
            <a:chExt cx="3486150" cy="4238625"/>
          </a:xfrm>
        </p:grpSpPr>
        <p:pic>
          <p:nvPicPr>
            <p:cNvPr id="169" name="Google Shape;169;p19" descr="image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352925" y="1990725"/>
              <a:ext cx="3486150" cy="42386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3" name="Google Shape;173;p19"/>
            <p:cNvSpPr txBox="1"/>
            <p:nvPr/>
          </p:nvSpPr>
          <p:spPr>
            <a:xfrm>
              <a:off x="4525803" y="4381500"/>
              <a:ext cx="3140392" cy="333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i="0" u="none" strike="noStrike" cap="none">
                  <a:solidFill>
                    <a:srgbClr val="A855F7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Netflix &amp; YouTube</a:t>
              </a:r>
              <a:endParaRPr/>
            </a:p>
          </p:txBody>
        </p:sp>
        <p:sp>
          <p:nvSpPr>
            <p:cNvPr id="174" name="Google Shape;174;p19"/>
            <p:cNvSpPr txBox="1"/>
            <p:nvPr/>
          </p:nvSpPr>
          <p:spPr>
            <a:xfrm>
              <a:off x="4600575" y="4810125"/>
              <a:ext cx="2990850" cy="102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 i="0" u="none" strike="noStrike" cap="none" dirty="0" err="1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သင်ကြိုက်လောက်မယ</a:t>
              </a:r>
              <a:r>
                <a:rPr lang="en-US" sz="1350" b="0" i="0" u="none" strike="noStrike" cap="none" dirty="0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့် </a:t>
              </a:r>
              <a:r>
                <a:rPr lang="en-US" sz="1350" b="0" i="0" u="none" strike="noStrike" cap="none" dirty="0" err="1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ရုပ်ရှင်တွေကို</a:t>
              </a:r>
              <a:r>
                <a:rPr lang="en-US" sz="1350" b="0" i="0" u="none" strike="noStrike" cap="none" dirty="0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350" b="0" i="0" u="none" strike="noStrike" cap="none" dirty="0" err="1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အတိအက</a:t>
              </a:r>
              <a:r>
                <a:rPr lang="en-US" sz="1350" b="0" i="0" u="none" strike="noStrike" cap="none" dirty="0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ျ </a:t>
              </a:r>
              <a:r>
                <a:rPr lang="en-US" sz="1350" b="0" i="0" u="none" strike="noStrike" cap="none" dirty="0" err="1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ခန</a:t>
              </a:r>
              <a:r>
                <a:rPr lang="en-US" sz="1350" b="0" i="0" u="none" strike="noStrike" cap="none" dirty="0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့်</a:t>
              </a:r>
              <a:r>
                <a:rPr lang="en-US" sz="1350" b="0" i="0" u="none" strike="noStrike" cap="none" dirty="0" err="1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မှန်းပြသပေးတာဟာ</a:t>
              </a:r>
              <a:r>
                <a:rPr lang="en-US" sz="1350" b="0" i="0" u="none" strike="noStrike" cap="none" dirty="0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350" b="0" i="0" u="none" strike="noStrike" cap="none" dirty="0" err="1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ရှုပ်ထွေးတဲ</a:t>
              </a:r>
              <a:r>
                <a:rPr lang="en-US" sz="1350" b="0" i="0" u="none" strike="noStrike" cap="none" dirty="0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 Recommendation Algorithms </a:t>
              </a:r>
              <a:r>
                <a:rPr lang="en-US" sz="1350" b="0" i="0" u="none" strike="noStrike" cap="none" dirty="0" err="1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တွေရဲ</a:t>
              </a:r>
              <a:r>
                <a:rPr lang="en-US" sz="1350" b="0" i="0" u="none" strike="noStrike" cap="none" dirty="0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 </a:t>
              </a:r>
              <a:r>
                <a:rPr lang="en-US" sz="1350" b="0" i="0" u="none" strike="noStrike" cap="none" dirty="0" err="1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အစွမ်းပါပဲ</a:t>
              </a:r>
              <a:r>
                <a:rPr lang="en-US" sz="1350" b="0" i="0" u="none" strike="noStrike" cap="none" dirty="0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。</a:t>
              </a:r>
              <a:endParaRPr dirty="0"/>
            </a:p>
          </p:txBody>
        </p:sp>
        <p:pic>
          <p:nvPicPr>
            <p:cNvPr id="180" name="Google Shape;180;p19" descr="Left side Netflix &amp; right side YouTube&#10;"/>
            <p:cNvPicPr preferRelativeResize="0"/>
            <p:nvPr/>
          </p:nvPicPr>
          <p:blipFill rotWithShape="1">
            <a:blip r:embed="rId7">
              <a:alphaModFix/>
            </a:blip>
            <a:srcRect b="36685"/>
            <a:stretch/>
          </p:blipFill>
          <p:spPr>
            <a:xfrm>
              <a:off x="4610101" y="2238525"/>
              <a:ext cx="2971800" cy="1942800"/>
            </a:xfrm>
            <a:prstGeom prst="roundRect">
              <a:avLst>
                <a:gd name="adj" fmla="val 10049"/>
              </a:avLst>
            </a:prstGeom>
            <a:noFill/>
            <a:ln>
              <a:noFill/>
            </a:ln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726ACA2F-EE7E-42B0-CCCB-3235EB4098BF}"/>
              </a:ext>
            </a:extLst>
          </p:cNvPr>
          <p:cNvGrpSpPr/>
          <p:nvPr/>
        </p:nvGrpSpPr>
        <p:grpSpPr>
          <a:xfrm>
            <a:off x="8124825" y="1990725"/>
            <a:ext cx="3486150" cy="4238625"/>
            <a:chOff x="8124825" y="1990725"/>
            <a:chExt cx="3486150" cy="4238625"/>
          </a:xfrm>
        </p:grpSpPr>
        <p:pic>
          <p:nvPicPr>
            <p:cNvPr id="170" name="Google Shape;170;p19" descr="image.png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8124825" y="1990725"/>
              <a:ext cx="3486150" cy="42386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5" name="Google Shape;175;p19"/>
            <p:cNvSpPr txBox="1"/>
            <p:nvPr/>
          </p:nvSpPr>
          <p:spPr>
            <a:xfrm>
              <a:off x="8297703" y="4381500"/>
              <a:ext cx="3140392" cy="333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i="0" u="none" strike="noStrike" cap="none">
                  <a:solidFill>
                    <a:srgbClr val="10B98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Undo (Ctrl + Z)</a:t>
              </a:r>
              <a:endParaRPr/>
            </a:p>
          </p:txBody>
        </p:sp>
        <p:sp>
          <p:nvSpPr>
            <p:cNvPr id="176" name="Google Shape;176;p19"/>
            <p:cNvSpPr txBox="1"/>
            <p:nvPr/>
          </p:nvSpPr>
          <p:spPr>
            <a:xfrm>
              <a:off x="8372475" y="4810125"/>
              <a:ext cx="2990850" cy="102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 i="0" u="none" strike="noStrike" cap="none">
                  <a:solidFill>
                    <a:srgbClr val="94A3B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စာရိုက်ရင်း မှားသွားလို့ နောက်ပြန်ဆုတ် (Undo) လုပ်တာဟာ နောက်ဆုံးလုပ်ခဲ့တဲ့ အရာကို ပြန်ခေါ်ပေးတဲ့ Stack Data Structure ပါ။</a:t>
              </a:r>
              <a:endParaRPr/>
            </a:p>
          </p:txBody>
        </p:sp>
        <p:pic>
          <p:nvPicPr>
            <p:cNvPr id="181" name="Google Shape;181;p19" descr="Undo (Ctrl + Z) on computer"/>
            <p:cNvPicPr preferRelativeResize="0"/>
            <p:nvPr/>
          </p:nvPicPr>
          <p:blipFill rotWithShape="1">
            <a:blip r:embed="rId9">
              <a:alphaModFix/>
            </a:blip>
            <a:srcRect t="21326" b="13298"/>
            <a:stretch/>
          </p:blipFill>
          <p:spPr>
            <a:xfrm>
              <a:off x="8372475" y="2247900"/>
              <a:ext cx="2971800" cy="1942800"/>
            </a:xfrm>
            <a:prstGeom prst="roundRect">
              <a:avLst>
                <a:gd name="adj" fmla="val 9687"/>
              </a:avLst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FF928030-363E-9B28-A933-753D511B918C}"/>
              </a:ext>
            </a:extLst>
          </p:cNvPr>
          <p:cNvGrpSpPr/>
          <p:nvPr/>
        </p:nvGrpSpPr>
        <p:grpSpPr>
          <a:xfrm>
            <a:off x="1866900" y="2270521"/>
            <a:ext cx="8515350" cy="1218795"/>
            <a:chOff x="1866900" y="2270521"/>
            <a:chExt cx="8515350" cy="1218795"/>
          </a:xfrm>
        </p:grpSpPr>
        <p:sp>
          <p:nvSpPr>
            <p:cNvPr id="187" name="Google Shape;187;p20"/>
            <p:cNvSpPr txBox="1"/>
            <p:nvPr/>
          </p:nvSpPr>
          <p:spPr>
            <a:xfrm>
              <a:off x="2333625" y="2270521"/>
              <a:ext cx="8048625" cy="121879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1" u="none" strike="noStrike" cap="none" dirty="0">
                  <a:solidFill>
                    <a:srgbClr val="F43F5E"/>
                  </a:solidFill>
                  <a:latin typeface="Noto Sans Myanmar" panose="020B0502040504020204" pitchFamily="34" charset="0"/>
                  <a:ea typeface="Noto Sans Myanmar"/>
                  <a:cs typeface="Noto Sans Myanmar" panose="020B0502040504020204" pitchFamily="34" charset="0"/>
                  <a:sym typeface="Noto Sans Myanmar"/>
                </a:rPr>
                <a:t>Code </a:t>
              </a:r>
              <a:r>
                <a:rPr lang="en-US" sz="1650" b="1" u="none" strike="noStrike" cap="none" dirty="0" err="1">
                  <a:solidFill>
                    <a:srgbClr val="F43F5E"/>
                  </a:solidFill>
                  <a:latin typeface="Noto Sans Myanmar" panose="020B0502040504020204" pitchFamily="34" charset="0"/>
                  <a:ea typeface="Noto Sans Myanmar"/>
                  <a:cs typeface="Noto Sans Myanmar" panose="020B0502040504020204" pitchFamily="34" charset="0"/>
                  <a:sym typeface="Noto Sans Myanmar"/>
                </a:rPr>
                <a:t>တွေကို</a:t>
              </a:r>
              <a:r>
                <a:rPr lang="en-US" sz="1650" b="1" u="none" strike="noStrike" cap="none" dirty="0">
                  <a:solidFill>
                    <a:srgbClr val="F43F5E"/>
                  </a:solidFill>
                  <a:latin typeface="Noto Sans Myanmar" panose="020B0502040504020204" pitchFamily="34" charset="0"/>
                  <a:ea typeface="Noto Sans Myanmar"/>
                  <a:cs typeface="Noto Sans Myanmar" panose="020B0502040504020204" pitchFamily="34" charset="0"/>
                  <a:sym typeface="Noto Sans Myanmar"/>
                </a:rPr>
                <a:t> </a:t>
              </a:r>
              <a:r>
                <a:rPr lang="en-US" sz="1650" b="1" u="none" strike="noStrike" cap="none" dirty="0" err="1">
                  <a:solidFill>
                    <a:srgbClr val="F43F5E"/>
                  </a:solidFill>
                  <a:latin typeface="Noto Sans Myanmar" panose="020B0502040504020204" pitchFamily="34" charset="0"/>
                  <a:ea typeface="Noto Sans Myanmar"/>
                  <a:cs typeface="Noto Sans Myanmar" panose="020B0502040504020204" pitchFamily="34" charset="0"/>
                  <a:sym typeface="Noto Sans Myanmar"/>
                </a:rPr>
                <a:t>အလွတ်မကျက်ပါနဲ</a:t>
              </a:r>
              <a:r>
                <a:rPr lang="en-US" sz="1650" b="1" u="none" strike="noStrike" cap="none" dirty="0">
                  <a:solidFill>
                    <a:srgbClr val="F43F5E"/>
                  </a:solidFill>
                  <a:latin typeface="Noto Sans Myanmar" panose="020B0502040504020204" pitchFamily="34" charset="0"/>
                  <a:ea typeface="Noto Sans Myanmar"/>
                  <a:cs typeface="Noto Sans Myanmar" panose="020B0502040504020204" pitchFamily="34" charset="0"/>
                  <a:sym typeface="Noto Sans Myanmar"/>
                </a:rPr>
                <a:t>့</a:t>
              </a:r>
              <a:r>
                <a:rPr lang="en-US" sz="1650" b="1" i="0" u="none" strike="noStrike" cap="none" dirty="0">
                  <a:solidFill>
                    <a:srgbClr val="F43F5E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: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Code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ဆိုတာ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Language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ပေ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ါ်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မူတည်ပြီး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ပြောင်းလဲနိုင်ပါတယ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်။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ပိုအရေးကြီးတာက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ဘာလို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ဒီလိုဖြေရှင်းသွားလဲ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ဆိုတဲ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 </a:t>
              </a:r>
              <a:r>
                <a:rPr lang="en-US" sz="1650" b="1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သဘောတရား</a:t>
              </a:r>
              <a:r>
                <a:rPr lang="en-US" sz="1650" b="1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(Logic)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ကို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နားလည်ဖို့ပ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ါ။</a:t>
              </a:r>
              <a:endParaRPr dirty="0"/>
            </a:p>
          </p:txBody>
        </p:sp>
        <p:pic>
          <p:nvPicPr>
            <p:cNvPr id="190" name="Google Shape;190;p20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866900" y="2347466"/>
              <a:ext cx="190500" cy="2571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0D16D9CB-6169-BE7D-419A-0A1B54B1767C}"/>
              </a:ext>
            </a:extLst>
          </p:cNvPr>
          <p:cNvGrpSpPr/>
          <p:nvPr/>
        </p:nvGrpSpPr>
        <p:grpSpPr>
          <a:xfrm>
            <a:off x="1838325" y="3755827"/>
            <a:ext cx="8543924" cy="670321"/>
            <a:chOff x="1838325" y="3755827"/>
            <a:chExt cx="8543924" cy="670321"/>
          </a:xfrm>
        </p:grpSpPr>
        <p:sp>
          <p:nvSpPr>
            <p:cNvPr id="188" name="Google Shape;188;p20"/>
            <p:cNvSpPr txBox="1"/>
            <p:nvPr/>
          </p:nvSpPr>
          <p:spPr>
            <a:xfrm>
              <a:off x="2333624" y="3755827"/>
              <a:ext cx="8048625" cy="6703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1" i="0" u="none" strike="noStrike" cap="none" dirty="0" err="1">
                  <a:solidFill>
                    <a:srgbClr val="22D3EE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စာရွက်နဲ</a:t>
              </a:r>
              <a:r>
                <a:rPr lang="en-US" sz="1650" b="1" i="0" u="none" strike="noStrike" cap="none" dirty="0">
                  <a:solidFill>
                    <a:srgbClr val="22D3EE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 </a:t>
              </a:r>
              <a:r>
                <a:rPr lang="en-US" sz="1650" b="1" i="0" u="none" strike="noStrike" cap="none" dirty="0" err="1">
                  <a:solidFill>
                    <a:srgbClr val="22D3EE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ခဲတံ</a:t>
              </a:r>
              <a:r>
                <a:rPr lang="en-US" sz="1650" b="1" i="0" u="none" strike="noStrike" cap="none" dirty="0">
                  <a:solidFill>
                    <a:srgbClr val="22D3EE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1" i="0" u="none" strike="noStrike" cap="none" dirty="0" err="1">
                  <a:solidFill>
                    <a:srgbClr val="22D3EE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အရင်သုံးပ</a:t>
              </a:r>
              <a:r>
                <a:rPr lang="en-US" sz="1650" b="1" i="0" u="none" strike="noStrike" cap="none" dirty="0">
                  <a:solidFill>
                    <a:srgbClr val="22D3EE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ါ: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ပ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ြဿ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နာတစ်ခုတွေ့ရင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 Keyboard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ပေ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ါ်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တန်းမရေးခင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်၊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စာရွက်ပေ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ါ်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မှာ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အရင်ဆုံး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ပုံဆွဲပြီး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အဆင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့်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လိုက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 </a:t>
              </a:r>
              <a:r>
                <a:rPr lang="en-US" sz="1650" b="0" i="0" u="none" strike="noStrike" cap="none" dirty="0" err="1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စဉ်းစားချရေးပ</a:t>
              </a:r>
              <a:r>
                <a:rPr lang="en-US" sz="1650" b="0" i="0" u="none" strike="noStrike" cap="none" dirty="0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ါ။</a:t>
              </a:r>
              <a:endParaRPr dirty="0"/>
            </a:p>
          </p:txBody>
        </p:sp>
        <p:pic>
          <p:nvPicPr>
            <p:cNvPr id="191" name="Google Shape;191;p20" descr="image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1838325" y="3905249"/>
              <a:ext cx="247650" cy="2571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49F9F717-93D9-AE8D-C70F-96CF1A82D3FA}"/>
              </a:ext>
            </a:extLst>
          </p:cNvPr>
          <p:cNvGrpSpPr/>
          <p:nvPr/>
        </p:nvGrpSpPr>
        <p:grpSpPr>
          <a:xfrm>
            <a:off x="1804987" y="4731841"/>
            <a:ext cx="8577263" cy="670321"/>
            <a:chOff x="1804987" y="4731841"/>
            <a:chExt cx="8577263" cy="670321"/>
          </a:xfrm>
        </p:grpSpPr>
        <p:sp>
          <p:nvSpPr>
            <p:cNvPr id="189" name="Google Shape;189;p20"/>
            <p:cNvSpPr txBox="1"/>
            <p:nvPr/>
          </p:nvSpPr>
          <p:spPr>
            <a:xfrm>
              <a:off x="2333625" y="4731841"/>
              <a:ext cx="8048625" cy="6703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1" i="0" u="none" strike="noStrike" cap="none">
                  <a:solidFill>
                    <a:srgbClr val="10B98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နေ့စဉ် လေ့ကျင့်ပါ:</a:t>
              </a:r>
              <a:r>
                <a:rPr lang="en-US" sz="1650" b="0" i="0" u="none" strike="noStrike" cap="none">
                  <a:solidFill>
                    <a:srgbClr val="CBD5E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DSA ဆိုတာ သင်္ချာတွက်သလိုပါပဲ။ တစ်နေ့နည်းနည်းနဲ့ LeetCode, HackerRank တို့မှာ မှန်မှန် လေ့ကျင့်မှသာ ကျွမ်းကျင်လာမှာပါ။</a:t>
              </a:r>
              <a:endParaRPr/>
            </a:p>
          </p:txBody>
        </p:sp>
        <p:pic>
          <p:nvPicPr>
            <p:cNvPr id="192" name="Google Shape;192;p20" descr="image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804987" y="4823089"/>
              <a:ext cx="314325" cy="2571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3" name="Google Shape;193;p20"/>
          <p:cNvSpPr txBox="1"/>
          <p:nvPr/>
        </p:nvSpPr>
        <p:spPr>
          <a:xfrm>
            <a:off x="581025" y="581025"/>
            <a:ext cx="11581447" cy="885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BBF2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DSA လေ့လာရန် မှန်ကန်သော Mindset 🧠</a:t>
            </a:r>
            <a:endParaRPr/>
          </a:p>
        </p:txBody>
      </p:sp>
      <p:sp>
        <p:nvSpPr>
          <p:cNvPr id="194" name="Google Shape;194;p20"/>
          <p:cNvSpPr/>
          <p:nvPr/>
        </p:nvSpPr>
        <p:spPr>
          <a:xfrm>
            <a:off x="581025" y="1600200"/>
            <a:ext cx="1102995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6|0.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4.1|3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2.9|5.1|20.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7.9|4.2|27.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4.3|180.3|13.8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3|33|88.6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1137</Words>
  <Application>Microsoft Macintosh PowerPoint</Application>
  <PresentationFormat>Widescreen</PresentationFormat>
  <Paragraphs>38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Poppins SemiBold</vt:lpstr>
      <vt:lpstr>Fira Code</vt:lpstr>
      <vt:lpstr>Arial</vt:lpstr>
      <vt:lpstr>Poppins</vt:lpstr>
      <vt:lpstr>Noto Sans Myanmar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SAI PONE KHA AUNG -</cp:lastModifiedBy>
  <cp:revision>3</cp:revision>
  <dcterms:modified xsi:type="dcterms:W3CDTF">2026-04-06T09:37:56Z</dcterms:modified>
</cp:coreProperties>
</file>