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Fira Code" panose="020B0809050000020004" pitchFamily="49" charset="0"/>
      <p:regular r:id="rId14"/>
      <p:bold r:id="rId15"/>
    </p:embeddedFont>
    <p:embeddedFont>
      <p:font typeface="Lato" panose="020F0502020204030203" pitchFamily="34" charset="77"/>
      <p:regular r:id="rId16"/>
      <p:bold r:id="rId17"/>
      <p:italic r:id="rId18"/>
      <p:boldItalic r:id="rId19"/>
    </p:embeddedFont>
    <p:embeddedFont>
      <p:font typeface="Noto Sans Myanmar" panose="020B0502040504020204" pitchFamily="34" charset="0"/>
      <p:regular r:id="rId20"/>
      <p:bold r:id="rId21"/>
    </p:embeddedFont>
    <p:embeddedFont>
      <p:font typeface="Poppins" pitchFamily="2" charset="77"/>
      <p:regular r:id="rId22"/>
      <p:bold r:id="rId23"/>
      <p:italic r:id="rId24"/>
      <p:boldItalic r:id="rId25"/>
    </p:embeddedFont>
    <p:embeddedFont>
      <p:font typeface="Poppins SemiBold" pitchFamily="2" charset="77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92"/>
    <p:restoredTop sz="94670"/>
  </p:normalViewPr>
  <p:slideViewPr>
    <p:cSldViewPr snapToGrid="0">
      <p:cViewPr varScale="1">
        <p:scale>
          <a:sx n="117" d="100"/>
          <a:sy n="117" d="100"/>
        </p:scale>
        <p:origin x="104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CE63E59E-1399-61FA-AE41-8E7EE0839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>
            <a:extLst>
              <a:ext uri="{FF2B5EF4-FFF2-40B4-BE49-F238E27FC236}">
                <a16:creationId xmlns:a16="http://schemas.microsoft.com/office/drawing/2014/main" id="{91681C9F-1FC0-F408-EFB6-163058B7A4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:notes">
            <a:extLst>
              <a:ext uri="{FF2B5EF4-FFF2-40B4-BE49-F238E27FC236}">
                <a16:creationId xmlns:a16="http://schemas.microsoft.com/office/drawing/2014/main" id="{F0BD0212-5261-651E-0A3B-883F8F9948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549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30427D6E-954E-7BBB-0067-1829B7FBE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>
            <a:extLst>
              <a:ext uri="{FF2B5EF4-FFF2-40B4-BE49-F238E27FC236}">
                <a16:creationId xmlns:a16="http://schemas.microsoft.com/office/drawing/2014/main" id="{7B618FF6-8ABD-ADF3-242D-F918D8C9C4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4" name="Google Shape;214;p10:notes">
            <a:extLst>
              <a:ext uri="{FF2B5EF4-FFF2-40B4-BE49-F238E27FC236}">
                <a16:creationId xmlns:a16="http://schemas.microsoft.com/office/drawing/2014/main" id="{EEDC452B-7FDE-284C-8B6E-6A80558C2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5949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20.jpg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1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20449" y="2277235"/>
            <a:ext cx="8351100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 dirty="0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Hash Table</a:t>
            </a:r>
            <a:r>
              <a:rPr lang="en-US" sz="4875" b="1" i="0" u="none" strike="noStrike" cap="none" dirty="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 &amp; </a:t>
            </a:r>
            <a:r>
              <a:rPr lang="en-US" sz="4875" b="1" i="0" u="none" strike="noStrike" cap="none" dirty="0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Dictionary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119311" y="3500840"/>
            <a:ext cx="79533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[ Key-Value Pairs ]</a:t>
            </a:r>
            <a:endParaRPr dirty="0"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51750DC0-394D-3EC3-76C8-7C7C7EFF4949}"/>
              </a:ext>
            </a:extLst>
          </p:cNvPr>
          <p:cNvSpPr txBox="1"/>
          <p:nvPr/>
        </p:nvSpPr>
        <p:spPr>
          <a:xfrm>
            <a:off x="1809748" y="4100637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- 8 ]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242244"/>
            <a:ext cx="952500" cy="571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380410" y="2585144"/>
            <a:ext cx="9431178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ဖုန်းစာအုပ်ထဲက နာမည်ရှာသလိုပါပဲ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4109144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Array </a:t>
            </a:r>
            <a:r>
              <a:rPr lang="en-US" sz="1950" b="0" i="0" u="none" strike="noStrike" cap="none" dirty="0" err="1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</a:t>
            </a:r>
            <a:r>
              <a:rPr lang="en-US" sz="1950" b="0" i="0" u="none" strike="noStrike" cap="none" dirty="0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တစ်ခုချင်းစီ</a:t>
            </a:r>
            <a:r>
              <a:rPr lang="en-US" sz="1950" b="0" i="0" u="none" strike="noStrike" cap="none" dirty="0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လိုက်ရှာစရာမလိုဘဲ</a:t>
            </a:r>
            <a:r>
              <a:rPr lang="en-US" sz="1950" b="0" i="0" u="none" strike="noStrike" cap="none" dirty="0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၊ </a:t>
            </a:r>
            <a:r>
              <a:rPr lang="en-US" sz="1950" b="0" i="0" u="none" strike="noStrike" cap="none" dirty="0" err="1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နာမည</a:t>
            </a:r>
            <a:r>
              <a:rPr lang="en-US" sz="1950" b="0" i="0" u="none" strike="noStrike" cap="none" dirty="0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(Key) </a:t>
            </a:r>
            <a:r>
              <a:rPr lang="en-US" sz="1950" b="0" i="0" u="none" strike="noStrike" cap="none" dirty="0" err="1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950" b="0" i="0" u="none" strike="noStrike" cap="none" dirty="0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သိတာနဲ</a:t>
            </a:r>
            <a:r>
              <a:rPr lang="en-US" sz="1950" b="0" i="0" u="none" strike="noStrike" cap="none" dirty="0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950" b="0" i="0" u="none" strike="noStrike" cap="none" dirty="0" err="1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ဖုန်းနံပါတ</a:t>
            </a:r>
            <a:r>
              <a:rPr lang="en-US" sz="1950" b="0" i="0" u="none" strike="noStrike" cap="none" dirty="0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(Value) </a:t>
            </a:r>
            <a:r>
              <a:rPr lang="en-US" sz="1950" b="0" i="0" u="none" strike="noStrike" cap="none" dirty="0" err="1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950" b="0" i="0" u="none" strike="noStrike" cap="none" dirty="0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ချက်ချင်း</a:t>
            </a:r>
            <a:r>
              <a:rPr lang="en-US" sz="1950" b="0" i="0" u="none" strike="noStrike" cap="none" dirty="0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သိနိုင်မယ</a:t>
            </a:r>
            <a:r>
              <a:rPr lang="en-US" sz="1950" b="0" i="0" u="none" strike="noStrike" cap="none" dirty="0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 </a:t>
            </a:r>
            <a:r>
              <a:rPr lang="en-US" sz="1950" b="0" i="0" u="none" strike="noStrike" cap="none" dirty="0" err="1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နည်းလမ်းဖြစ်ပါတယ</a:t>
            </a:r>
            <a:r>
              <a:rPr lang="en-US" sz="1950" b="0" i="0" u="none" strike="noStrike" cap="none" dirty="0">
                <a:solidFill>
                  <a:srgbClr val="8B949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81025" y="1569542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သူငယ်ချင်း</a:t>
            </a:r>
            <a:r>
              <a:rPr lang="en-US" sz="1650" b="0" i="0" u="none" strike="noStrike" cap="none" dirty="0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"Aung Aung" </a:t>
            </a:r>
            <a:r>
              <a:rPr lang="en-US" sz="1650" b="0" i="0" u="none" strike="noStrike" cap="none" dirty="0" err="1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ရဲ</a:t>
            </a:r>
            <a:r>
              <a:rPr lang="en-US" sz="1650" b="0" i="0" u="none" strike="noStrike" cap="none" dirty="0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ဖုန်းနံပါတ်ကို</a:t>
            </a:r>
            <a:r>
              <a:rPr lang="en-US" sz="1650" b="0" i="0" u="none" strike="noStrike" cap="none" dirty="0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ရှာချင်တယ</a:t>
            </a:r>
            <a:r>
              <a:rPr lang="en-US" sz="1650" b="0" i="0" u="none" strike="noStrike" cap="none" dirty="0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0" u="none" strike="noStrike" cap="none" dirty="0" err="1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ဆိုပါစို</a:t>
            </a:r>
            <a:r>
              <a:rPr lang="en-US" sz="1650" b="0" i="0" u="none" strike="noStrike" cap="none" dirty="0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့။</a:t>
            </a:r>
            <a:endParaRPr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B63AB6-7333-64BE-7F19-0376DD36A5B8}"/>
              </a:ext>
            </a:extLst>
          </p:cNvPr>
          <p:cNvGrpSpPr/>
          <p:nvPr/>
        </p:nvGrpSpPr>
        <p:grpSpPr>
          <a:xfrm>
            <a:off x="552450" y="5216129"/>
            <a:ext cx="5276850" cy="1060846"/>
            <a:chOff x="552450" y="5216129"/>
            <a:chExt cx="5276850" cy="106084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AB859FB-9011-2663-EE38-FA9243630939}"/>
                </a:ext>
              </a:extLst>
            </p:cNvPr>
            <p:cNvGrpSpPr/>
            <p:nvPr/>
          </p:nvGrpSpPr>
          <p:grpSpPr>
            <a:xfrm>
              <a:off x="552450" y="5216129"/>
              <a:ext cx="5276850" cy="1060846"/>
              <a:chOff x="581025" y="4996457"/>
              <a:chExt cx="5276850" cy="1060846"/>
            </a:xfrm>
          </p:grpSpPr>
          <p:pic>
            <p:nvPicPr>
              <p:cNvPr id="101" name="Google Shape;101;p15" descr="image.p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81025" y="4996457"/>
                <a:ext cx="5276850" cy="106084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" name="Google Shape;103;p15"/>
              <p:cNvSpPr txBox="1"/>
              <p:nvPr/>
            </p:nvSpPr>
            <p:spPr>
              <a:xfrm>
                <a:off x="857250" y="5165185"/>
                <a:ext cx="4762500" cy="6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F0F6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Hash Table (Python </a:t>
                </a:r>
                <a:r>
                  <a:rPr lang="en-US" sz="1650" b="0" i="0" u="none" strike="noStrike" cap="none" dirty="0" err="1">
                    <a:solidFill>
                      <a:srgbClr val="F0F6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မှာဆိုရင</a:t>
                </a:r>
                <a:r>
                  <a:rPr lang="en-US" sz="1650" b="0" i="0" u="none" strike="noStrike" cap="none" dirty="0">
                    <a:solidFill>
                      <a:srgbClr val="F0F6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်                             ) </a:t>
                </a:r>
                <a:r>
                  <a:rPr lang="en-US" sz="1650" b="0" i="0" u="none" strike="noStrike" cap="none" dirty="0" err="1">
                    <a:solidFill>
                      <a:srgbClr val="F0F6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က</a:t>
                </a:r>
                <a:r>
                  <a:rPr lang="en-US" sz="1650" b="0" i="0" u="none" strike="noStrike" cap="none" dirty="0">
                    <a:solidFill>
                      <a:srgbClr val="F0F6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Data </a:t>
                </a:r>
                <a:r>
                  <a:rPr lang="en-US" sz="1650" b="0" i="0" u="none" strike="noStrike" cap="none" dirty="0" err="1">
                    <a:solidFill>
                      <a:srgbClr val="F0F6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တွေကို</a:t>
                </a:r>
                <a:r>
                  <a:rPr lang="en-US" sz="1650" b="0" i="0" u="none" strike="noStrike" cap="none" dirty="0">
                    <a:solidFill>
                      <a:srgbClr val="F0F6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</a:t>
                </a:r>
                <a:r>
                  <a:rPr lang="en-US" sz="1650" b="0" i="0" u="none" strike="noStrike" cap="none" dirty="0" err="1">
                    <a:solidFill>
                      <a:srgbClr val="F0F6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နာမည်တပ်ပြီး</a:t>
                </a:r>
                <a:r>
                  <a:rPr lang="en-US" sz="1650" b="0" i="0" u="none" strike="noStrike" cap="none" dirty="0">
                    <a:solidFill>
                      <a:srgbClr val="F0F6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</a:t>
                </a:r>
                <a:r>
                  <a:rPr lang="en-US" sz="1650" b="0" i="0" u="none" strike="noStrike" cap="none" dirty="0" err="1">
                    <a:solidFill>
                      <a:srgbClr val="F0F6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သိမ်းပေးတဲ</a:t>
                </a:r>
                <a:r>
                  <a:rPr lang="en-US" sz="1650" b="0" i="0" u="none" strike="noStrike" cap="none" dirty="0">
                    <a:solidFill>
                      <a:srgbClr val="F0F6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့ </a:t>
                </a:r>
                <a:r>
                  <a:rPr lang="en-US" sz="1650" b="0" i="0" u="none" strike="noStrike" cap="none" dirty="0" err="1">
                    <a:solidFill>
                      <a:srgbClr val="F0F6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စနစ်ပ</a:t>
                </a:r>
                <a:r>
                  <a:rPr lang="en-US" sz="1650" b="0" i="0" u="none" strike="noStrike" cap="none" dirty="0">
                    <a:solidFill>
                      <a:srgbClr val="F0F6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ါ။</a:t>
                </a:r>
                <a:endParaRPr dirty="0"/>
              </a:p>
            </p:txBody>
          </p:sp>
        </p:grpSp>
        <p:pic>
          <p:nvPicPr>
            <p:cNvPr id="106" name="Google Shape;106;p15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681413" y="5403652"/>
              <a:ext cx="1352550" cy="342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4C2B02F-E64B-5790-FCBD-B11C26EC5F7E}"/>
              </a:ext>
            </a:extLst>
          </p:cNvPr>
          <p:cNvGrpSpPr/>
          <p:nvPr/>
        </p:nvGrpSpPr>
        <p:grpSpPr>
          <a:xfrm>
            <a:off x="552450" y="2509242"/>
            <a:ext cx="5305425" cy="1005482"/>
            <a:chOff x="552450" y="2509242"/>
            <a:chExt cx="5305425" cy="1005482"/>
          </a:xfrm>
        </p:grpSpPr>
        <p:sp>
          <p:nvSpPr>
            <p:cNvPr id="104" name="Google Shape;104;p15"/>
            <p:cNvSpPr txBox="1"/>
            <p:nvPr/>
          </p:nvSpPr>
          <p:spPr>
            <a:xfrm>
              <a:off x="1104900" y="2509242"/>
              <a:ext cx="475297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Array </a:t>
              </a:r>
              <a:r>
                <a:rPr lang="en-US" sz="1650" b="1" i="0" u="none" strike="noStrike" cap="none" dirty="0" err="1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ဖြင</a:t>
              </a: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1" i="0" u="none" strike="noStrike" cap="none" dirty="0" err="1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ရှာခြင်း</a:t>
              </a: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စာမျက်နှာ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၁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ကနေ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စပြီး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နာမည်တွေကို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တစ်ယောက်ချင်းစီ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လိုက်စစ်ရပါမယ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 (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အရမ်းကြာပါတယ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်)</a:t>
              </a:r>
              <a:endParaRPr dirty="0"/>
            </a:p>
          </p:txBody>
        </p:sp>
        <p:pic>
          <p:nvPicPr>
            <p:cNvPr id="107" name="Google Shape;107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52450" y="2608361"/>
              <a:ext cx="2762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39D9D82-C72D-E88B-9045-B1DC099563D2}"/>
              </a:ext>
            </a:extLst>
          </p:cNvPr>
          <p:cNvGrpSpPr/>
          <p:nvPr/>
        </p:nvGrpSpPr>
        <p:grpSpPr>
          <a:xfrm>
            <a:off x="566737" y="3752850"/>
            <a:ext cx="5291138" cy="1005482"/>
            <a:chOff x="566737" y="3752850"/>
            <a:chExt cx="5291138" cy="1005482"/>
          </a:xfrm>
        </p:grpSpPr>
        <p:sp>
          <p:nvSpPr>
            <p:cNvPr id="105" name="Google Shape;105;p15"/>
            <p:cNvSpPr txBox="1"/>
            <p:nvPr/>
          </p:nvSpPr>
          <p:spPr>
            <a:xfrm>
              <a:off x="1104900" y="3752850"/>
              <a:ext cx="475297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Hash Table </a:t>
              </a:r>
              <a:r>
                <a:rPr lang="en-US" sz="1650" b="1" i="0" u="none" strike="noStrike" cap="none" dirty="0" err="1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ဖြင</a:t>
              </a: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1" i="0" u="none" strike="noStrike" cap="none" dirty="0" err="1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ရှာခြင်း</a:t>
              </a: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ဖုန်းစာအုပ်မှာလိုပဲ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'A'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အက္ခရာကို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ချက်ချင်းလှန်ပြီး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Aung Aung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တိုက်ရိုက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သွားရှာလို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ရပါတယ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08" name="Google Shape;108;p15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66737" y="3872379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5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Real World Analogy 📖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81025" y="1323975"/>
            <a:ext cx="110299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5" descr="Real World Analogy 📖&#10;သူငယ်ချင်း &quot;Aung Aung&quot; ရဲ့ ဖုန်းနံပါတ်ကို ရှာချင်တယ် ဆိုပါစို့။&#10;Array ဖြင့်ရှာခြင်း: စာမျက်နှာ ၁ ကနေ စပြီး နာမည်တွေကို တစ်ယောက်ချင်းစီ လိုက်စစ်ရပါမယ်။ (အရမ်းကြာပါတယ်)&#10;Hash Table ဖြင့်ရှာခြင်း: ဖုန်းစာအုပ်မှာလိုပဲ 'A' အက္ခရာကို ချက်ချင်းလှန်ပြီး Aung Aung ကို တိုက်ရိုက် သွားရှာလို့ ရပါတယ်။&#10;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89975" y="1390200"/>
            <a:ext cx="4876800" cy="4876800"/>
          </a:xfrm>
          <a:prstGeom prst="roundRect">
            <a:avLst>
              <a:gd name="adj" fmla="val 8018"/>
            </a:avLst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62447"/>
            <a:ext cx="5276850" cy="393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962447"/>
            <a:ext cx="5276850" cy="393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52837" y="6183213"/>
            <a:ext cx="4886325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81025" y="1375290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Hash Table </a:t>
            </a:r>
            <a:r>
              <a:rPr lang="en-US" sz="1650" b="0" i="0" u="none" strike="noStrike" cap="none" dirty="0" err="1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ရဲ</a:t>
            </a:r>
            <a:r>
              <a:rPr lang="en-US" sz="1650" b="0" i="0" u="none" strike="noStrike" cap="none" dirty="0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အဓိက</a:t>
            </a:r>
            <a:r>
              <a:rPr lang="en-US" sz="1650" b="0" i="0" u="none" strike="noStrike" cap="none" dirty="0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သဘောတရားက</a:t>
            </a:r>
            <a:r>
              <a:rPr lang="en-US" sz="1650" b="0" i="0" u="none" strike="noStrike" cap="none" dirty="0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Data </a:t>
            </a:r>
            <a:r>
              <a:rPr lang="en-US" sz="1650" b="0" i="0" u="none" strike="noStrike" cap="none" dirty="0" err="1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တွေကို</a:t>
            </a:r>
            <a:r>
              <a:rPr lang="en-US" sz="1650" b="0" i="0" u="none" strike="noStrike" cap="none" dirty="0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အတွဲလိုက</a:t>
            </a:r>
            <a:r>
              <a:rPr lang="en-US" sz="1650" b="0" i="0" u="none" strike="noStrike" cap="none" dirty="0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0" u="none" strike="noStrike" cap="none" dirty="0" err="1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သိမ်းတာပ</a:t>
            </a:r>
            <a:r>
              <a:rPr lang="en-US" sz="1650" b="0" i="0" u="none" strike="noStrike" cap="none" dirty="0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ါ။</a:t>
            </a:r>
            <a:endParaRPr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971550" y="2370661"/>
            <a:ext cx="47205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95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</a:t>
            </a:r>
            <a:endParaRPr dirty="0"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671887" y="6202263"/>
            <a:ext cx="23622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34087" y="6202263"/>
            <a:ext cx="248602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5837" y="2394472"/>
            <a:ext cx="266700" cy="266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D48DD3B-60D7-D5C8-522D-23B706429D33}"/>
              </a:ext>
            </a:extLst>
          </p:cNvPr>
          <p:cNvGrpSpPr/>
          <p:nvPr/>
        </p:nvGrpSpPr>
        <p:grpSpPr>
          <a:xfrm>
            <a:off x="971550" y="3105447"/>
            <a:ext cx="4495800" cy="2292634"/>
            <a:chOff x="971550" y="3105447"/>
            <a:chExt cx="4495800" cy="2292634"/>
          </a:xfrm>
        </p:grpSpPr>
        <p:sp>
          <p:nvSpPr>
            <p:cNvPr id="122" name="Google Shape;122;p16"/>
            <p:cNvSpPr txBox="1"/>
            <p:nvPr/>
          </p:nvSpPr>
          <p:spPr>
            <a:xfrm>
              <a:off x="971550" y="3105447"/>
              <a:ext cx="4495800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ကိုယ်ရှာချင်တဲ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အမည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(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့) Identifier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ဖြစ်ပါတယ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0888B62-912F-59B0-C714-BBDCD8C9B3D2}"/>
                </a:ext>
              </a:extLst>
            </p:cNvPr>
            <p:cNvGrpSpPr/>
            <p:nvPr/>
          </p:nvGrpSpPr>
          <p:grpSpPr>
            <a:xfrm>
              <a:off x="1076325" y="3817952"/>
              <a:ext cx="4391025" cy="670321"/>
              <a:chOff x="1076325" y="4013894"/>
              <a:chExt cx="4391025" cy="670321"/>
            </a:xfrm>
          </p:grpSpPr>
          <p:sp>
            <p:nvSpPr>
              <p:cNvPr id="128" name="Google Shape;128;p16"/>
              <p:cNvSpPr txBox="1"/>
              <p:nvPr/>
            </p:nvSpPr>
            <p:spPr>
              <a:xfrm>
                <a:off x="1076325" y="4047505"/>
                <a:ext cx="85725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•</a:t>
                </a:r>
                <a:endParaRPr dirty="0"/>
              </a:p>
            </p:txBody>
          </p:sp>
          <p:sp>
            <p:nvSpPr>
              <p:cNvPr id="129" name="Google Shape;129;p16"/>
              <p:cNvSpPr txBox="1"/>
              <p:nvPr/>
            </p:nvSpPr>
            <p:spPr>
              <a:xfrm>
                <a:off x="1162050" y="4013894"/>
                <a:ext cx="4305300" cy="6703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5725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Key </a:t>
                </a:r>
                <a:r>
                  <a:rPr lang="en-US" sz="1650" b="0" i="0" u="none" strike="noStrike" cap="none" dirty="0" err="1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တွေဟာ</a:t>
                </a:r>
                <a:r>
                  <a:rPr lang="en-US" sz="1650" b="0" i="0" u="none" strike="noStrike" cap="none" dirty="0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</a:t>
                </a:r>
                <a:r>
                  <a:rPr lang="en-US" sz="1650" b="1" i="0" u="none" strike="noStrike" cap="none" dirty="0">
                    <a:solidFill>
                      <a:srgbClr val="F0F6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Unique</a:t>
                </a:r>
                <a:r>
                  <a:rPr lang="en-US" sz="1650" b="0" i="0" u="none" strike="noStrike" cap="none" dirty="0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</a:t>
                </a:r>
                <a:r>
                  <a:rPr lang="en-US" sz="1650" b="0" i="0" u="none" strike="noStrike" cap="none" dirty="0" err="1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ဖြစ်ရပါမယ</a:t>
                </a:r>
                <a:r>
                  <a:rPr lang="en-US" sz="1650" b="0" i="0" u="none" strike="noStrike" cap="none" dirty="0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်။ (</a:t>
                </a:r>
                <a:r>
                  <a:rPr lang="en-US" sz="1650" b="0" i="0" u="none" strike="noStrike" cap="none" dirty="0" err="1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နာမည်တူ</a:t>
                </a:r>
                <a:r>
                  <a:rPr lang="en-US" sz="1650" b="0" i="0" u="none" strike="noStrike" cap="none" dirty="0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</a:t>
                </a:r>
                <a:r>
                  <a:rPr lang="en-US" sz="1650" b="0" i="0" u="none" strike="noStrike" cap="none" dirty="0" err="1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ရှိလို့မရပ</a:t>
                </a:r>
                <a:r>
                  <a:rPr lang="en-US" sz="1650" b="0" i="0" u="none" strike="noStrike" cap="none" dirty="0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ါ)</a:t>
                </a:r>
                <a:endParaRPr dirty="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95A59EB-80A3-E004-3D5A-C8C9CE363642}"/>
                </a:ext>
              </a:extLst>
            </p:cNvPr>
            <p:cNvGrpSpPr/>
            <p:nvPr/>
          </p:nvGrpSpPr>
          <p:grpSpPr>
            <a:xfrm>
              <a:off x="1076325" y="4727760"/>
              <a:ext cx="4391025" cy="670321"/>
              <a:chOff x="1076325" y="4684216"/>
              <a:chExt cx="4391025" cy="670321"/>
            </a:xfrm>
          </p:grpSpPr>
          <p:sp>
            <p:nvSpPr>
              <p:cNvPr id="130" name="Google Shape;130;p16"/>
              <p:cNvSpPr txBox="1"/>
              <p:nvPr/>
            </p:nvSpPr>
            <p:spPr>
              <a:xfrm>
                <a:off x="1076325" y="4728712"/>
                <a:ext cx="85725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•</a:t>
                </a:r>
                <a:endParaRPr dirty="0"/>
              </a:p>
            </p:txBody>
          </p:sp>
          <p:sp>
            <p:nvSpPr>
              <p:cNvPr id="131" name="Google Shape;131;p16"/>
              <p:cNvSpPr txBox="1"/>
              <p:nvPr/>
            </p:nvSpPr>
            <p:spPr>
              <a:xfrm>
                <a:off x="1162050" y="4684216"/>
                <a:ext cx="4305300" cy="6703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5725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များသောအားဖြင့် String တွေကို သုံးကြပါတယ်။</a:t>
                </a:r>
                <a:endParaRPr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97065AE-6442-9B03-C23D-0F819D850EE6}"/>
              </a:ext>
            </a:extLst>
          </p:cNvPr>
          <p:cNvGrpSpPr/>
          <p:nvPr/>
        </p:nvGrpSpPr>
        <p:grpSpPr>
          <a:xfrm>
            <a:off x="6724650" y="2381546"/>
            <a:ext cx="4720590" cy="323165"/>
            <a:chOff x="6724650" y="2549128"/>
            <a:chExt cx="4720590" cy="323165"/>
          </a:xfrm>
        </p:grpSpPr>
        <p:sp>
          <p:nvSpPr>
            <p:cNvPr id="123" name="Google Shape;123;p16"/>
            <p:cNvSpPr txBox="1"/>
            <p:nvPr/>
          </p:nvSpPr>
          <p:spPr>
            <a:xfrm>
              <a:off x="6724650" y="2549128"/>
              <a:ext cx="4720590" cy="323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625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34D39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Value </a:t>
              </a:r>
              <a:endParaRPr dirty="0"/>
            </a:p>
          </p:txBody>
        </p:sp>
        <p:pic>
          <p:nvPicPr>
            <p:cNvPr id="132" name="Google Shape;132;p16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748462" y="2565439"/>
              <a:ext cx="333375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BCF0E0F-AA5B-C7B2-F4A7-877F704C3D12}"/>
              </a:ext>
            </a:extLst>
          </p:cNvPr>
          <p:cNvGrpSpPr/>
          <p:nvPr/>
        </p:nvGrpSpPr>
        <p:grpSpPr>
          <a:xfrm>
            <a:off x="6724650" y="3093839"/>
            <a:ext cx="4495800" cy="2136661"/>
            <a:chOff x="6724650" y="3093839"/>
            <a:chExt cx="4495800" cy="2136661"/>
          </a:xfrm>
        </p:grpSpPr>
        <p:sp>
          <p:nvSpPr>
            <p:cNvPr id="124" name="Google Shape;124;p16"/>
            <p:cNvSpPr txBox="1"/>
            <p:nvPr/>
          </p:nvSpPr>
          <p:spPr>
            <a:xfrm>
              <a:off x="6724650" y="3093839"/>
              <a:ext cx="4495800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Key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နဲ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တွဲပြီး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သိမ်းထားချင်တဲ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Data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အစစ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ဖြစ်ပါတယ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F1E684F-D40D-F4E8-BC05-2522881029BA}"/>
                </a:ext>
              </a:extLst>
            </p:cNvPr>
            <p:cNvGrpSpPr/>
            <p:nvPr/>
          </p:nvGrpSpPr>
          <p:grpSpPr>
            <a:xfrm>
              <a:off x="6829425" y="4049911"/>
              <a:ext cx="4391025" cy="388757"/>
              <a:chOff x="6829425" y="4049911"/>
              <a:chExt cx="4391025" cy="388757"/>
            </a:xfrm>
          </p:grpSpPr>
          <p:sp>
            <p:nvSpPr>
              <p:cNvPr id="133" name="Google Shape;133;p16"/>
              <p:cNvSpPr txBox="1"/>
              <p:nvPr/>
            </p:nvSpPr>
            <p:spPr>
              <a:xfrm>
                <a:off x="6829425" y="4105293"/>
                <a:ext cx="85725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•</a:t>
                </a:r>
                <a:endParaRPr dirty="0"/>
              </a:p>
            </p:txBody>
          </p:sp>
          <p:sp>
            <p:nvSpPr>
              <p:cNvPr id="134" name="Google Shape;134;p16"/>
              <p:cNvSpPr txBox="1"/>
              <p:nvPr/>
            </p:nvSpPr>
            <p:spPr>
              <a:xfrm>
                <a:off x="6915150" y="4049911"/>
                <a:ext cx="4305300" cy="335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5725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Value တွေက တူချင်လည်း တူလို့ရပါတယ်။</a:t>
                </a:r>
                <a:endParaRPr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6356EAC-4F02-B11A-C58D-E10C0D74B1C9}"/>
                </a:ext>
              </a:extLst>
            </p:cNvPr>
            <p:cNvGrpSpPr/>
            <p:nvPr/>
          </p:nvGrpSpPr>
          <p:grpSpPr>
            <a:xfrm>
              <a:off x="6829425" y="4539360"/>
              <a:ext cx="4391025" cy="691140"/>
              <a:chOff x="6829425" y="4539360"/>
              <a:chExt cx="4391025" cy="691140"/>
            </a:xfrm>
          </p:grpSpPr>
          <p:sp>
            <p:nvSpPr>
              <p:cNvPr id="135" name="Google Shape;135;p16"/>
              <p:cNvSpPr txBox="1"/>
              <p:nvPr/>
            </p:nvSpPr>
            <p:spPr>
              <a:xfrm>
                <a:off x="6829425" y="4539360"/>
                <a:ext cx="85725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•</a:t>
                </a:r>
                <a:endParaRPr dirty="0"/>
              </a:p>
            </p:txBody>
          </p:sp>
          <p:sp>
            <p:nvSpPr>
              <p:cNvPr id="136" name="Google Shape;136;p16"/>
              <p:cNvSpPr txBox="1"/>
              <p:nvPr/>
            </p:nvSpPr>
            <p:spPr>
              <a:xfrm>
                <a:off x="6915150" y="4560179"/>
                <a:ext cx="4305300" cy="6703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5725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Number, String, Array </a:t>
                </a:r>
                <a:r>
                  <a:rPr lang="en-US" sz="1650" b="0" i="0" u="none" strike="noStrike" cap="none" dirty="0" err="1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စတဲ</a:t>
                </a:r>
                <a:r>
                  <a:rPr lang="en-US" sz="1650" b="0" i="0" u="none" strike="noStrike" cap="none" dirty="0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့ </a:t>
                </a:r>
                <a:r>
                  <a:rPr lang="en-US" sz="1650" b="0" i="0" u="none" strike="noStrike" cap="none" dirty="0" err="1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ကြိုက်တဲ</a:t>
                </a:r>
                <a:r>
                  <a:rPr lang="en-US" sz="1650" b="0" i="0" u="none" strike="noStrike" cap="none" dirty="0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့ Data Type </a:t>
                </a:r>
                <a:r>
                  <a:rPr lang="en-US" sz="1650" b="0" i="0" u="none" strike="noStrike" cap="none" dirty="0" err="1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ထည</a:t>
                </a:r>
                <a:r>
                  <a:rPr lang="en-US" sz="1650" b="0" i="0" u="none" strike="noStrike" cap="none" dirty="0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့်</a:t>
                </a:r>
                <a:r>
                  <a:rPr lang="en-US" sz="1650" b="0" i="0" u="none" strike="noStrike" cap="none" dirty="0" err="1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လို့ရပါတယ</a:t>
                </a:r>
                <a:r>
                  <a:rPr lang="en-US" sz="1650" b="0" i="0" u="none" strike="noStrike" cap="none" dirty="0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်။</a:t>
                </a:r>
                <a:endParaRPr dirty="0"/>
              </a:p>
            </p:txBody>
          </p:sp>
        </p:grpSp>
      </p:grpSp>
      <p:sp>
        <p:nvSpPr>
          <p:cNvPr id="137" name="Google Shape;137;p16"/>
          <p:cNvSpPr txBox="1"/>
          <p:nvPr/>
        </p:nvSpPr>
        <p:spPr>
          <a:xfrm>
            <a:off x="581025" y="354781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Key-Value Pairs (</a:t>
            </a:r>
            <a:r>
              <a:rPr lang="en-US" sz="3150" b="0" i="0" u="none" strike="noStrike" cap="none" dirty="0" err="1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အတွဲလိုက</a:t>
            </a:r>
            <a:r>
              <a:rPr lang="en-US" sz="3150" b="0" i="0" u="none" strike="noStrike" cap="none" dirty="0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 </a:t>
            </a:r>
            <a:r>
              <a:rPr lang="en-US" sz="3150" b="0" i="0" u="none" strike="noStrike" cap="none" dirty="0" err="1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သိမ်းခြင်း</a:t>
            </a:r>
            <a:r>
              <a:rPr lang="en-US" sz="3150" b="0" i="0" u="none" strike="noStrike" cap="none" dirty="0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)</a:t>
            </a:r>
            <a:endParaRPr dirty="0"/>
          </a:p>
        </p:txBody>
      </p:sp>
      <p:sp>
        <p:nvSpPr>
          <p:cNvPr id="138" name="Google Shape;138;p16"/>
          <p:cNvSpPr/>
          <p:nvPr/>
        </p:nvSpPr>
        <p:spPr>
          <a:xfrm>
            <a:off x="581025" y="1093886"/>
            <a:ext cx="110299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72108" y="4605337"/>
            <a:ext cx="23812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80963" y="2427262"/>
            <a:ext cx="4963500" cy="1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 dirty="0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O(1)</a:t>
            </a:r>
            <a:endParaRPr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6115942" y="1883568"/>
            <a:ext cx="576978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ချက်ချင်း</a:t>
            </a:r>
            <a:r>
              <a:rPr lang="en-US" sz="2100" b="0" i="0" u="none" strike="noStrike" cap="none" dirty="0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2100" b="0" i="0" u="none" strike="noStrike" cap="none" dirty="0" err="1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ရှာတွေ့နိုင်သည</a:t>
            </a:r>
            <a:r>
              <a:rPr lang="en-US" sz="2100" b="0" i="0" u="none" strike="noStrike" cap="none" dirty="0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</a:t>
            </a:r>
            <a:endParaRPr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5B23A43-A16D-BF64-F8C4-45562BF87651}"/>
              </a:ext>
            </a:extLst>
          </p:cNvPr>
          <p:cNvGrpSpPr/>
          <p:nvPr/>
        </p:nvGrpSpPr>
        <p:grpSpPr>
          <a:xfrm>
            <a:off x="6115942" y="2607468"/>
            <a:ext cx="5495032" cy="1818679"/>
            <a:chOff x="6115942" y="2607468"/>
            <a:chExt cx="5495032" cy="1818679"/>
          </a:xfrm>
        </p:grpSpPr>
        <p:sp>
          <p:nvSpPr>
            <p:cNvPr id="147" name="Google Shape;147;p17"/>
            <p:cNvSpPr txBox="1"/>
            <p:nvPr/>
          </p:nvSpPr>
          <p:spPr>
            <a:xfrm>
              <a:off x="6115942" y="2607468"/>
              <a:ext cx="5495032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Array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ထဲမှာ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Data ၁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သန်း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ရှိရင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ရှာဖို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အကြိမ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၁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သန်း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(O(n))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အချိန်ယူရနိုင်ပါတယ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6115942" y="3420665"/>
              <a:ext cx="5495032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Hash Table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မှာတော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Data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ဘယ်လောက်များများ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၊ </a:t>
              </a: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Key </a:t>
              </a:r>
              <a:r>
                <a:rPr lang="en-US" sz="1650" b="1" i="0" u="none" strike="noStrike" cap="none" dirty="0" err="1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သိတာနဲ</a:t>
              </a: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Value </a:t>
              </a:r>
              <a:r>
                <a:rPr lang="en-US" sz="1650" b="1" i="0" u="none" strike="noStrike" cap="none" dirty="0" err="1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ချက်ချင်း</a:t>
              </a: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လှမ်းယူလို့ရတဲ့အတွက</a:t>
              </a: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O(1)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အချိန်ပဲ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ယူပါတယ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3F6BA35-2377-62C2-F288-DD180BA28768}"/>
              </a:ext>
            </a:extLst>
          </p:cNvPr>
          <p:cNvGrpSpPr/>
          <p:nvPr/>
        </p:nvGrpSpPr>
        <p:grpSpPr>
          <a:xfrm>
            <a:off x="6115942" y="4781441"/>
            <a:ext cx="3505200" cy="1446281"/>
            <a:chOff x="6115942" y="4781441"/>
            <a:chExt cx="3505200" cy="144628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8EF6CA1-2394-9F55-539E-F0E6E0F19E60}"/>
                </a:ext>
              </a:extLst>
            </p:cNvPr>
            <p:cNvGrpSpPr/>
            <p:nvPr/>
          </p:nvGrpSpPr>
          <p:grpSpPr>
            <a:xfrm>
              <a:off x="6115942" y="4781441"/>
              <a:ext cx="3505200" cy="314485"/>
              <a:chOff x="6115942" y="4624200"/>
              <a:chExt cx="3505200" cy="345934"/>
            </a:xfrm>
          </p:grpSpPr>
          <p:sp>
            <p:nvSpPr>
              <p:cNvPr id="149" name="Google Shape;149;p17"/>
              <p:cNvSpPr txBox="1"/>
              <p:nvPr/>
            </p:nvSpPr>
            <p:spPr>
              <a:xfrm>
                <a:off x="6639820" y="4624200"/>
                <a:ext cx="2166900" cy="2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 dirty="0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Insert (</a:t>
                </a:r>
                <a:r>
                  <a:rPr lang="en-US" sz="1650" b="0" i="0" u="none" strike="noStrike" cap="none" dirty="0" err="1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အသစ်ထည</a:t>
                </a:r>
                <a:r>
                  <a:rPr lang="en-US" sz="1650" b="0" i="0" u="none" strike="noStrike" cap="none" dirty="0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့်) →</a:t>
                </a:r>
                <a:endParaRPr dirty="0"/>
              </a:p>
            </p:txBody>
          </p:sp>
          <p:pic>
            <p:nvPicPr>
              <p:cNvPr id="152" name="Google Shape;152;p17" descr="image.png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6115942" y="4693529"/>
                <a:ext cx="219075" cy="2571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53" name="Google Shape;153;p17"/>
              <p:cNvGrpSpPr/>
              <p:nvPr/>
            </p:nvGrpSpPr>
            <p:grpSpPr>
              <a:xfrm>
                <a:off x="8897242" y="4732009"/>
                <a:ext cx="723900" cy="238125"/>
                <a:chOff x="8897242" y="4664273"/>
                <a:chExt cx="723900" cy="238125"/>
              </a:xfrm>
            </p:grpSpPr>
            <p:pic>
              <p:nvPicPr>
                <p:cNvPr id="154" name="Google Shape;154;p17" descr="image.png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/>
                <a:stretch/>
              </p:blipFill>
              <p:spPr>
                <a:xfrm>
                  <a:off x="8897242" y="4664273"/>
                  <a:ext cx="7239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55" name="Google Shape;155;p17" descr="image.png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/>
                <a:stretch/>
              </p:blipFill>
              <p:spPr>
                <a:xfrm>
                  <a:off x="9002017" y="4692848"/>
                  <a:ext cx="514350" cy="1809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7A64FD4-DB8A-3225-4E79-8DB72D3A3A83}"/>
                </a:ext>
              </a:extLst>
            </p:cNvPr>
            <p:cNvGrpSpPr/>
            <p:nvPr/>
          </p:nvGrpSpPr>
          <p:grpSpPr>
            <a:xfrm>
              <a:off x="6115942" y="5347165"/>
              <a:ext cx="3095625" cy="314485"/>
              <a:chOff x="6115942" y="5189925"/>
              <a:chExt cx="3095625" cy="345933"/>
            </a:xfrm>
          </p:grpSpPr>
          <p:sp>
            <p:nvSpPr>
              <p:cNvPr id="150" name="Google Shape;150;p17"/>
              <p:cNvSpPr txBox="1"/>
              <p:nvPr/>
            </p:nvSpPr>
            <p:spPr>
              <a:xfrm>
                <a:off x="6639820" y="5189925"/>
                <a:ext cx="1809900" cy="2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Lookup (ရှာဖွေ) →</a:t>
                </a:r>
                <a:endParaRPr/>
              </a:p>
            </p:txBody>
          </p:sp>
          <p:pic>
            <p:nvPicPr>
              <p:cNvPr id="156" name="Google Shape;156;p17" descr="image.png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6115942" y="5255929"/>
                <a:ext cx="219075" cy="2571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57" name="Google Shape;157;p17"/>
              <p:cNvGrpSpPr/>
              <p:nvPr/>
            </p:nvGrpSpPr>
            <p:grpSpPr>
              <a:xfrm>
                <a:off x="8487667" y="5297733"/>
                <a:ext cx="723900" cy="238125"/>
                <a:chOff x="8487667" y="5237559"/>
                <a:chExt cx="723900" cy="238125"/>
              </a:xfrm>
            </p:grpSpPr>
            <p:pic>
              <p:nvPicPr>
                <p:cNvPr id="158" name="Google Shape;158;p17" descr="image.png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/>
                <a:stretch/>
              </p:blipFill>
              <p:spPr>
                <a:xfrm>
                  <a:off x="8487667" y="5237559"/>
                  <a:ext cx="7239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59" name="Google Shape;159;p17" descr="image.png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/>
                <a:stretch/>
              </p:blipFill>
              <p:spPr>
                <a:xfrm>
                  <a:off x="8592442" y="5266134"/>
                  <a:ext cx="514350" cy="1809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AF21598-7F45-E134-926A-DE3197B42C21}"/>
                </a:ext>
              </a:extLst>
            </p:cNvPr>
            <p:cNvGrpSpPr/>
            <p:nvPr/>
          </p:nvGrpSpPr>
          <p:grpSpPr>
            <a:xfrm>
              <a:off x="6115942" y="5920121"/>
              <a:ext cx="2952750" cy="307601"/>
              <a:chOff x="6115942" y="5763225"/>
              <a:chExt cx="2952750" cy="338361"/>
            </a:xfrm>
          </p:grpSpPr>
          <p:sp>
            <p:nvSpPr>
              <p:cNvPr id="151" name="Google Shape;151;p17"/>
              <p:cNvSpPr txBox="1"/>
              <p:nvPr/>
            </p:nvSpPr>
            <p:spPr>
              <a:xfrm>
                <a:off x="6639820" y="5763225"/>
                <a:ext cx="1600200" cy="2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C9D1D9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Delete (ဖျက်) →</a:t>
                </a:r>
                <a:endParaRPr/>
              </a:p>
            </p:txBody>
          </p:sp>
          <p:pic>
            <p:nvPicPr>
              <p:cNvPr id="160" name="Google Shape;160;p17" descr="image.png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6115942" y="5818329"/>
                <a:ext cx="219075" cy="2571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61" name="Google Shape;161;p17"/>
              <p:cNvGrpSpPr/>
              <p:nvPr/>
            </p:nvGrpSpPr>
            <p:grpSpPr>
              <a:xfrm>
                <a:off x="8344792" y="5863461"/>
                <a:ext cx="723900" cy="238125"/>
                <a:chOff x="8344792" y="5810845"/>
                <a:chExt cx="723900" cy="238125"/>
              </a:xfrm>
            </p:grpSpPr>
            <p:pic>
              <p:nvPicPr>
                <p:cNvPr id="162" name="Google Shape;162;p17" descr="image.png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/>
                <a:stretch/>
              </p:blipFill>
              <p:spPr>
                <a:xfrm>
                  <a:off x="8344792" y="5810845"/>
                  <a:ext cx="723900" cy="2381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63" name="Google Shape;163;p17" descr="image.png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/>
                <a:stretch/>
              </p:blipFill>
              <p:spPr>
                <a:xfrm>
                  <a:off x="8472246" y="5854539"/>
                  <a:ext cx="514350" cy="1809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164" name="Google Shape;164;p17"/>
          <p:cNvSpPr txBox="1"/>
          <p:nvPr/>
        </p:nvSpPr>
        <p:spPr>
          <a:xfrm>
            <a:off x="581025" y="521493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အမြန်ဆုံး Data Structure 🚀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581025" y="1540668"/>
            <a:ext cx="110299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81025" y="581025"/>
            <a:ext cx="5540692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ဘယ်လိုလုပ် O(1) ရတာလဲ? 🪄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81025" y="1600200"/>
            <a:ext cx="52768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581025" y="1943100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နောက်ကွယ်မှာ </a:t>
            </a:r>
            <a:r>
              <a:rPr lang="en-US" sz="1650" b="1" i="0" u="none" strike="noStrike" cap="none">
                <a:solidFill>
                  <a:srgbClr val="A855F7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Hash Function</a:t>
            </a:r>
            <a:r>
              <a:rPr lang="en-US" sz="1650" b="0" i="0" u="none" strike="noStrike" cap="none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ဆိုတဲ့ မှော်စက်ရုံလေး တစ်ခုရှိပါတယ်။</a:t>
            </a:r>
            <a:endParaRPr/>
          </a:p>
        </p:txBody>
      </p:sp>
      <p:grpSp>
        <p:nvGrpSpPr>
          <p:cNvPr id="174" name="Google Shape;174;p18"/>
          <p:cNvGrpSpPr/>
          <p:nvPr/>
        </p:nvGrpSpPr>
        <p:grpSpPr>
          <a:xfrm>
            <a:off x="6378350" y="5221773"/>
            <a:ext cx="5276850" cy="1386482"/>
            <a:chOff x="581025" y="6197798"/>
            <a:chExt cx="5276850" cy="1386482"/>
          </a:xfrm>
        </p:grpSpPr>
        <p:pic>
          <p:nvPicPr>
            <p:cNvPr id="175" name="Google Shape;175;p18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6197798"/>
              <a:ext cx="5276850" cy="13864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18"/>
            <p:cNvSpPr txBox="1"/>
            <p:nvPr/>
          </p:nvSpPr>
          <p:spPr>
            <a:xfrm>
              <a:off x="857250" y="6312096"/>
              <a:ext cx="47625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ဒါကြောင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 "apple"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ပြန်ရှာချင်ရင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စက်ရုံထဲပြန်ထည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့်၊ Index 4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ဆိုတာ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ချက်ချင်းသိပြီး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တိုက်ရိုက်သွားယူလို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ရတာဖြစ်ပါတယ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E0AB3B7-C74F-F17C-FFD0-B4BA201121F0}"/>
              </a:ext>
            </a:extLst>
          </p:cNvPr>
          <p:cNvGrpSpPr/>
          <p:nvPr/>
        </p:nvGrpSpPr>
        <p:grpSpPr>
          <a:xfrm>
            <a:off x="1104900" y="2946796"/>
            <a:ext cx="4752975" cy="2822376"/>
            <a:chOff x="1104900" y="2946796"/>
            <a:chExt cx="4752975" cy="2822376"/>
          </a:xfrm>
        </p:grpSpPr>
        <p:sp>
          <p:nvSpPr>
            <p:cNvPr id="177" name="Google Shape;177;p18"/>
            <p:cNvSpPr txBox="1"/>
            <p:nvPr/>
          </p:nvSpPr>
          <p:spPr>
            <a:xfrm>
              <a:off x="1104900" y="2946796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FBBF2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Key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ဥပမာ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"apple")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Hash Function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စက်ရုံထဲ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ထည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လိုက်ပါတယ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1104900" y="3855243"/>
              <a:ext cx="475297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စက်ရုံကနေ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အဲ့ဒီ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Key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တွက်ချက်ပြီး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ကိန်းဂဏန်းတစ်ခု</a:t>
              </a:r>
              <a:r>
                <a:rPr lang="en-US" sz="1650" b="1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(Index)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အဖြစ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ပြောင်းပေးလိုက်ပါတယ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 (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ဥပမာ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Index 4)</a:t>
              </a:r>
              <a:endParaRPr dirty="0"/>
            </a:p>
          </p:txBody>
        </p:sp>
        <p:sp>
          <p:nvSpPr>
            <p:cNvPr id="179" name="Google Shape;179;p18"/>
            <p:cNvSpPr txBox="1"/>
            <p:nvPr/>
          </p:nvSpPr>
          <p:spPr>
            <a:xfrm>
              <a:off x="1104900" y="5098851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အဲ့ဒီ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Index 4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ဆိုတဲ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နေရာ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(Memory Address)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မှာ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Value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တိုက်ရိုက်သွားသိမ်းလိုက်တာပ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ါ။</a:t>
              </a:r>
              <a:endParaRPr dirty="0"/>
            </a:p>
          </p:txBody>
        </p:sp>
      </p:grpSp>
      <p:pic>
        <p:nvPicPr>
          <p:cNvPr id="180" name="Google Shape;180;p18" descr="ဘယ်လိုလုပ် O(1) ရတာလဲ? 🪄&#10;နောက်ကွယ်မှာ Hash Function ဆိုတဲ့ မှော်စက်ရုံလေး တစ်ခုရှိပါတယ်။&#10;Key (ဥပမာ &quot;apple&quot;) ကို Hash Function စက်ရုံထဲ ထည့်လိုက်ပါတယ်။&#10;စက်ရုံကနေ အဲ့ဒီ Key ကို တွက်ချက်ပြီး ကိန်းဂဏန်းတစ်ခု (Index) အဖြစ် ပြောင်းပေးလိုက်ပါတယ်။ (ဥပမာ Index 4)&#10;အဲ့ဒီ Index 4 ဆိုတဲ့ နေရာ (Memory Address) မှာ Value ကို တိုက်ရိုက်သွားသိမ်းလိုက်တာပါ။&#10;"/>
          <p:cNvPicPr preferRelativeResize="0"/>
          <p:nvPr/>
        </p:nvPicPr>
        <p:blipFill rotWithShape="1">
          <a:blip r:embed="rId6">
            <a:alphaModFix/>
          </a:blip>
          <a:srcRect b="45805"/>
          <a:stretch/>
        </p:blipFill>
        <p:spPr>
          <a:xfrm>
            <a:off x="6578375" y="2107500"/>
            <a:ext cx="4876800" cy="26430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49C9FBF-E4D9-4394-23F3-971156320C4E}"/>
              </a:ext>
            </a:extLst>
          </p:cNvPr>
          <p:cNvGrpSpPr/>
          <p:nvPr/>
        </p:nvGrpSpPr>
        <p:grpSpPr>
          <a:xfrm>
            <a:off x="581025" y="2115751"/>
            <a:ext cx="5372101" cy="4293050"/>
            <a:chOff x="581025" y="2115751"/>
            <a:chExt cx="5372101" cy="4293050"/>
          </a:xfrm>
        </p:grpSpPr>
        <p:pic>
          <p:nvPicPr>
            <p:cNvPr id="186" name="Google Shape;186;p19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115751"/>
              <a:ext cx="5372101" cy="4293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9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76300" y="2506265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19"/>
            <p:cNvSpPr txBox="1"/>
            <p:nvPr/>
          </p:nvSpPr>
          <p:spPr>
            <a:xfrm>
              <a:off x="876300" y="3506390"/>
              <a:ext cx="3120390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7B7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ပြဿနာ (The Problem)</a:t>
              </a:r>
              <a:endParaRPr/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876300" y="4230290"/>
              <a:ext cx="4781550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တခါတလေမှာ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Key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နှစ်ခု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ဥပမာ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"apple"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နဲ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"mango")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Hash Function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ထဲဝင်သွားတဲ့အခ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 </a:t>
              </a:r>
              <a:r>
                <a:rPr lang="en-US" sz="1650" b="1" i="0" u="none" strike="noStrike" cap="none" dirty="0" err="1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ထွက်လာတဲ</a:t>
              </a: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Index </a:t>
              </a:r>
              <a:r>
                <a:rPr lang="en-US" sz="1650" b="1" i="0" u="none" strike="noStrike" cap="none" dirty="0" err="1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နံပါတ</a:t>
              </a: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1" i="0" u="none" strike="noStrike" cap="none" dirty="0" err="1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တူသွားတတ်ပါတယ</a:t>
              </a: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အဲ့ဒါကို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Collision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ဖြစ်တယ်လို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ခေ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ပါတယ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94" name="Google Shape;194;p19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81075" y="2668190"/>
              <a:ext cx="552450" cy="438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1697275-1AD6-1946-B63A-F81ADC7E429F}"/>
              </a:ext>
            </a:extLst>
          </p:cNvPr>
          <p:cNvGrpSpPr/>
          <p:nvPr/>
        </p:nvGrpSpPr>
        <p:grpSpPr>
          <a:xfrm>
            <a:off x="6238875" y="2115751"/>
            <a:ext cx="5372101" cy="4293050"/>
            <a:chOff x="6238875" y="2115751"/>
            <a:chExt cx="5372101" cy="4293050"/>
          </a:xfrm>
        </p:grpSpPr>
        <p:pic>
          <p:nvPicPr>
            <p:cNvPr id="187" name="Google Shape;187;p19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238875" y="2115751"/>
              <a:ext cx="5372101" cy="4293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19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534150" y="2506265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19"/>
            <p:cNvSpPr txBox="1"/>
            <p:nvPr/>
          </p:nvSpPr>
          <p:spPr>
            <a:xfrm>
              <a:off x="6534150" y="3506390"/>
              <a:ext cx="3160395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34D39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ဖြေရှင်းနည်း (Chaining)</a:t>
              </a:r>
              <a:endParaRPr/>
            </a:p>
          </p:txBody>
        </p:sp>
        <p:sp>
          <p:nvSpPr>
            <p:cNvPr id="193" name="Google Shape;193;p19"/>
            <p:cNvSpPr txBox="1"/>
            <p:nvPr/>
          </p:nvSpPr>
          <p:spPr>
            <a:xfrm>
              <a:off x="6534150" y="4230290"/>
              <a:ext cx="4781550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အခန်းနံပါတ် တူသွားရင် အခန်းထဲမှာ ဒုတိယရောက်လာတဲ့ကောင်ကို ဖျက်မပစ်ဘဲ၊ ပထမကောင်ရဲ့ အနောက်မှာ </a:t>
              </a:r>
              <a:r>
                <a:rPr lang="en-US" sz="1650" b="1" i="0" u="none" strike="noStrike" cap="none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Linked List</a:t>
              </a:r>
              <a:r>
                <a:rPr lang="en-US" sz="1650" b="0" i="0" u="none" strike="noStrike" cap="none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လေးနဲ့ ဆက်ချိတ်ပြီး သိမ်းထားလိုက်တဲ့ နည်းကို အသုံးများပါတယ်။</a:t>
              </a:r>
              <a:endParaRPr/>
            </a:p>
          </p:txBody>
        </p:sp>
        <p:pic>
          <p:nvPicPr>
            <p:cNvPr id="195" name="Google Shape;195;p19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638925" y="2668190"/>
              <a:ext cx="552450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" name="Google Shape;196;p19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Collisions (တိုက်ဆိုင်မှုများ) 💥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2A925BE-07D4-D12B-2591-CBDC5CAE2003}"/>
              </a:ext>
            </a:extLst>
          </p:cNvPr>
          <p:cNvGrpSpPr/>
          <p:nvPr/>
        </p:nvGrpSpPr>
        <p:grpSpPr>
          <a:xfrm>
            <a:off x="1809750" y="2230190"/>
            <a:ext cx="8572575" cy="769590"/>
            <a:chOff x="1809750" y="2575024"/>
            <a:chExt cx="8572575" cy="769590"/>
          </a:xfrm>
        </p:grpSpPr>
        <p:sp>
          <p:nvSpPr>
            <p:cNvPr id="203" name="Google Shape;203;p20"/>
            <p:cNvSpPr txBox="1"/>
            <p:nvPr/>
          </p:nvSpPr>
          <p:spPr>
            <a:xfrm>
              <a:off x="2333625" y="2575024"/>
              <a:ext cx="80487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Array </a:t>
              </a:r>
              <a:r>
                <a:rPr lang="en-US" sz="1650" b="1" i="0" u="none" strike="noStrike" cap="none" dirty="0" err="1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သုံးသင</a:t>
              </a: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1" i="0" u="none" strike="noStrike" cap="none" dirty="0" err="1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တဲ</a:t>
              </a: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1" i="0" u="none" strike="noStrike" cap="none" dirty="0" err="1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အချိန</a:t>
              </a: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်: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Data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တွေကို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အစဉ်လိုက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(Order)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အတိုင်း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သိမ်းချင်တဲ့အခ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ါ၊ </a:t>
              </a:r>
              <a:endParaRPr sz="1650" b="0" i="0" u="none" strike="noStrike" cap="none" dirty="0">
                <a:solidFill>
                  <a:srgbClr val="C9D1D9"/>
                </a:solidFill>
                <a:latin typeface="Noto Sans Myanmar"/>
                <a:ea typeface="Noto Sans Myanmar"/>
                <a:cs typeface="Noto Sans Myanmar"/>
                <a:sym typeface="Noto Sans Myanmar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                                         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တွေနဲ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တစ်ခုချင်းစီ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လိုက်စစ်ဖို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လိုတဲ့အခ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သုံးပါတယ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206" name="Google Shape;206;p20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333625" y="3001714"/>
              <a:ext cx="2266950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0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809750" y="2695448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B2ADCED-23FD-5BAC-2BD4-A86BF891DE16}"/>
              </a:ext>
            </a:extLst>
          </p:cNvPr>
          <p:cNvGrpSpPr/>
          <p:nvPr/>
        </p:nvGrpSpPr>
        <p:grpSpPr>
          <a:xfrm>
            <a:off x="1809750" y="3365450"/>
            <a:ext cx="8572500" cy="1005482"/>
            <a:chOff x="1809750" y="3492996"/>
            <a:chExt cx="8572500" cy="1005482"/>
          </a:xfrm>
        </p:grpSpPr>
        <p:sp>
          <p:nvSpPr>
            <p:cNvPr id="204" name="Google Shape;204;p20"/>
            <p:cNvSpPr txBox="1"/>
            <p:nvPr/>
          </p:nvSpPr>
          <p:spPr>
            <a:xfrm>
              <a:off x="2333625" y="3492996"/>
              <a:ext cx="804862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FBBF2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Hash Table </a:t>
              </a:r>
              <a:r>
                <a:rPr lang="en-US" sz="1650" b="1" i="0" u="none" strike="noStrike" cap="none" dirty="0" err="1">
                  <a:solidFill>
                    <a:srgbClr val="FBBF2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သုံးသင</a:t>
              </a:r>
              <a:r>
                <a:rPr lang="en-US" sz="1650" b="1" i="0" u="none" strike="noStrike" cap="none" dirty="0">
                  <a:solidFill>
                    <a:srgbClr val="FBBF2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1" i="0" u="none" strike="noStrike" cap="none" dirty="0" err="1">
                  <a:solidFill>
                    <a:srgbClr val="FBBF2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တဲ</a:t>
              </a:r>
              <a:r>
                <a:rPr lang="en-US" sz="1650" b="1" i="0" u="none" strike="noStrike" cap="none" dirty="0">
                  <a:solidFill>
                    <a:srgbClr val="FBBF2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1" i="0" u="none" strike="noStrike" cap="none" dirty="0" err="1">
                  <a:solidFill>
                    <a:srgbClr val="FBBF2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အချိန</a:t>
              </a:r>
              <a:r>
                <a:rPr lang="en-US" sz="1650" b="1" i="0" u="none" strike="noStrike" cap="none" dirty="0">
                  <a:solidFill>
                    <a:srgbClr val="FBBF2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်: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အစဉ်လိုက်ဖြစ်ဖို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မလိုဘူး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။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ဒါပေမယ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ကိုယ်ရှာချင်တဲ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Data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ရဲ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နာမည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(Key)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သိတာနဲ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ချက်ချင်း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>
                  <a:solidFill>
                    <a:srgbClr val="34D39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O(1)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အမြန်နှုန်းနဲ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ဆွဲထုတ်ချင်တဲ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အခါမျိုးမှာ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သုံးပါတယ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208" name="Google Shape;208;p20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809750" y="3591647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BF26DDB-ABF2-3DF8-C55B-8EEE84C39EC0}"/>
              </a:ext>
            </a:extLst>
          </p:cNvPr>
          <p:cNvGrpSpPr/>
          <p:nvPr/>
        </p:nvGrpSpPr>
        <p:grpSpPr>
          <a:xfrm>
            <a:off x="1809750" y="4736603"/>
            <a:ext cx="8572500" cy="670321"/>
            <a:chOff x="1809750" y="4736603"/>
            <a:chExt cx="8572500" cy="670321"/>
          </a:xfrm>
        </p:grpSpPr>
        <p:sp>
          <p:nvSpPr>
            <p:cNvPr id="205" name="Google Shape;205;p20"/>
            <p:cNvSpPr txBox="1"/>
            <p:nvPr/>
          </p:nvSpPr>
          <p:spPr>
            <a:xfrm>
              <a:off x="2333625" y="4736603"/>
              <a:ext cx="804862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သတိပြုရန</a:t>
              </a:r>
              <a:r>
                <a:rPr lang="en-US" sz="1650" b="1" i="0" u="none" strike="noStrike" cap="none" dirty="0">
                  <a:solidFill>
                    <a:srgbClr val="F0F6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်: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Hash Table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ဟာ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Array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ထက်စာရင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Memory Space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ပိုယူတတ်ပါတယ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 (Hash Function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နဲ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ပိုနေတဲ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နေရာလွတ်တွေကြောင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</a:t>
              </a:r>
              <a:r>
                <a:rPr lang="en-US" sz="1650" b="0" i="0" u="none" strike="noStrike" cap="none" dirty="0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ါ)</a:t>
              </a:r>
              <a:endParaRPr dirty="0"/>
            </a:p>
          </p:txBody>
        </p:sp>
        <p:pic>
          <p:nvPicPr>
            <p:cNvPr id="209" name="Google Shape;209;p20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809750" y="4814588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0" name="Google Shape;210;p20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Array နဲ့ ဘယ်အချိန် ဘာသုံးမလဲ?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" name="Google Shape;217;p21"/>
          <p:cNvGrpSpPr/>
          <p:nvPr/>
        </p:nvGrpSpPr>
        <p:grpSpPr>
          <a:xfrm>
            <a:off x="581025" y="2637066"/>
            <a:ext cx="3486150" cy="2313600"/>
            <a:chOff x="581025" y="1766881"/>
            <a:chExt cx="3486150" cy="2313600"/>
          </a:xfrm>
        </p:grpSpPr>
        <p:pic>
          <p:nvPicPr>
            <p:cNvPr id="218" name="Google Shape;218;p21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1766881"/>
              <a:ext cx="3486150" cy="231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21"/>
            <p:cNvSpPr txBox="1"/>
            <p:nvPr/>
          </p:nvSpPr>
          <p:spPr>
            <a:xfrm>
              <a:off x="764789" y="1958687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4D39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Caching</a:t>
              </a:r>
              <a:endParaRPr dirty="0"/>
            </a:p>
          </p:txBody>
        </p:sp>
        <p:sp>
          <p:nvSpPr>
            <p:cNvPr id="220" name="Google Shape;220;p21"/>
            <p:cNvSpPr txBox="1"/>
            <p:nvPr/>
          </p:nvSpPr>
          <p:spPr>
            <a:xfrm>
              <a:off x="828675" y="2558762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Website တွေမှာ ခဏခဏ ယူသုံးရမယ့် Data တွေကို Database ကနေ ခေါ်မနေဘဲ Hash Table သုံးပြီး Cache အနေနဲ့ သိမ်းထားကြပါတယ်။</a:t>
              </a:r>
              <a:endParaRPr/>
            </a:p>
          </p:txBody>
        </p:sp>
      </p:grpSp>
      <p:grpSp>
        <p:nvGrpSpPr>
          <p:cNvPr id="221" name="Google Shape;221;p21"/>
          <p:cNvGrpSpPr/>
          <p:nvPr/>
        </p:nvGrpSpPr>
        <p:grpSpPr>
          <a:xfrm>
            <a:off x="4352925" y="2637066"/>
            <a:ext cx="3486150" cy="2313600"/>
            <a:chOff x="4352925" y="1766881"/>
            <a:chExt cx="3486150" cy="2313600"/>
          </a:xfrm>
        </p:grpSpPr>
        <p:pic>
          <p:nvPicPr>
            <p:cNvPr id="222" name="Google Shape;222;p21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52925" y="1766881"/>
              <a:ext cx="3486150" cy="231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21"/>
            <p:cNvSpPr txBox="1"/>
            <p:nvPr/>
          </p:nvSpPr>
          <p:spPr>
            <a:xfrm>
              <a:off x="4525803" y="1958687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4D39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JSON / APIs</a:t>
              </a:r>
              <a:endParaRPr dirty="0"/>
            </a:p>
          </p:txBody>
        </p:sp>
        <p:sp>
          <p:nvSpPr>
            <p:cNvPr id="224" name="Google Shape;224;p21"/>
            <p:cNvSpPr txBox="1"/>
            <p:nvPr/>
          </p:nvSpPr>
          <p:spPr>
            <a:xfrm>
              <a:off x="4600575" y="2387312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Web Development မှာ Data အပြန်အလှန် ပို့ကြတဲ့ JSON Format ဟာ အခြေခံအားဖြင့် Key-Value Pairs (Dictionary) ဖွဲ့စည်းပုံပဲ ဖြစ်ပါတယ်။</a:t>
              </a:r>
              <a:endParaRPr/>
            </a:p>
          </p:txBody>
        </p:sp>
      </p:grpSp>
      <p:grpSp>
        <p:nvGrpSpPr>
          <p:cNvPr id="225" name="Google Shape;225;p21"/>
          <p:cNvGrpSpPr/>
          <p:nvPr/>
        </p:nvGrpSpPr>
        <p:grpSpPr>
          <a:xfrm>
            <a:off x="8124825" y="2637066"/>
            <a:ext cx="3486150" cy="2313600"/>
            <a:chOff x="8124825" y="1766881"/>
            <a:chExt cx="3486150" cy="2313600"/>
          </a:xfrm>
        </p:grpSpPr>
        <p:pic>
          <p:nvPicPr>
            <p:cNvPr id="226" name="Google Shape;226;p21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124825" y="1766881"/>
              <a:ext cx="3486150" cy="231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21"/>
            <p:cNvSpPr txBox="1"/>
            <p:nvPr/>
          </p:nvSpPr>
          <p:spPr>
            <a:xfrm>
              <a:off x="8297703" y="1958687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4D39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Database Indexing</a:t>
              </a:r>
              <a:endParaRPr dirty="0"/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8372475" y="2387312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C9D1D9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Data သန်းချီရှိတဲ့ Database ကြီးတွေထဲကနေ ကိုယ်ရှာချင်တဲ့ Record ကို ချက်ချင်း တွေ့အောင် Hash Indexing သုံးပြီး ရှာဖွေကြပါတယ်။</a:t>
              </a:r>
              <a:endParaRPr/>
            </a:p>
          </p:txBody>
        </p:sp>
      </p:grpSp>
      <p:sp>
        <p:nvSpPr>
          <p:cNvPr id="229" name="Google Shape;229;p21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Real World Applications 🌍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581025" y="1323975"/>
            <a:ext cx="1102995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215">
          <a:extLst>
            <a:ext uri="{FF2B5EF4-FFF2-40B4-BE49-F238E27FC236}">
              <a16:creationId xmlns:a16="http://schemas.microsoft.com/office/drawing/2014/main" id="{CC382AE7-0BA4-3408-E440-2364F6057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 descr="image.png">
            <a:extLst>
              <a:ext uri="{FF2B5EF4-FFF2-40B4-BE49-F238E27FC236}">
                <a16:creationId xmlns:a16="http://schemas.microsoft.com/office/drawing/2014/main" id="{F2F16945-E2E3-6BD7-F141-54C3798725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>
            <a:extLst>
              <a:ext uri="{FF2B5EF4-FFF2-40B4-BE49-F238E27FC236}">
                <a16:creationId xmlns:a16="http://schemas.microsoft.com/office/drawing/2014/main" id="{49770506-9967-9712-D1E6-7BD9A9772995}"/>
              </a:ext>
            </a:extLst>
          </p:cNvPr>
          <p:cNvSpPr txBox="1"/>
          <p:nvPr/>
        </p:nvSpPr>
        <p:spPr>
          <a:xfrm>
            <a:off x="581025" y="372179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Two Sum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B2914-5855-A881-CF40-55D7FB965261}"/>
              </a:ext>
            </a:extLst>
          </p:cNvPr>
          <p:cNvSpPr txBox="1"/>
          <p:nvPr/>
        </p:nvSpPr>
        <p:spPr>
          <a:xfrm>
            <a:off x="581024" y="1065820"/>
            <a:ext cx="833437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Description: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Given an array of integers `</a:t>
            </a:r>
            <a:r>
              <a:rPr lang="en-US" sz="1600" dirty="0" err="1">
                <a:solidFill>
                  <a:schemeClr val="bg1"/>
                </a:solidFill>
                <a:latin typeface="Lato" panose="020F0502020204030203" pitchFamily="34" charset="77"/>
              </a:rPr>
              <a:t>nums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` and an integer `target`, return the EXACT 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INDICES of the two numbers such that they add up to exactly the `target`.</a:t>
            </a:r>
          </a:p>
          <a:p>
            <a:endParaRPr lang="en-US" sz="16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You may assume that each input array would have EXACTLY ONE solution, and you 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may not use the exact same element index twice. You can return the answer in any order.</a:t>
            </a:r>
            <a:b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</a:br>
            <a:endParaRPr lang="en-US" sz="16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Example 1: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Input: </a:t>
            </a:r>
            <a:r>
              <a:rPr lang="en-US" sz="1600" dirty="0" err="1">
                <a:solidFill>
                  <a:schemeClr val="bg1"/>
                </a:solidFill>
                <a:latin typeface="Lato" panose="020F0502020204030203" pitchFamily="34" charset="77"/>
              </a:rPr>
              <a:t>nums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 = [2, 7, 11, 15], target = 9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Output: [0, 1]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Explanation: Because </a:t>
            </a:r>
            <a:r>
              <a:rPr lang="en-US" sz="1600" dirty="0" err="1">
                <a:solidFill>
                  <a:schemeClr val="bg1"/>
                </a:solidFill>
                <a:latin typeface="Lato" panose="020F0502020204030203" pitchFamily="34" charset="77"/>
              </a:rPr>
              <a:t>nums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[0] + </a:t>
            </a:r>
            <a:r>
              <a:rPr lang="en-US" sz="1600" dirty="0" err="1">
                <a:solidFill>
                  <a:schemeClr val="bg1"/>
                </a:solidFill>
                <a:latin typeface="Lato" panose="020F0502020204030203" pitchFamily="34" charset="77"/>
              </a:rPr>
              <a:t>nums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[1] == 9, we return indices [0, 1].</a:t>
            </a:r>
          </a:p>
          <a:p>
            <a:endParaRPr lang="en-US" sz="16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Example 2: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Input: </a:t>
            </a:r>
            <a:r>
              <a:rPr lang="en-US" sz="1600" dirty="0" err="1">
                <a:solidFill>
                  <a:schemeClr val="bg1"/>
                </a:solidFill>
                <a:latin typeface="Lato" panose="020F0502020204030203" pitchFamily="34" charset="77"/>
              </a:rPr>
              <a:t>nums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 = [3, 2, 4], target = 6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Output: [1, 2]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Explanation: Because </a:t>
            </a:r>
            <a:r>
              <a:rPr lang="en-US" sz="1600" dirty="0" err="1">
                <a:solidFill>
                  <a:schemeClr val="bg1"/>
                </a:solidFill>
                <a:latin typeface="Lato" panose="020F0502020204030203" pitchFamily="34" charset="77"/>
              </a:rPr>
              <a:t>nums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[1] + </a:t>
            </a:r>
            <a:r>
              <a:rPr lang="en-US" sz="1600" dirty="0" err="1">
                <a:solidFill>
                  <a:schemeClr val="bg1"/>
                </a:solidFill>
                <a:latin typeface="Lato" panose="020F0502020204030203" pitchFamily="34" charset="77"/>
              </a:rPr>
              <a:t>nums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[2] == 6, we return indices [1, 2].</a:t>
            </a:r>
          </a:p>
        </p:txBody>
      </p:sp>
    </p:spTree>
    <p:extLst>
      <p:ext uri="{BB962C8B-B14F-4D97-AF65-F5344CB8AC3E}">
        <p14:creationId xmlns:p14="http://schemas.microsoft.com/office/powerpoint/2010/main" val="1913452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Shape 215">
          <a:extLst>
            <a:ext uri="{FF2B5EF4-FFF2-40B4-BE49-F238E27FC236}">
              <a16:creationId xmlns:a16="http://schemas.microsoft.com/office/drawing/2014/main" id="{6FC43DE9-7FFE-39BC-78C6-6ACBFAC17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 descr="image.png">
            <a:extLst>
              <a:ext uri="{FF2B5EF4-FFF2-40B4-BE49-F238E27FC236}">
                <a16:creationId xmlns:a16="http://schemas.microsoft.com/office/drawing/2014/main" id="{BB653D00-1934-6168-B4B5-1631648A59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>
            <a:extLst>
              <a:ext uri="{FF2B5EF4-FFF2-40B4-BE49-F238E27FC236}">
                <a16:creationId xmlns:a16="http://schemas.microsoft.com/office/drawing/2014/main" id="{C8D4F02B-24F1-A919-D31B-E909A54D343D}"/>
              </a:ext>
            </a:extLst>
          </p:cNvPr>
          <p:cNvSpPr txBox="1"/>
          <p:nvPr/>
        </p:nvSpPr>
        <p:spPr>
          <a:xfrm>
            <a:off x="581025" y="372179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Two Sum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29BCE9-D34F-CF54-577A-6F42A1691C04}"/>
              </a:ext>
            </a:extLst>
          </p:cNvPr>
          <p:cNvSpPr txBox="1"/>
          <p:nvPr/>
        </p:nvSpPr>
        <p:spPr>
          <a:xfrm>
            <a:off x="581024" y="1065820"/>
            <a:ext cx="369570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Example 1: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Input: </a:t>
            </a:r>
            <a:r>
              <a:rPr lang="en-US" sz="1600" dirty="0" err="1">
                <a:solidFill>
                  <a:schemeClr val="bg1"/>
                </a:solidFill>
                <a:latin typeface="Lato" panose="020F0502020204030203" pitchFamily="34" charset="77"/>
              </a:rPr>
              <a:t>nums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 = [2, 7, 11, 15], target = 9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Output: [0, 1]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Explanation: Because </a:t>
            </a:r>
            <a:r>
              <a:rPr lang="en-US" sz="1600" dirty="0" err="1">
                <a:solidFill>
                  <a:schemeClr val="bg1"/>
                </a:solidFill>
                <a:latin typeface="Lato" panose="020F0502020204030203" pitchFamily="34" charset="77"/>
              </a:rPr>
              <a:t>nums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[0] + </a:t>
            </a:r>
            <a:r>
              <a:rPr lang="en-US" sz="1600" dirty="0" err="1">
                <a:solidFill>
                  <a:schemeClr val="bg1"/>
                </a:solidFill>
                <a:latin typeface="Lato" panose="020F0502020204030203" pitchFamily="34" charset="77"/>
              </a:rPr>
              <a:t>nums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[1] == 9, we return indices [0, 1].</a:t>
            </a:r>
          </a:p>
          <a:p>
            <a:endParaRPr lang="en-US" sz="16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Example 2: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Input: </a:t>
            </a:r>
            <a:r>
              <a:rPr lang="en-US" sz="1600" dirty="0" err="1">
                <a:solidFill>
                  <a:schemeClr val="bg1"/>
                </a:solidFill>
                <a:latin typeface="Lato" panose="020F0502020204030203" pitchFamily="34" charset="77"/>
              </a:rPr>
              <a:t>nums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 = [3, 2, 4], target = 6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Output: [1, 2]</a:t>
            </a:r>
          </a:p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Explanation: Because </a:t>
            </a:r>
            <a:r>
              <a:rPr lang="en-US" sz="1600" dirty="0" err="1">
                <a:solidFill>
                  <a:schemeClr val="bg1"/>
                </a:solidFill>
                <a:latin typeface="Lato" panose="020F0502020204030203" pitchFamily="34" charset="77"/>
              </a:rPr>
              <a:t>nums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[1] + </a:t>
            </a:r>
            <a:r>
              <a:rPr lang="en-US" sz="1600" dirty="0" err="1">
                <a:solidFill>
                  <a:schemeClr val="bg1"/>
                </a:solidFill>
                <a:latin typeface="Lato" panose="020F0502020204030203" pitchFamily="34" charset="77"/>
              </a:rPr>
              <a:t>nums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77"/>
              </a:rPr>
              <a:t>[2] == 6, we return indices [1, 2].</a:t>
            </a:r>
          </a:p>
        </p:txBody>
      </p:sp>
    </p:spTree>
    <p:extLst>
      <p:ext uri="{BB962C8B-B14F-4D97-AF65-F5344CB8AC3E}">
        <p14:creationId xmlns:p14="http://schemas.microsoft.com/office/powerpoint/2010/main" val="3984219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3.5|29|11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3|29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8|64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7|7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6|23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10.3|27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8.3|8.8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1612</Words>
  <Application>Microsoft Macintosh PowerPoint</Application>
  <PresentationFormat>Widescreen</PresentationFormat>
  <Paragraphs>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Noto Sans Myanmar</vt:lpstr>
      <vt:lpstr>Poppins</vt:lpstr>
      <vt:lpstr>Fira Code</vt:lpstr>
      <vt:lpstr>Poppins SemiBold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5</cp:revision>
  <dcterms:modified xsi:type="dcterms:W3CDTF">2026-04-06T15:47:33Z</dcterms:modified>
</cp:coreProperties>
</file>