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Lato" panose="020F0502020204030203" pitchFamily="34" charset="77"/>
      <p:regular r:id="rId13"/>
      <p:bold r:id="rId14"/>
      <p:italic r:id="rId15"/>
      <p:boldItalic r:id="rId16"/>
    </p:embeddedFont>
    <p:embeddedFont>
      <p:font typeface="Noto Sans Myanmar" panose="020B0502040504020204" pitchFamily="34" charset="0"/>
      <p:regular r:id="rId17"/>
      <p:bold r:id="rId18"/>
    </p:embeddedFon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Poppins SemiBold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B8206F-FBAC-4CF2-A159-F79FC12F5798}">
  <a:tblStyle styleId="{E7B8206F-FBAC-4CF2-A159-F79FC12F57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70"/>
  </p:normalViewPr>
  <p:slideViewPr>
    <p:cSldViewPr snapToGrid="0">
      <p:cViewPr varScale="1">
        <p:scale>
          <a:sx n="117" d="100"/>
          <a:sy n="117" d="100"/>
        </p:scale>
        <p:origin x="107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B07478A2-8949-3F06-718C-2EEF4B45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>
            <a:extLst>
              <a:ext uri="{FF2B5EF4-FFF2-40B4-BE49-F238E27FC236}">
                <a16:creationId xmlns:a16="http://schemas.microsoft.com/office/drawing/2014/main" id="{BF0C49F7-675D-427B-A88B-7A5A0C127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>
            <a:extLst>
              <a:ext uri="{FF2B5EF4-FFF2-40B4-BE49-F238E27FC236}">
                <a16:creationId xmlns:a16="http://schemas.microsoft.com/office/drawing/2014/main" id="{CB543753-6B6D-0197-C5FC-6306DEDC2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28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011E4FB4-A7EB-9855-D366-BECE7CB2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>
            <a:extLst>
              <a:ext uri="{FF2B5EF4-FFF2-40B4-BE49-F238E27FC236}">
                <a16:creationId xmlns:a16="http://schemas.microsoft.com/office/drawing/2014/main" id="{0A08D78D-E2A0-7BA0-82C4-19B0DCAC2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>
            <a:extLst>
              <a:ext uri="{FF2B5EF4-FFF2-40B4-BE49-F238E27FC236}">
                <a16:creationId xmlns:a16="http://schemas.microsoft.com/office/drawing/2014/main" id="{3C15E051-5EE2-5F9E-29E3-8720C6328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960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52674" y="2307546"/>
            <a:ext cx="9686652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Insertion</a:t>
            </a:r>
            <a:r>
              <a:rPr lang="en-US" sz="4875" b="1" i="0" u="none" strike="noStrike" cap="none" dirty="0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 Sort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209800" y="3429000"/>
            <a:ext cx="7772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Sorting</a:t>
            </a:r>
            <a:r>
              <a:rPr lang="en-US" sz="1950" dirty="0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950" b="0" i="0" u="none" strike="noStrike" cap="none" dirty="0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23A412C3-2DA1-88CE-4EBB-D9D93896B895}"/>
              </a:ext>
            </a:extLst>
          </p:cNvPr>
          <p:cNvSpPr txBox="1"/>
          <p:nvPr/>
        </p:nvSpPr>
        <p:spPr>
          <a:xfrm>
            <a:off x="1809750" y="4172931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- 13 ]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524500" y="245655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785461" y="2799457"/>
            <a:ext cx="862107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Insertion Sort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2286000" y="3894832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လက်ထဲမှာ </a:t>
            </a:r>
            <a:r>
              <a:rPr lang="en-US" sz="1950" b="1" i="0" u="none" strike="noStrike" cap="none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ဖဲချပ်တွေ (Playing Cards)</a:t>
            </a:r>
            <a:r>
              <a:rPr lang="en-US" sz="1950" b="0" i="0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ကို အငယ်မှအကြီး စီသလိုမျိုး အလုပ်လုပ်ပါတယ်။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184904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Array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စီပြီးသားအခြမ်း</a:t>
            </a:r>
            <a:r>
              <a:rPr lang="en-US" sz="1650" b="1" i="0" u="none" strike="noStrike" cap="none" dirty="0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(Sorted)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နဲ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 err="1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မစီရသေးတဲ့အခြမ်း</a:t>
            </a:r>
            <a:r>
              <a:rPr lang="en-US" sz="1650" b="1" i="0" u="none" strike="noStrike" cap="none" dirty="0">
                <a:solidFill>
                  <a:srgbClr val="F9FAF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(Unsorted)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ဆိုပြီး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နှစ်ပိုင်း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ခွဲမြင်ရပါမယ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A5B4E4-29C8-C43F-B1D6-05904B32DB25}"/>
              </a:ext>
            </a:extLst>
          </p:cNvPr>
          <p:cNvGrpSpPr/>
          <p:nvPr/>
        </p:nvGrpSpPr>
        <p:grpSpPr>
          <a:xfrm>
            <a:off x="581025" y="2842617"/>
            <a:ext cx="5276850" cy="670321"/>
            <a:chOff x="581025" y="2842617"/>
            <a:chExt cx="5276850" cy="670321"/>
          </a:xfrm>
        </p:grpSpPr>
        <p:sp>
          <p:nvSpPr>
            <p:cNvPr id="156" name="Google Shape;156;p18"/>
            <p:cNvSpPr txBox="1"/>
            <p:nvPr/>
          </p:nvSpPr>
          <p:spPr>
            <a:xfrm>
              <a:off x="1104900" y="284261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ဖဲချပ်အသစ်ကိုယူ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မစီရသေးတဲ့အထဲက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ဂဏန်းတစ်ခုကို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ယူပါတယ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59" name="Google Shape;159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944414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98EAB33-E6E1-5534-7142-F7DCB93D6418}"/>
              </a:ext>
            </a:extLst>
          </p:cNvPr>
          <p:cNvGrpSpPr/>
          <p:nvPr/>
        </p:nvGrpSpPr>
        <p:grpSpPr>
          <a:xfrm>
            <a:off x="576262" y="3751064"/>
            <a:ext cx="5281613" cy="1005482"/>
            <a:chOff x="576262" y="3751064"/>
            <a:chExt cx="5281613" cy="1005482"/>
          </a:xfrm>
        </p:grpSpPr>
        <p:sp>
          <p:nvSpPr>
            <p:cNvPr id="157" name="Google Shape;157;p18"/>
            <p:cNvSpPr txBox="1"/>
            <p:nvPr/>
          </p:nvSpPr>
          <p:spPr>
            <a:xfrm>
              <a:off x="1104900" y="3751064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နေရာမှန်ရှာ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စီပြီးသား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အခြမ်းထဲမှာ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သူနေရမယ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နေရာမှန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(Correct Position)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ရောက်တဲ့အထိ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နောက်ကနေ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ရှေ့ကို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လိုက်ရှာပါတယ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60" name="Google Shape;160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6262" y="3848100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F78A573-D6CF-1E06-8E54-D7D042F195A8}"/>
              </a:ext>
            </a:extLst>
          </p:cNvPr>
          <p:cNvGrpSpPr/>
          <p:nvPr/>
        </p:nvGrpSpPr>
        <p:grpSpPr>
          <a:xfrm>
            <a:off x="601218" y="4994671"/>
            <a:ext cx="5256657" cy="1005482"/>
            <a:chOff x="601218" y="4994671"/>
            <a:chExt cx="5256657" cy="1005482"/>
          </a:xfrm>
        </p:grpSpPr>
        <p:sp>
          <p:nvSpPr>
            <p:cNvPr id="158" name="Google Shape;158;p18"/>
            <p:cNvSpPr txBox="1"/>
            <p:nvPr/>
          </p:nvSpPr>
          <p:spPr>
            <a:xfrm>
              <a:off x="1104900" y="4994671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ဖြတ်ထည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(Insert):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နေရာမှန်ရောက်ရင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ကြီးနေတဲ့ကောင်တွေကို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နောက်ဆုတ်ခိုင်းပြီး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ကြားထဲ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ဝင်ထည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61" name="Google Shape;161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1218" y="5095875"/>
              <a:ext cx="1524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8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Insertion Sort ၏ အခြေခံ သဘောတရား 🃏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 descr="Insertion Sort Array ကို စီပြီးသားအခြမ်း (Sorted) နဲ့ မစီရသေးတဲ့အခြမ်း (Unsorted) ဆိုပြီး နှစ်ပိုင်း ခွဲမြင်ရပါမယ်။&#10;ဖဲချပ်အသစ်ကိုယူ: မစီရသေးတဲ့အထဲက ဂဏန်းတစ်ခုကို ယူပါတယ်။&#10;နေရာမှန်ရှာ: စီပြီးသား အခြမ်းထဲမှာ သူနေရမယ့် နေရာမှန် (Correct Position) ရောက်တဲ့အထိ နောက်ကနေ ရှေ့ကို လိုက်ရှာပါတယ်။&#10;ဖြတ်ထည့် (Insert): နေရာမှန်ရောက်ရင် ကြီးနေတဲ့ကောင်တွေကို နောက်ဆုတ်ခိုင်းပြီး ကြားထဲ ဝင်ထည့်လိုက်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33225" y="16097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8211" y="1655564"/>
            <a:ext cx="9375427" cy="4623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75286" y="22413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08711" y="22413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42136" y="22413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75561" y="22413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75286" y="325100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08711" y="325100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42136" y="325100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75561" y="325100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75286" y="42606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08711" y="42606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42136" y="4260651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75561" y="4260651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703486" y="5170289"/>
            <a:ext cx="878487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* အစိမ်းရောင် (</a:t>
            </a:r>
            <a:r>
              <a:rPr lang="en-US" sz="1650" b="1" i="1" u="none" strike="noStrike" cap="none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Sorted Part</a:t>
            </a:r>
            <a:r>
              <a:rPr lang="en-US" sz="1650" b="0" i="1" u="none" strike="noStrike" cap="none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) ထဲကို အသစ်တစ်ခုချင်းစီ ယူပြီး နေရာမှန်မှာ ဖြတ်ထည့် (Insert) သွားတာပါ။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703486" y="2141339"/>
            <a:ext cx="2857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1. '3'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ယူမည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(3 &lt; 5, 5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နောက်ရ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ွှ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ေ့မည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်)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1703486" y="3150989"/>
            <a:ext cx="2857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2. '8'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ယူမည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(8 &gt; 5,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ဒီတိုင်းထားမည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်)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1703486" y="4160639"/>
            <a:ext cx="2857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3. '2'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50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ယူမည</a:t>
            </a:r>
            <a:r>
              <a:rPr lang="en-US" sz="150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(8, 5, 3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တို့ကို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နောက်ရ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ွှ</a:t>
            </a:r>
            <a:r>
              <a:rPr lang="en-US" sz="1500" b="0" i="0" u="none" strike="noStrike" cap="none" dirty="0" err="1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ေ့မည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်)</a:t>
            </a:r>
            <a:endParaRPr dirty="0"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620173" y="293667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61210" y="3946326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094635" y="49598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305276" y="579239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Insertion Sort (Shift &amp; Insert)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279826"/>
            <a:ext cx="11029950" cy="1079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/>
        </p:nvGraphicFramePr>
        <p:xfrm>
          <a:off x="590550" y="1552226"/>
          <a:ext cx="11010875" cy="3511850"/>
        </p:xfrm>
        <a:graphic>
          <a:graphicData uri="http://schemas.openxmlformats.org/drawingml/2006/table">
            <a:tbl>
              <a:tblPr firstRow="1" bandRow="1">
                <a:noFill/>
                <a:tableStyleId>{E7B8206F-FBAC-4CF2-A159-F79FC12F5798}</a:tableStyleId>
              </a:tblPr>
              <a:tblGrid>
                <a:gridCol w="24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Best Case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Worst Case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Space Complexity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Bubble Sort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(n)</a:t>
                      </a:r>
                      <a:b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  (n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(1)</a:t>
                      </a:r>
                      <a:b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Selection Sort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(n</a:t>
                      </a:r>
                      <a:r>
                        <a:rPr lang="en-US" sz="1650" b="0" i="0" u="none" strike="noStrike" cap="none" baseline="30000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 b="0" i="0" u="none" strike="noStrike" cap="none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br>
                        <a:rPr lang="en-US" sz="1650" b="0" i="0" u="none" strike="noStrike" cap="none" dirty="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 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</a:t>
                      </a: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Insertion Sort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0B981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O(1)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838187" y="5394126"/>
            <a:ext cx="1051560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Selection Sort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ဟာ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အမြဲတမ်း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O(n²)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ကြာပါတယ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Array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ကြီး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စီပြီးသား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ဖြစ်နေရင်တောင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Min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အမြဲလိုက်ရှာနေရလို့ပ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307776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Sorting (၃) မျိုး နှိုင်းယှဉ်ချက် 📊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1326951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22AB93B-93DE-316C-2FE9-711408C33784}"/>
              </a:ext>
            </a:extLst>
          </p:cNvPr>
          <p:cNvGrpSpPr/>
          <p:nvPr/>
        </p:nvGrpSpPr>
        <p:grpSpPr>
          <a:xfrm>
            <a:off x="581025" y="2191940"/>
            <a:ext cx="5372100" cy="3836193"/>
            <a:chOff x="581025" y="2191940"/>
            <a:chExt cx="5372100" cy="3836193"/>
          </a:xfrm>
        </p:grpSpPr>
        <p:pic>
          <p:nvPicPr>
            <p:cNvPr id="206" name="Google Shape;206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191940"/>
              <a:ext cx="5372100" cy="3836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61104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1"/>
            <p:cNvSpPr txBox="1"/>
            <p:nvPr/>
          </p:nvSpPr>
          <p:spPr>
            <a:xfrm>
              <a:off x="876300" y="3611165"/>
              <a:ext cx="268033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Nearly Sorted Data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876300" y="4154090"/>
              <a:ext cx="47815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CA3AF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တွေက အနည်းငယ်ပဲ ရှုပ်ပွနေပြီး </a:t>
              </a:r>
              <a:r>
                <a:rPr lang="en-US" sz="1650" b="1" i="0" u="none" strike="noStrike" cap="none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အများစုက စီပြီးသား</a:t>
              </a:r>
              <a:r>
                <a:rPr lang="en-US" sz="1650" b="0" i="0" u="none" strike="noStrike" cap="none">
                  <a:solidFill>
                    <a:srgbClr val="9CA3AF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ဖြစ်နေရင် Insertion Sort ဟာ အရမ်းမြန်ပါတယ်။ (O(n) နီးပါး အလုပ်လုပ်ပါတယ်)</a:t>
              </a:r>
              <a:endParaRPr/>
            </a:p>
          </p:txBody>
        </p:sp>
        <p:pic>
          <p:nvPicPr>
            <p:cNvPr id="214" name="Google Shape;214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8225" y="2772965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0247D2B-C85F-9D8B-01F1-60A131BC16CD}"/>
              </a:ext>
            </a:extLst>
          </p:cNvPr>
          <p:cNvGrpSpPr/>
          <p:nvPr/>
        </p:nvGrpSpPr>
        <p:grpSpPr>
          <a:xfrm>
            <a:off x="6238875" y="2191940"/>
            <a:ext cx="5372100" cy="3836193"/>
            <a:chOff x="6238875" y="2191940"/>
            <a:chExt cx="5372100" cy="3836193"/>
          </a:xfrm>
        </p:grpSpPr>
        <p:pic>
          <p:nvPicPr>
            <p:cNvPr id="207" name="Google Shape;207;p21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38875" y="2191940"/>
              <a:ext cx="5372100" cy="3836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534150" y="261104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1"/>
            <p:cNvSpPr txBox="1"/>
            <p:nvPr/>
          </p:nvSpPr>
          <p:spPr>
            <a:xfrm>
              <a:off x="6534150" y="3611165"/>
              <a:ext cx="2170271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6B6D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Small Datasets</a:t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6534150" y="4154090"/>
              <a:ext cx="47815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CA3AF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အရေအတွက် နည်းတဲ့အခါ (ဥပမာ ဂဏန်း ၁၀ လုံးလောက်) မှာ Quick Sort, Merge Sort တွေထက်စာရင် Insertion Sort က Overhead နည်းလို့ ပိုကောင်းပါတယ်။</a:t>
              </a:r>
              <a:endParaRPr/>
            </a:p>
          </p:txBody>
        </p:sp>
        <p:pic>
          <p:nvPicPr>
            <p:cNvPr id="215" name="Google Shape;215;p21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724650" y="2772965"/>
              <a:ext cx="3810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1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Insertion Sort ရဲ့ အားသာချက် ✨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8E9ADF0D-7B0F-61BF-8227-89F74C1E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>
            <a:extLst>
              <a:ext uri="{FF2B5EF4-FFF2-40B4-BE49-F238E27FC236}">
                <a16:creationId xmlns:a16="http://schemas.microsoft.com/office/drawing/2014/main" id="{B7C2EB46-7900-4E59-B24A-4E1EC8615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25AE257E-05C9-6EA6-7CB6-903362DD5065}"/>
              </a:ext>
            </a:extLst>
          </p:cNvPr>
          <p:cNvSpPr txBox="1"/>
          <p:nvPr/>
        </p:nvSpPr>
        <p:spPr>
          <a:xfrm>
            <a:off x="542925" y="246891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Insert the Last Element</a:t>
            </a:r>
            <a:endParaRPr dirty="0"/>
          </a:p>
        </p:txBody>
      </p:sp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9E85355F-C415-AAED-7582-2649B8580619}"/>
              </a:ext>
            </a:extLst>
          </p:cNvPr>
          <p:cNvSpPr/>
          <p:nvPr/>
        </p:nvSpPr>
        <p:spPr>
          <a:xfrm>
            <a:off x="438150" y="960239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50D1F-02A7-14DE-CCEC-AC9FE065C898}"/>
              </a:ext>
            </a:extLst>
          </p:cNvPr>
          <p:cNvSpPr txBox="1"/>
          <p:nvPr/>
        </p:nvSpPr>
        <p:spPr>
          <a:xfrm>
            <a:off x="542925" y="1127224"/>
            <a:ext cx="618308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 are given a perfectly sorted array, EXCEPT for the very last number,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which is completely scrambled out of place! 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Your job is to cleanly "Insert" that mathematically messy last number into its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exact correct position so the entire array magically becomes perfectly sorted.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[2, 4, 6, 8, 3]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(The '3' is completely out of place at the end! The rest of the array [2, 4, 6, 8]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is perfectly sorted!)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[2, 3, 4, 6, 8]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[1, 2, 9, 4]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[1, 2, 4, 9]</a:t>
            </a:r>
          </a:p>
        </p:txBody>
      </p:sp>
    </p:spTree>
    <p:extLst>
      <p:ext uri="{BB962C8B-B14F-4D97-AF65-F5344CB8AC3E}">
        <p14:creationId xmlns:p14="http://schemas.microsoft.com/office/powerpoint/2010/main" val="674629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522D4E49-B613-947D-7A88-8A0B4B8B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>
            <a:extLst>
              <a:ext uri="{FF2B5EF4-FFF2-40B4-BE49-F238E27FC236}">
                <a16:creationId xmlns:a16="http://schemas.microsoft.com/office/drawing/2014/main" id="{314D775E-DFCE-CA9E-742E-40969BA1A1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6A6C3416-10CA-34C6-14F8-5BF1F6A68C2B}"/>
              </a:ext>
            </a:extLst>
          </p:cNvPr>
          <p:cNvSpPr txBox="1"/>
          <p:nvPr/>
        </p:nvSpPr>
        <p:spPr>
          <a:xfrm>
            <a:off x="542925" y="246891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Insert the Last Element</a:t>
            </a:r>
            <a:endParaRPr dirty="0"/>
          </a:p>
        </p:txBody>
      </p:sp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AC4ECD74-3222-DE1F-94FF-8DBD0C97AE88}"/>
              </a:ext>
            </a:extLst>
          </p:cNvPr>
          <p:cNvSpPr/>
          <p:nvPr/>
        </p:nvSpPr>
        <p:spPr>
          <a:xfrm>
            <a:off x="438150" y="960239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F63F7-9244-0D7A-77D1-E757011A508E}"/>
              </a:ext>
            </a:extLst>
          </p:cNvPr>
          <p:cNvSpPr txBox="1"/>
          <p:nvPr/>
        </p:nvSpPr>
        <p:spPr>
          <a:xfrm>
            <a:off x="542925" y="1127224"/>
            <a:ext cx="61830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[2, 4, 6, 8, 3]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(The '3' is completely out of place at the end! The rest of the array [2, 4, 6, 8]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is perfectly sorted!)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[2, 3, 4, 6, 8]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[1, 2, 9, 4]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[1, 2, 4, 9]</a:t>
            </a:r>
          </a:p>
        </p:txBody>
      </p:sp>
    </p:spTree>
    <p:extLst>
      <p:ext uri="{BB962C8B-B14F-4D97-AF65-F5344CB8AC3E}">
        <p14:creationId xmlns:p14="http://schemas.microsoft.com/office/powerpoint/2010/main" val="11276873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0.5|1.6|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0.9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825</Words>
  <Application>Microsoft Macintosh PowerPoint</Application>
  <PresentationFormat>Widescreen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8</cp:revision>
  <cp:lastPrinted>2026-03-29T07:43:51Z</cp:lastPrinted>
  <dcterms:modified xsi:type="dcterms:W3CDTF">2026-04-06T15:50:21Z</dcterms:modified>
</cp:coreProperties>
</file>