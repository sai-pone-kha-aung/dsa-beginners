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Noto Sans Myanmar" panose="020B0502040504020204" pitchFamily="34" charset="0"/>
      <p:regular r:id="rId16"/>
      <p:bold r:id="rId17"/>
    </p:embeddedFont>
    <p:embeddedFont>
      <p:font typeface="Poppins" pitchFamily="2" charset="77"/>
      <p:regular r:id="rId18"/>
      <p:bold r:id="rId19"/>
      <p:italic r:id="rId20"/>
      <p:boldItalic r:id="rId21"/>
    </p:embeddedFont>
    <p:embeddedFont>
      <p:font typeface="Poppins SemiBold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6BB9B9-0D44-4DB0-91D4-548E5352D2F5}">
  <a:tblStyle styleId="{E96BB9B9-0D44-4DB0-91D4-548E5352D2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3"/>
    <p:restoredTop sz="94670"/>
  </p:normalViewPr>
  <p:slideViewPr>
    <p:cSldViewPr snapToGrid="0">
      <p:cViewPr varScale="1">
        <p:scale>
          <a:sx n="117" d="100"/>
          <a:sy n="117" d="100"/>
        </p:scale>
        <p:origin x="127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120354"/>
            <a:ext cx="90011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Graph</a:t>
            </a:r>
            <a:r>
              <a:rPr lang="en-US" sz="562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Data Structure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168104"/>
            <a:ext cx="85725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[ Vertices &amp; Edges 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821A2DF0-5120-79E3-58A5-915AD9F3E18F}"/>
              </a:ext>
            </a:extLst>
          </p:cNvPr>
          <p:cNvSpPr txBox="1"/>
          <p:nvPr/>
        </p:nvSpPr>
        <p:spPr>
          <a:xfrm>
            <a:off x="1809750" y="3754784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- 18 ]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044154"/>
            <a:ext cx="1143000" cy="571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225391" y="2387054"/>
            <a:ext cx="974121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Network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91105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Tree တွေလို အထက်အောက် (Root, Child) အစဉ်လိုက် ဆင်းသွားစရာ မလိုဘဲ၊ </a:t>
            </a:r>
            <a:r>
              <a:rPr lang="en-US" sz="1950" b="1" i="0" u="none" strike="noStrike" cap="none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ကြိုက်တဲ့နေရာကနေ ကြိုက်တဲ့နေရာကို လွတ်လပ်စွာ</a:t>
            </a:r>
            <a:r>
              <a:rPr lang="en-US" sz="1950" b="0" i="0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ပတ်ချာလည် ချိတ်ဆက်နိုင်တဲ့ အကောင်းဆုံး Data Structure ဖြစ်ပါတယ်။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1354335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Graph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မြင်ယောင်ကြည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အလွယ်ဆုံးက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Social Network </a:t>
            </a:r>
            <a:r>
              <a:rPr lang="en-US" sz="1650" b="1" i="0" u="none" strike="noStrike" cap="none" dirty="0" err="1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ကြည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တာပ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B90735-DDB1-2255-3569-8332AE6D5A15}"/>
              </a:ext>
            </a:extLst>
          </p:cNvPr>
          <p:cNvGrpSpPr/>
          <p:nvPr/>
        </p:nvGrpSpPr>
        <p:grpSpPr>
          <a:xfrm>
            <a:off x="581025" y="5272004"/>
            <a:ext cx="5276850" cy="1386482"/>
            <a:chOff x="581025" y="5272004"/>
            <a:chExt cx="5276850" cy="1386482"/>
          </a:xfrm>
        </p:grpSpPr>
        <p:pic>
          <p:nvPicPr>
            <p:cNvPr id="101" name="Google Shape;101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5272004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857250" y="5353645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ဒီလို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အစက်လေးတွေနဲ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ြှ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ားလေးတွေ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ရှုပ်ယှက်ခတ်စွာ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ချိတ်ဆက်နေတဲ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ကွန်ရက်ကြီးကို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"Graph"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0E98908-13E0-A9C0-C5E3-F480ECBE35B2}"/>
              </a:ext>
            </a:extLst>
          </p:cNvPr>
          <p:cNvGrpSpPr/>
          <p:nvPr/>
        </p:nvGrpSpPr>
        <p:grpSpPr>
          <a:xfrm>
            <a:off x="581025" y="2340768"/>
            <a:ext cx="5276850" cy="1005482"/>
            <a:chOff x="581025" y="2340768"/>
            <a:chExt cx="5276850" cy="1005482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2340768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အစက်လေးများ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Facebook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သူငယ်ချင်း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တစ်ယောက်ချင်းစီဟာ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ဂရပ်ဖ်ထဲက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အစက်လေးတွေ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(Nodes)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2452091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4F21A8A-6DE8-AA5A-404F-2A4E2F693888}"/>
              </a:ext>
            </a:extLst>
          </p:cNvPr>
          <p:cNvGrpSpPr/>
          <p:nvPr/>
        </p:nvGrpSpPr>
        <p:grpSpPr>
          <a:xfrm>
            <a:off x="581025" y="3584376"/>
            <a:ext cx="5276850" cy="1340643"/>
            <a:chOff x="581025" y="3584376"/>
            <a:chExt cx="5276850" cy="1340643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104900" y="3584376"/>
              <a:ext cx="4752975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ချိတ်ဆက်ထားသော မျဉ်းများ: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သင်တို့နှစ်ယောက် Friend ဖြစ်သွားတဲ့အခါ အဲ့ဒီအစက်နှစ်ခုကြားမှာ မျဉ်းလေးတစ်ကြောင်း (Connection) နဲ့ လှမ်းချိတ်လိုက်သလိုပါပဲ။</a:t>
              </a:r>
              <a:endParaRPr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3679030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5"/>
          <p:cNvSpPr txBox="1"/>
          <p:nvPr/>
        </p:nvSpPr>
        <p:spPr>
          <a:xfrm>
            <a:off x="581025" y="260746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Facebook သူငယ်ချင်းများ 👥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1025" y="1137046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&#10;Facebook သူငယ်ချင်းများ 👥&#10;&#10;Graph တွေကို မြင်ယောင်ကြည့်ဖို့ အလွယ်ဆုံးက Social Network တွေ ကို ကြည့်တာပါ။&#10;&#10;အစက်လေးများ: Facebook ပေါ်က သင်၊ သင့်သူငယ်ချင်း တစ်ယောက်ချင်းစီဟာ ဂရပ်ဖ်ထဲက အစက်လေးတွေ (Nodes) တွေပါ။&#10;&#10;ချိတ်ဆက်ထားသော မျဉ်းများ: သင်တို့နှစ်ယောက် Friend ဖြစ်သွားတဲ့အခါ အဲ့ဒီအစက်နှစ်ခုကြားမှာ မျဉ်းလေးတစ်ကြောင်း (Connection) နဲ့ လှမ်းချိတ်လိုက်သလိုပါပဲ။&#10;&#10;ဒီလို အစက်လေးတွေနဲ့ မြှားလေးတွေ ရှုပ်ယှက်ခတ်စွာ ချိတ်ဆက်နေတဲ့ ကွန်ရက်ကြီးကို &quot;Graph&quot; လို့ ခေါ်ပါတယ်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10275" y="1307913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C835C48-1E69-15DA-295F-202F8D830B85}"/>
              </a:ext>
            </a:extLst>
          </p:cNvPr>
          <p:cNvGrpSpPr/>
          <p:nvPr/>
        </p:nvGrpSpPr>
        <p:grpSpPr>
          <a:xfrm>
            <a:off x="6334125" y="2046386"/>
            <a:ext cx="5540692" cy="1823235"/>
            <a:chOff x="6334125" y="2046386"/>
            <a:chExt cx="5540692" cy="1823235"/>
          </a:xfrm>
        </p:grpSpPr>
        <p:sp>
          <p:nvSpPr>
            <p:cNvPr id="116" name="Google Shape;116;p16"/>
            <p:cNvSpPr txBox="1"/>
            <p:nvPr/>
          </p:nvSpPr>
          <p:spPr>
            <a:xfrm>
              <a:off x="6334125" y="2046386"/>
              <a:ext cx="5540692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Vertices / Nodes (အစက်များ)</a:t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6334125" y="2528978"/>
              <a:ext cx="527685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Graph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ထဲမှာ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Data </a:t>
              </a: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တွေကို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သိမ်းဆည်းပေးထားတဲ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ဥပမာ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-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လူအမည်များ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မြို့အမည်များ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Router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စက်များ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စသဖြင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ဖြစ်နိုင်ပါတယ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(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အနည်းကိန်းကို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Vertex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်)</a:t>
              </a:r>
              <a:endParaRPr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C0BCEAD-85AF-A1F5-A69E-B20D37FF7C4E}"/>
              </a:ext>
            </a:extLst>
          </p:cNvPr>
          <p:cNvGrpSpPr/>
          <p:nvPr/>
        </p:nvGrpSpPr>
        <p:grpSpPr>
          <a:xfrm>
            <a:off x="6334125" y="4588540"/>
            <a:ext cx="5540692" cy="1442272"/>
            <a:chOff x="6334125" y="4588540"/>
            <a:chExt cx="5540692" cy="1442272"/>
          </a:xfrm>
        </p:grpSpPr>
        <p:sp>
          <p:nvSpPr>
            <p:cNvPr id="118" name="Google Shape;118;p16"/>
            <p:cNvSpPr txBox="1"/>
            <p:nvPr/>
          </p:nvSpPr>
          <p:spPr>
            <a:xfrm>
              <a:off x="6334125" y="4588540"/>
              <a:ext cx="5540692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2. Edges (</a:t>
              </a:r>
              <a:r>
                <a:rPr lang="en-US" sz="2100" b="0" i="0" u="none" strike="noStrike" cap="none" dirty="0" err="1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မျဉ်းများ</a:t>
              </a:r>
              <a:r>
                <a:rPr lang="en-US" sz="2100" b="0" i="0" u="none" strike="noStrike" cap="none" dirty="0">
                  <a:solidFill>
                    <a:srgbClr val="F472B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)</a:t>
              </a:r>
              <a:endParaRPr dirty="0"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6334125" y="5025330"/>
              <a:ext cx="527685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Node တွေကို အချင်းချင်း ဆက်သွယ်ပေးထားတဲ့ </a:t>
              </a:r>
              <a:r>
                <a:rPr lang="en-US" sz="1650" b="1" i="0" u="none" strike="noStrike" cap="none">
                  <a:solidFill>
                    <a:srgbClr val="F472B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သံယောဇဉ်ကြိုး (Connection / Relationship)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တွေ ဖြစ်ပါတယ်။ လမ်းကြောင်းတွေလို့လည်း မြင်နိုင်ပါတယ်။</a:t>
              </a:r>
              <a:endParaRPr/>
            </a:p>
          </p:txBody>
        </p:sp>
      </p:grpSp>
      <p:sp>
        <p:nvSpPr>
          <p:cNvPr id="120" name="Google Shape;120;p16"/>
          <p:cNvSpPr txBox="1"/>
          <p:nvPr/>
        </p:nvSpPr>
        <p:spPr>
          <a:xfrm>
            <a:off x="581025" y="581025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အဓိက</a:t>
            </a:r>
            <a:r>
              <a:rPr lang="en-US" sz="3150" b="0" i="0" u="none" strike="noStrike" cap="none" dirty="0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အစိတ်အပိုင်း</a:t>
            </a:r>
            <a:r>
              <a:rPr lang="en-US" sz="3150" b="0" i="0" u="none" strike="noStrike" cap="none" dirty="0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 ၂ ) </a:t>
            </a:r>
            <a:r>
              <a:rPr lang="en-US" sz="3150" b="0" i="0" u="none" strike="noStrike" cap="none" dirty="0" err="1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ခု</a:t>
            </a:r>
            <a:r>
              <a:rPr lang="en-US" sz="3150" b="0" i="0" u="none" strike="noStrike" cap="none" dirty="0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dirty="0"/>
          </a:p>
        </p:txBody>
      </p:sp>
      <p:sp>
        <p:nvSpPr>
          <p:cNvPr id="121" name="Google Shape;121;p16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5">
            <a:alphaModFix/>
          </a:blip>
          <a:srcRect t="8114"/>
          <a:stretch/>
        </p:blipFill>
        <p:spPr>
          <a:xfrm>
            <a:off x="581025" y="1995925"/>
            <a:ext cx="4876800" cy="44810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81025" y="1789961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Edge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ချိတ်ဆက်တဲ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ပုံစံပေ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မူတည်ပြီး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Graph (၂)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မျိုး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ခွဲခြားနိုင်ပါတယ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1B1788-40BD-6601-7687-641B5E98736B}"/>
              </a:ext>
            </a:extLst>
          </p:cNvPr>
          <p:cNvGrpSpPr/>
          <p:nvPr/>
        </p:nvGrpSpPr>
        <p:grpSpPr>
          <a:xfrm>
            <a:off x="581025" y="2429172"/>
            <a:ext cx="5276850" cy="3887390"/>
            <a:chOff x="581025" y="2429172"/>
            <a:chExt cx="5276850" cy="3887390"/>
          </a:xfrm>
        </p:grpSpPr>
        <p:pic>
          <p:nvPicPr>
            <p:cNvPr id="128" name="Google Shape;128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429172"/>
              <a:ext cx="5276850" cy="38873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6ACC7D2-03F7-E661-E7B3-3CF57289931A}"/>
                </a:ext>
              </a:extLst>
            </p:cNvPr>
            <p:cNvGrpSpPr/>
            <p:nvPr/>
          </p:nvGrpSpPr>
          <p:grpSpPr>
            <a:xfrm>
              <a:off x="971550" y="3391197"/>
              <a:ext cx="4495800" cy="2391965"/>
              <a:chOff x="971550" y="3391197"/>
              <a:chExt cx="4495800" cy="2391965"/>
            </a:xfrm>
          </p:grpSpPr>
          <p:sp>
            <p:nvSpPr>
              <p:cNvPr id="131" name="Google Shape;131;p17"/>
              <p:cNvSpPr txBox="1"/>
              <p:nvPr/>
            </p:nvSpPr>
            <p:spPr>
              <a:xfrm>
                <a:off x="971550" y="3391197"/>
                <a:ext cx="44958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(</a:t>
                </a: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အပြန်အလှန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 </a:t>
                </a: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လမ်းကြောင်း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)</a:t>
                </a:r>
                <a:endParaRPr dirty="0"/>
              </a:p>
            </p:txBody>
          </p:sp>
          <p:sp>
            <p:nvSpPr>
              <p:cNvPr id="132" name="Google Shape;132;p17"/>
              <p:cNvSpPr txBox="1"/>
              <p:nvPr/>
            </p:nvSpPr>
            <p:spPr>
              <a:xfrm>
                <a:off x="971550" y="3821608"/>
                <a:ext cx="4495800" cy="1340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Facebook မှာ </a:t>
                </a:r>
                <a:r>
                  <a:rPr lang="en-US" sz="1650" b="1" i="0" u="none" strike="noStrike" cap="none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A နဲ့ B Friend ဖြစ်သွားရင်</a:t>
                </a:r>
                <a:r>
                  <a:rPr lang="en-US" sz="16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A က B ရဲ့ wall ကို ကြည့်လို့ရသလို၊ B ကလည်း A ရဲ့ wall ကို ကြည့်လို့ရပါတယ်။ အပြန်အလှန် (Two-way) ချိတ်ဆက်ထားတဲ့ လမ်းကြောင်းမျိုးပါ။</a:t>
                </a:r>
                <a:endParaRPr/>
              </a:p>
            </p:txBody>
          </p:sp>
          <p:sp>
            <p:nvSpPr>
              <p:cNvPr id="133" name="Google Shape;133;p17"/>
              <p:cNvSpPr txBox="1"/>
              <p:nvPr/>
            </p:nvSpPr>
            <p:spPr>
              <a:xfrm>
                <a:off x="971550" y="5448002"/>
                <a:ext cx="44958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>
                    <a:solidFill>
                      <a:srgbClr val="22D3EE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 — B</a:t>
                </a:r>
                <a:endParaRPr/>
              </a:p>
            </p:txBody>
          </p:sp>
        </p:grpSp>
        <p:grpSp>
          <p:nvGrpSpPr>
            <p:cNvPr id="137" name="Google Shape;137;p17"/>
            <p:cNvGrpSpPr/>
            <p:nvPr/>
          </p:nvGrpSpPr>
          <p:grpSpPr>
            <a:xfrm>
              <a:off x="971550" y="2842995"/>
              <a:ext cx="4720500" cy="328377"/>
              <a:chOff x="971550" y="2842995"/>
              <a:chExt cx="4720500" cy="328377"/>
            </a:xfrm>
          </p:grpSpPr>
          <p:sp>
            <p:nvSpPr>
              <p:cNvPr id="138" name="Google Shape;138;p17"/>
              <p:cNvSpPr txBox="1"/>
              <p:nvPr/>
            </p:nvSpPr>
            <p:spPr>
              <a:xfrm>
                <a:off x="971550" y="2848272"/>
                <a:ext cx="47205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09575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 dirty="0">
                    <a:solidFill>
                      <a:srgbClr val="22D3EE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Undirected Graph</a:t>
                </a:r>
                <a:endParaRPr dirty="0"/>
              </a:p>
            </p:txBody>
          </p:sp>
          <p:pic>
            <p:nvPicPr>
              <p:cNvPr id="139" name="Google Shape;139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71550" y="284299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317F543-FC41-658A-3B84-7095A4EB2018}"/>
              </a:ext>
            </a:extLst>
          </p:cNvPr>
          <p:cNvGrpSpPr/>
          <p:nvPr/>
        </p:nvGrpSpPr>
        <p:grpSpPr>
          <a:xfrm>
            <a:off x="6334125" y="2429172"/>
            <a:ext cx="5276850" cy="3887390"/>
            <a:chOff x="6334125" y="2429172"/>
            <a:chExt cx="5276850" cy="3887390"/>
          </a:xfrm>
        </p:grpSpPr>
        <p:pic>
          <p:nvPicPr>
            <p:cNvPr id="129" name="Google Shape;129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34125" y="2429172"/>
              <a:ext cx="5276850" cy="38873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DCB72EF-D508-A3D1-9FE3-4CDF150343D7}"/>
                </a:ext>
              </a:extLst>
            </p:cNvPr>
            <p:cNvGrpSpPr/>
            <p:nvPr/>
          </p:nvGrpSpPr>
          <p:grpSpPr>
            <a:xfrm>
              <a:off x="6724650" y="3391197"/>
              <a:ext cx="4495800" cy="2391965"/>
              <a:chOff x="6724650" y="3391197"/>
              <a:chExt cx="4495800" cy="2391965"/>
            </a:xfrm>
          </p:grpSpPr>
          <p:sp>
            <p:nvSpPr>
              <p:cNvPr id="134" name="Google Shape;134;p17"/>
              <p:cNvSpPr txBox="1"/>
              <p:nvPr/>
            </p:nvSpPr>
            <p:spPr>
              <a:xfrm>
                <a:off x="6724650" y="3391197"/>
                <a:ext cx="44958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(</a:t>
                </a: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တစ်ဖက်သတ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် </a:t>
                </a:r>
                <a:r>
                  <a:rPr lang="en-US" sz="1650" b="1" i="0" u="none" strike="noStrike" cap="none" dirty="0" err="1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လမ်းကြောင်း</a:t>
                </a:r>
                <a:r>
                  <a:rPr lang="en-US" sz="1650" b="1" i="0" u="none" strike="noStrike" cap="none" dirty="0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)</a:t>
                </a:r>
                <a:endParaRPr dirty="0"/>
              </a:p>
            </p:txBody>
          </p:sp>
          <p:sp>
            <p:nvSpPr>
              <p:cNvPr id="135" name="Google Shape;135;p17"/>
              <p:cNvSpPr txBox="1"/>
              <p:nvPr/>
            </p:nvSpPr>
            <p:spPr>
              <a:xfrm>
                <a:off x="6724650" y="3821608"/>
                <a:ext cx="4495800" cy="1340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Instagram/Twitter မှာ </a:t>
                </a:r>
                <a:r>
                  <a:rPr lang="en-US" sz="1650" b="1" i="0" u="none" strike="noStrike" cap="none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A က B ကို Follow လုပ်တိုင်း</a:t>
                </a:r>
                <a:r>
                  <a:rPr lang="en-US" sz="16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B က ပြန် Follow လုပ်စရာ မလိုပါဘူး။ မြှားခေါင်းပါတဲ့ တစ်ဖက်သတ် (One-way) သွားလို့ရတဲ့ လမ်းကြောင်းမျိုးပါ။</a:t>
                </a:r>
                <a:endParaRPr/>
              </a:p>
            </p:txBody>
          </p:sp>
          <p:sp>
            <p:nvSpPr>
              <p:cNvPr id="136" name="Google Shape;136;p17"/>
              <p:cNvSpPr txBox="1"/>
              <p:nvPr/>
            </p:nvSpPr>
            <p:spPr>
              <a:xfrm>
                <a:off x="6724650" y="5448002"/>
                <a:ext cx="4495800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>
                    <a:solidFill>
                      <a:srgbClr val="A855F7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A → B (A မှ B သို့သာ ရသည်)</a:t>
                </a:r>
                <a:endParaRPr/>
              </a:p>
            </p:txBody>
          </p:sp>
        </p:grpSp>
        <p:grpSp>
          <p:nvGrpSpPr>
            <p:cNvPr id="140" name="Google Shape;140;p17"/>
            <p:cNvGrpSpPr/>
            <p:nvPr/>
          </p:nvGrpSpPr>
          <p:grpSpPr>
            <a:xfrm>
              <a:off x="6724650" y="2848272"/>
              <a:ext cx="4720500" cy="323100"/>
              <a:chOff x="6724650" y="2848272"/>
              <a:chExt cx="4720500" cy="323100"/>
            </a:xfrm>
          </p:grpSpPr>
          <p:sp>
            <p:nvSpPr>
              <p:cNvPr id="141" name="Google Shape;141;p17"/>
              <p:cNvSpPr txBox="1"/>
              <p:nvPr/>
            </p:nvSpPr>
            <p:spPr>
              <a:xfrm>
                <a:off x="6724650" y="2848272"/>
                <a:ext cx="47205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09575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 dirty="0">
                    <a:solidFill>
                      <a:srgbClr val="A855F7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Directed Graph</a:t>
                </a:r>
                <a:endParaRPr dirty="0"/>
              </a:p>
            </p:txBody>
          </p:sp>
          <p:pic>
            <p:nvPicPr>
              <p:cNvPr id="142" name="Google Shape;142;p17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724650" y="286092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3" name="Google Shape;143;p17"/>
          <p:cNvSpPr txBox="1"/>
          <p:nvPr/>
        </p:nvSpPr>
        <p:spPr>
          <a:xfrm>
            <a:off x="581025" y="541436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လမ်းကြောင်း အမျိုးအစားများ (Edges)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81025" y="1560611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4983" y="4414837"/>
            <a:ext cx="209550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81013" y="2952762"/>
            <a:ext cx="49635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WEIGHT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115942" y="1883568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Google Maps </a:t>
            </a:r>
            <a:r>
              <a:rPr lang="en-US" sz="21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မှာ</a:t>
            </a:r>
            <a:r>
              <a:rPr lang="en-US" sz="21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1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လမ်းတွေ</a:t>
            </a:r>
            <a:r>
              <a:rPr lang="en-US" sz="21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1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တိုင်းသလိုပါပဲ</a:t>
            </a:r>
            <a:endParaRPr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6115942" y="2488108"/>
            <a:ext cx="5495032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တချို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Graph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တွေရဲ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မျဉ်း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(Edge)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တွေပေ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BBF2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ကိန်းဂဏန်း</a:t>
            </a:r>
            <a:r>
              <a:rPr lang="en-US" sz="1650" b="1" i="0" u="none" strike="noStrike" cap="none" dirty="0">
                <a:solidFill>
                  <a:srgbClr val="FBBF2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BBF2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တန်ဖိုးတစ်ခု</a:t>
            </a:r>
            <a:r>
              <a:rPr lang="en-US" sz="1650" b="1" i="0" u="none" strike="noStrike" cap="none" dirty="0">
                <a:solidFill>
                  <a:srgbClr val="FBBF2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(Weight)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တပ်ထားလေ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ဒါကို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Weighted Graph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6115942" y="5523309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Google Maps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အမြန်ဆုံးနဲ</a:t>
            </a:r>
            <a:r>
              <a:rPr lang="en-US" sz="1650" b="1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အတိုဆုံးလမ်း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ရှာပေးတာ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ဒီ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Weight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တွက်ချက်ပြီး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1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ရှာပေးတာပ</a:t>
            </a:r>
            <a:r>
              <a:rPr lang="en-US" sz="1650" b="0" i="1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CADC13-0E36-5D92-DEB1-F05C894393AD}"/>
              </a:ext>
            </a:extLst>
          </p:cNvPr>
          <p:cNvGrpSpPr/>
          <p:nvPr/>
        </p:nvGrpSpPr>
        <p:grpSpPr>
          <a:xfrm>
            <a:off x="6098253" y="3803451"/>
            <a:ext cx="5512721" cy="1481732"/>
            <a:chOff x="6098253" y="3803451"/>
            <a:chExt cx="5512721" cy="1481732"/>
          </a:xfrm>
        </p:grpSpPr>
        <p:sp>
          <p:nvSpPr>
            <p:cNvPr id="156" name="Google Shape;156;p18"/>
            <p:cNvSpPr txBox="1"/>
            <p:nvPr/>
          </p:nvSpPr>
          <p:spPr>
            <a:xfrm>
              <a:off x="6639817" y="4376737"/>
              <a:ext cx="4971157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လေယာဉ်စီးရင် ကြာမယ့်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အချိန် (နာရီ)</a:t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6639817" y="4950023"/>
              <a:ext cx="4971157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ကားခ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ကုန်ကျစရိတ် (ကျပ်)</a:t>
              </a:r>
              <a:endParaRPr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F5803EA-EC19-CAD2-AB19-48C412311B5E}"/>
                </a:ext>
              </a:extLst>
            </p:cNvPr>
            <p:cNvGrpSpPr/>
            <p:nvPr/>
          </p:nvGrpSpPr>
          <p:grpSpPr>
            <a:xfrm>
              <a:off x="6144517" y="3803451"/>
              <a:ext cx="5466457" cy="358973"/>
              <a:chOff x="6144517" y="3803451"/>
              <a:chExt cx="5466457" cy="358973"/>
            </a:xfrm>
          </p:grpSpPr>
          <p:sp>
            <p:nvSpPr>
              <p:cNvPr id="155" name="Google Shape;155;p18"/>
              <p:cNvSpPr txBox="1"/>
              <p:nvPr/>
            </p:nvSpPr>
            <p:spPr>
              <a:xfrm>
                <a:off x="6639817" y="3803451"/>
                <a:ext cx="4971157" cy="335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CBD5E1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ရန်ကုန် ကနေ မန္တလေး ကိုသွားတဲ့ </a:t>
                </a:r>
                <a:r>
                  <a:rPr lang="en-US" sz="1650" b="1" i="0" u="none" strike="noStrike" cap="none">
                    <a:solidFill>
                      <a:srgbClr val="F8FAFC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ခရီးအကွာအဝေး (မိုင်)</a:t>
                </a:r>
                <a:endParaRPr/>
              </a:p>
            </p:txBody>
          </p:sp>
          <p:pic>
            <p:nvPicPr>
              <p:cNvPr id="158" name="Google Shape;158;p18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6144517" y="3905249"/>
                <a:ext cx="190500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9" name="Google Shape;159;p18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098253" y="4443411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8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101654" y="5028008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p18"/>
          <p:cNvSpPr txBox="1"/>
          <p:nvPr/>
        </p:nvSpPr>
        <p:spPr>
          <a:xfrm>
            <a:off x="581025" y="521493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အလေးချိန် (Weight) ဆိုတာ ဘာလဲ? ⚖️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1025" y="1540668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/>
      <p:bldP spid="1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957421D-8B2B-FC10-31B0-72F058026F93}"/>
              </a:ext>
            </a:extLst>
          </p:cNvPr>
          <p:cNvGrpSpPr/>
          <p:nvPr/>
        </p:nvGrpSpPr>
        <p:grpSpPr>
          <a:xfrm>
            <a:off x="581025" y="2191950"/>
            <a:ext cx="3486150" cy="4199324"/>
            <a:chOff x="581025" y="2191950"/>
            <a:chExt cx="3486150" cy="4199324"/>
          </a:xfrm>
        </p:grpSpPr>
        <p:pic>
          <p:nvPicPr>
            <p:cNvPr id="168" name="Google Shape;168;p19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191950"/>
              <a:ext cx="3486150" cy="41993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61104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9"/>
            <p:cNvSpPr txBox="1"/>
            <p:nvPr/>
          </p:nvSpPr>
          <p:spPr>
            <a:xfrm>
              <a:off x="876300" y="3611165"/>
              <a:ext cx="1580197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Undirected</a:t>
              </a:r>
              <a:endParaRPr/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876300" y="4154090"/>
              <a:ext cx="28956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မြှားခေါင်းမပါပါ။ လမ်းကြောင်းတွေက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အပြန်အလှန်</a:t>
              </a:r>
              <a:r>
                <a:rPr lang="en-US" sz="16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သွားလို့ရပါတယ်။ (သူငယ်ချင်း ဖြစ်ခြင်း)</a:t>
              </a:r>
              <a:endParaRPr/>
            </a:p>
          </p:txBody>
        </p:sp>
        <p:pic>
          <p:nvPicPr>
            <p:cNvPr id="180" name="Google Shape;180;p19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38225" y="2772965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6E20720-FFB5-9D36-564C-72587DB1ECD0}"/>
              </a:ext>
            </a:extLst>
          </p:cNvPr>
          <p:cNvGrpSpPr/>
          <p:nvPr/>
        </p:nvGrpSpPr>
        <p:grpSpPr>
          <a:xfrm>
            <a:off x="4352925" y="2191949"/>
            <a:ext cx="3486150" cy="4199325"/>
            <a:chOff x="4352925" y="2191949"/>
            <a:chExt cx="3486150" cy="4199325"/>
          </a:xfrm>
        </p:grpSpPr>
        <p:pic>
          <p:nvPicPr>
            <p:cNvPr id="169" name="Google Shape;169;p19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52925" y="2191949"/>
              <a:ext cx="3486150" cy="4199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9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648200" y="261104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9"/>
            <p:cNvSpPr txBox="1"/>
            <p:nvPr/>
          </p:nvSpPr>
          <p:spPr>
            <a:xfrm>
              <a:off x="4648200" y="3611165"/>
              <a:ext cx="12001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A855F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Directed</a:t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4648200" y="4154090"/>
              <a:ext cx="28956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ြှ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ားခေါင်းပါတယ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ြှ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ားပြထားတဲ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တစ်ဖက်သတ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လမ်းကြောင်း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အတိုင်းပဲ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သွားလို့ရပါတယ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(Follow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လုပ်ခြင်း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)</a:t>
              </a:r>
              <a:endParaRPr dirty="0"/>
            </a:p>
          </p:txBody>
        </p:sp>
        <p:pic>
          <p:nvPicPr>
            <p:cNvPr id="181" name="Google Shape;181;p19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10125" y="2825353"/>
              <a:ext cx="438150" cy="333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A8DC96A-840F-804C-6924-ACE1E9B796D8}"/>
              </a:ext>
            </a:extLst>
          </p:cNvPr>
          <p:cNvGrpSpPr/>
          <p:nvPr/>
        </p:nvGrpSpPr>
        <p:grpSpPr>
          <a:xfrm>
            <a:off x="8124825" y="2191950"/>
            <a:ext cx="3486150" cy="4199324"/>
            <a:chOff x="8124825" y="2191950"/>
            <a:chExt cx="3486150" cy="4199324"/>
          </a:xfrm>
        </p:grpSpPr>
        <p:pic>
          <p:nvPicPr>
            <p:cNvPr id="170" name="Google Shape;170;p19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24825" y="2191950"/>
              <a:ext cx="3486150" cy="41993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20100" y="261104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9"/>
            <p:cNvSpPr txBox="1"/>
            <p:nvPr/>
          </p:nvSpPr>
          <p:spPr>
            <a:xfrm>
              <a:off x="8420100" y="3611165"/>
              <a:ext cx="1390173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BBF2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Weighted</a:t>
              </a:r>
              <a:endParaRPr/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8420100" y="4154090"/>
              <a:ext cx="28956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Edge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တွေပေ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တန်ဖိုး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အကွာအဝေး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အချိန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်)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ရေးထားပါတယ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Shortest path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ရှာရာတွင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အသုံးများပါတယ</a:t>
              </a:r>
              <a:r>
                <a:rPr lang="en-US" sz="16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82" name="Google Shape;182;p19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582025" y="2772965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Graph ဖွဲ့စည်းပုံ အကျဉ်းချုပ် 📝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5524500" y="2044154"/>
            <a:ext cx="1143000" cy="5715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345406" y="2387054"/>
            <a:ext cx="9501187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Memory ထဲမှာ ဘယ်လိုသိမ်းမလဲ?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2286000" y="391105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Graph ကြီးကို ကွန်ပျူတာက ပုံဆွဲပြီး နားမလည်ပါဘူး။ ဒါကြောင့် Code ထဲမှာ Graph ကို သိမ်းဆည်းဖို့ (Graph Representation) အဓိက </a:t>
            </a:r>
            <a:r>
              <a:rPr lang="en-US" sz="1950" b="1" i="0" u="none" strike="noStrike" cap="none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နည်းလမ်း (၂) မျိုး</a:t>
            </a:r>
            <a:r>
              <a:rPr lang="en-US" sz="1950" b="0" i="0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ရှိပါတယ်။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2686495"/>
            <a:ext cx="5276850" cy="1405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473029"/>
            <a:ext cx="5276850" cy="192137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1025" y="1825674"/>
            <a:ext cx="110299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Graph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2D Array (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အလျား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×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အနံ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ဇယား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အဖြစ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တည်ဆောက်လိုက်တာပ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 (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ချိတ်ဆက်ထားရင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1၊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မချိတ်ထားရင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0)</a:t>
            </a:r>
            <a:endParaRPr dirty="0"/>
          </a:p>
        </p:txBody>
      </p:sp>
      <p:graphicFrame>
        <p:nvGraphicFramePr>
          <p:cNvPr id="203" name="Google Shape;203;p21"/>
          <p:cNvGraphicFramePr/>
          <p:nvPr>
            <p:extLst>
              <p:ext uri="{D42A27DB-BD31-4B8C-83A1-F6EECF244321}">
                <p14:modId xmlns:p14="http://schemas.microsoft.com/office/powerpoint/2010/main" val="1105334468"/>
              </p:ext>
            </p:extLst>
          </p:nvPr>
        </p:nvGraphicFramePr>
        <p:xfrm>
          <a:off x="581025" y="2692080"/>
          <a:ext cx="5257825" cy="3339852"/>
        </p:xfrm>
        <a:graphic>
          <a:graphicData uri="http://schemas.openxmlformats.org/drawingml/2006/table">
            <a:tbl>
              <a:tblPr firstRow="1" bandRow="1">
                <a:noFill/>
                <a:tableStyleId>{E96BB9B9-0D44-4DB0-91D4-548E5352D2F5}</a:tableStyleId>
              </a:tblPr>
              <a:tblGrid>
                <a:gridCol w="136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49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72B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72B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F472B6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9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72B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9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72B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9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72B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8" name="Google Shape;208;p21"/>
          <p:cNvSpPr txBox="1"/>
          <p:nvPr/>
        </p:nvSpPr>
        <p:spPr>
          <a:xfrm>
            <a:off x="6610350" y="2958035"/>
            <a:ext cx="47625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အားသာချက</a:t>
            </a:r>
            <a:r>
              <a:rPr lang="en-US" sz="1650" b="1" i="0" u="none" strike="noStrike" cap="none" dirty="0">
                <a:solidFill>
                  <a:srgbClr val="F472B6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်: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Edge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ရှိမရှိ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စစ်ဆေး</a:t>
            </a:r>
            <a:r>
              <a:rPr lang="my-MM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ရင်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matrix[A][B]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တိုက်ရိုက်ခေ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လို့ရလို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O(1)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နဲ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အရမ်းမြန်ပါတယ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209" name="Google Shape;209;p21"/>
          <p:cNvSpPr txBox="1"/>
          <p:nvPr/>
        </p:nvSpPr>
        <p:spPr>
          <a:xfrm>
            <a:off x="6610350" y="4663529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အားနည်းချက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်: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Node (V)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အားလုံးအတွက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ဇယားဆွဲရလို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Space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E67AC-7FF4-5410-A5B8-66121F97A6D8}"/>
              </a:ext>
            </a:extLst>
          </p:cNvPr>
          <p:cNvGrpSpPr/>
          <p:nvPr/>
        </p:nvGrpSpPr>
        <p:grpSpPr>
          <a:xfrm>
            <a:off x="6610350" y="5516314"/>
            <a:ext cx="687883" cy="231874"/>
            <a:chOff x="6610350" y="5381476"/>
            <a:chExt cx="687883" cy="231874"/>
          </a:xfrm>
        </p:grpSpPr>
        <p:pic>
          <p:nvPicPr>
            <p:cNvPr id="201" name="Google Shape;201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10350" y="5381476"/>
              <a:ext cx="687883" cy="231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67500" y="5410051"/>
              <a:ext cx="573583" cy="174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1"/>
          <p:cNvSpPr txBox="1"/>
          <p:nvPr/>
        </p:nvSpPr>
        <p:spPr>
          <a:xfrm>
            <a:off x="581025" y="463599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472B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Adjacency Matrix (ဇယားကွက်ဖြင့် သိမ်းခြင်း)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81025" y="1482774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81025" y="1819721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Node တစ်ခုချင်းစီမှာ သူနဲ့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တိုက်ရိုက် ချိတ်ဆက်ထားတဲ့ (Neighbors) စာရင်းကိုပဲ</a:t>
            </a:r>
            <a:r>
              <a:rPr lang="en-US" sz="1650" b="0" i="0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Array လေးတွေနဲ့ မှတ်ထားတဲ့နည်းပါ။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05C7B0-CDA7-B368-DA10-3114946EA581}"/>
              </a:ext>
            </a:extLst>
          </p:cNvPr>
          <p:cNvGrpSpPr/>
          <p:nvPr/>
        </p:nvGrpSpPr>
        <p:grpSpPr>
          <a:xfrm>
            <a:off x="1771900" y="2812098"/>
            <a:ext cx="8572575" cy="660300"/>
            <a:chOff x="1771900" y="2812098"/>
            <a:chExt cx="8572575" cy="660300"/>
          </a:xfrm>
        </p:grpSpPr>
        <p:sp>
          <p:nvSpPr>
            <p:cNvPr id="227" name="Google Shape;227;p22"/>
            <p:cNvSpPr txBox="1"/>
            <p:nvPr/>
          </p:nvSpPr>
          <p:spPr>
            <a:xfrm>
              <a:off x="2295775" y="2812098"/>
              <a:ext cx="8048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အသုံးအများဆုံး နည်းလမ်း: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Space Complexity က O(</a:t>
              </a:r>
              <a:r>
                <a:rPr lang="en-US" sz="165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V + E )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သာရှိလို့ Memory အရမ်း သက်သာပါတယ်။</a:t>
              </a:r>
              <a:endParaRPr/>
            </a:p>
          </p:txBody>
        </p:sp>
        <p:pic>
          <p:nvPicPr>
            <p:cNvPr id="229" name="Google Shape;229;p22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71900" y="2885073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2"/>
          <p:cNvSpPr txBox="1"/>
          <p:nvPr/>
        </p:nvSpPr>
        <p:spPr>
          <a:xfrm>
            <a:off x="581025" y="457646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Adjacency List (စာရင်းဖြင့် သိမ်းခြင်း)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81025" y="1476821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FF476DD-C84E-181B-EAD6-F9DA2DB91BAA}"/>
              </a:ext>
            </a:extLst>
          </p:cNvPr>
          <p:cNvGrpSpPr/>
          <p:nvPr/>
        </p:nvGrpSpPr>
        <p:grpSpPr>
          <a:xfrm>
            <a:off x="581025" y="2733751"/>
            <a:ext cx="3486150" cy="2705350"/>
            <a:chOff x="581025" y="2733751"/>
            <a:chExt cx="3486150" cy="2705350"/>
          </a:xfrm>
        </p:grpSpPr>
        <p:pic>
          <p:nvPicPr>
            <p:cNvPr id="238" name="Google Shape;238;p2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733751"/>
              <a:ext cx="3486150" cy="27053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1" name="Google Shape;241;p23"/>
            <p:cNvGrpSpPr/>
            <p:nvPr/>
          </p:nvGrpSpPr>
          <p:grpSpPr>
            <a:xfrm>
              <a:off x="753903" y="3168375"/>
              <a:ext cx="3140400" cy="1883325"/>
              <a:chOff x="753903" y="3168375"/>
              <a:chExt cx="3140400" cy="1883325"/>
            </a:xfrm>
          </p:grpSpPr>
          <p:sp>
            <p:nvSpPr>
              <p:cNvPr id="242" name="Google Shape;242;p23"/>
              <p:cNvSpPr txBox="1"/>
              <p:nvPr/>
            </p:nvSpPr>
            <p:spPr>
              <a:xfrm>
                <a:off x="753903" y="3168374"/>
                <a:ext cx="3140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 dirty="0">
                    <a:solidFill>
                      <a:srgbClr val="FBBF24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GPS Navigation</a:t>
                </a:r>
                <a:endParaRPr dirty="0"/>
              </a:p>
            </p:txBody>
          </p:sp>
          <p:sp>
            <p:nvSpPr>
              <p:cNvPr id="243" name="Google Shape;243;p23"/>
              <p:cNvSpPr txBox="1"/>
              <p:nvPr/>
            </p:nvSpPr>
            <p:spPr>
              <a:xfrm>
                <a:off x="828675" y="3597000"/>
                <a:ext cx="2991000" cy="145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Google Maps ကနေ အတိုဆုံးလမ်းကြောင်း (Shortest Path) ရှာပေးတာဟာ မြို့တွေကို Vertex၊ လမ်းတွေကို Edge တွေအဖြစ် သတ်မှတ်ပြီး တွက်ချက်တာပါ။</a:t>
                </a:r>
                <a:endParaRPr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CCFB8D4-88C8-787E-D381-B1F88E9FFB1B}"/>
              </a:ext>
            </a:extLst>
          </p:cNvPr>
          <p:cNvGrpSpPr/>
          <p:nvPr/>
        </p:nvGrpSpPr>
        <p:grpSpPr>
          <a:xfrm>
            <a:off x="4352925" y="2733751"/>
            <a:ext cx="3486150" cy="2705350"/>
            <a:chOff x="4352925" y="2733751"/>
            <a:chExt cx="3486150" cy="2705350"/>
          </a:xfrm>
        </p:grpSpPr>
        <p:pic>
          <p:nvPicPr>
            <p:cNvPr id="239" name="Google Shape;239;p23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2733751"/>
              <a:ext cx="3486150" cy="27053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4" name="Google Shape;244;p23"/>
            <p:cNvGrpSpPr/>
            <p:nvPr/>
          </p:nvGrpSpPr>
          <p:grpSpPr>
            <a:xfrm>
              <a:off x="4525803" y="3168387"/>
              <a:ext cx="3140400" cy="1571625"/>
              <a:chOff x="4525803" y="3168387"/>
              <a:chExt cx="3140400" cy="1571625"/>
            </a:xfrm>
          </p:grpSpPr>
          <p:sp>
            <p:nvSpPr>
              <p:cNvPr id="245" name="Google Shape;245;p23"/>
              <p:cNvSpPr txBox="1"/>
              <p:nvPr/>
            </p:nvSpPr>
            <p:spPr>
              <a:xfrm>
                <a:off x="4525803" y="3168387"/>
                <a:ext cx="3140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>
                    <a:solidFill>
                      <a:srgbClr val="22D3EE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Social Networks</a:t>
                </a:r>
                <a:endParaRPr/>
              </a:p>
            </p:txBody>
          </p:sp>
          <p:sp>
            <p:nvSpPr>
              <p:cNvPr id="246" name="Google Shape;246;p23"/>
              <p:cNvSpPr txBox="1"/>
              <p:nvPr/>
            </p:nvSpPr>
            <p:spPr>
              <a:xfrm>
                <a:off x="4600575" y="3597012"/>
                <a:ext cx="2991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"People You May Know" လို့ Facebook က ပြပေးတာတွေက ကိုယ့် သူငယ်ချင်းရဲ့ သူငယ်ချင်း (Mutual friends graph) တွေကို လိုက်စစ်ပေးတာပါ။</a:t>
                </a:r>
                <a:endParaRPr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54156AD-F802-39A1-DEC1-656CA61714AC}"/>
              </a:ext>
            </a:extLst>
          </p:cNvPr>
          <p:cNvGrpSpPr/>
          <p:nvPr/>
        </p:nvGrpSpPr>
        <p:grpSpPr>
          <a:xfrm>
            <a:off x="8124825" y="2733751"/>
            <a:ext cx="3486150" cy="2705350"/>
            <a:chOff x="8124825" y="2733751"/>
            <a:chExt cx="3486150" cy="2705350"/>
          </a:xfrm>
        </p:grpSpPr>
        <p:pic>
          <p:nvPicPr>
            <p:cNvPr id="240" name="Google Shape;240;p2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2733751"/>
              <a:ext cx="3486150" cy="27053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7" name="Google Shape;247;p23"/>
            <p:cNvGrpSpPr/>
            <p:nvPr/>
          </p:nvGrpSpPr>
          <p:grpSpPr>
            <a:xfrm>
              <a:off x="8297703" y="3157537"/>
              <a:ext cx="3140400" cy="1582475"/>
              <a:chOff x="8297703" y="3157537"/>
              <a:chExt cx="3140400" cy="1582475"/>
            </a:xfrm>
          </p:grpSpPr>
          <p:sp>
            <p:nvSpPr>
              <p:cNvPr id="248" name="Google Shape;248;p23"/>
              <p:cNvSpPr txBox="1"/>
              <p:nvPr/>
            </p:nvSpPr>
            <p:spPr>
              <a:xfrm>
                <a:off x="8297703" y="3157537"/>
                <a:ext cx="3140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>
                    <a:solidFill>
                      <a:srgbClr val="F472B6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Recommendation Engines</a:t>
                </a:r>
                <a:endParaRPr/>
              </a:p>
            </p:txBody>
          </p:sp>
          <p:sp>
            <p:nvSpPr>
              <p:cNvPr id="249" name="Google Shape;249;p23"/>
              <p:cNvSpPr txBox="1"/>
              <p:nvPr/>
            </p:nvSpPr>
            <p:spPr>
              <a:xfrm>
                <a:off x="8372400" y="3597012"/>
                <a:ext cx="2991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0" i="0" u="none" strike="noStrike" cap="none">
                    <a:solidFill>
                      <a:srgbClr val="94A3B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YouTube နဲ့ Netflix တွေက သင်ကြည့်ခဲ့တဲ့ ဗီဒီယိုတွေနဲ့ ဆက်စပ်နေတဲ့ (Connected Edges) ဗီဒီယို အသစ်တွေကို ရွေးချယ် ပြသပေးပါတယ်။</a:t>
                </a:r>
                <a:endParaRPr/>
              </a:p>
            </p:txBody>
          </p:sp>
        </p:grpSp>
      </p:grpSp>
      <p:sp>
        <p:nvSpPr>
          <p:cNvPr id="250" name="Google Shape;250;p23"/>
          <p:cNvSpPr txBox="1"/>
          <p:nvPr/>
        </p:nvSpPr>
        <p:spPr>
          <a:xfrm>
            <a:off x="581025" y="461962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ဘယ်နေရာတွေမှာ သုံးလဲ? (Real World Uses)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81025" y="1481137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3|11.7|5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9|1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7|4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4.1|16.2|33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8.5|14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20.6|19.4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1601</Words>
  <Application>Microsoft Macintosh PowerPoint</Application>
  <PresentationFormat>Widescreen</PresentationFormat>
  <Paragraphs>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Noto Sans Myanmar</vt:lpstr>
      <vt:lpstr>Poppins</vt:lpstr>
      <vt:lpstr>Fira Code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8</cp:revision>
  <cp:lastPrinted>2026-03-29T11:02:55Z</cp:lastPrinted>
  <dcterms:modified xsi:type="dcterms:W3CDTF">2026-04-06T15:49:48Z</dcterms:modified>
</cp:coreProperties>
</file>