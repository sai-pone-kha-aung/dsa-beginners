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Fira Code" panose="020B0809050000020004" pitchFamily="49" charset="0"/>
      <p:regular r:id="rId15"/>
      <p:bold r:id="rId16"/>
    </p:embeddedFont>
    <p:embeddedFont>
      <p:font typeface="Lato" panose="020F0502020204030203" pitchFamily="34" charset="77"/>
      <p:regular r:id="rId17"/>
      <p:bold r:id="rId18"/>
      <p:italic r:id="rId19"/>
      <p:boldItalic r:id="rId20"/>
    </p:embeddedFont>
    <p:embeddedFont>
      <p:font typeface="Noto Sans Myanmar" panose="020B0502040504020204" pitchFamily="34" charset="0"/>
      <p:regular r:id="rId21"/>
      <p:bold r:id="rId22"/>
    </p:embeddedFont>
    <p:embeddedFont>
      <p:font typeface="Poppins" pitchFamily="2" charset="77"/>
      <p:regular r:id="rId23"/>
      <p:bold r:id="rId24"/>
      <p:italic r:id="rId25"/>
      <p:boldItalic r:id="rId26"/>
    </p:embeddedFont>
    <p:embeddedFont>
      <p:font typeface="Poppins SemiBold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4911FC-18B0-4432-8549-FFF36260E688}">
  <a:tblStyle styleId="{D74911FC-18B0-4432-8549-FFF36260E6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A15528B8-C1C8-B99E-12FE-E4573FCA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>
            <a:extLst>
              <a:ext uri="{FF2B5EF4-FFF2-40B4-BE49-F238E27FC236}">
                <a16:creationId xmlns:a16="http://schemas.microsoft.com/office/drawing/2014/main" id="{45D084C1-E555-3D9A-7388-23CE91719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>
            <a:extLst>
              <a:ext uri="{FF2B5EF4-FFF2-40B4-BE49-F238E27FC236}">
                <a16:creationId xmlns:a16="http://schemas.microsoft.com/office/drawing/2014/main" id="{8114FBA5-717D-A41E-8497-B2D3F1BFAD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705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6D48120E-6884-29EA-5B16-F1B5FFE9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>
            <a:extLst>
              <a:ext uri="{FF2B5EF4-FFF2-40B4-BE49-F238E27FC236}">
                <a16:creationId xmlns:a16="http://schemas.microsoft.com/office/drawing/2014/main" id="{C4EB85C1-1574-99AF-6C06-ABAEF33E18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>
            <a:extLst>
              <a:ext uri="{FF2B5EF4-FFF2-40B4-BE49-F238E27FC236}">
                <a16:creationId xmlns:a16="http://schemas.microsoft.com/office/drawing/2014/main" id="{622D1594-2632-561E-3DE5-D76421166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44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jpg"/><Relationship Id="rId4" Type="http://schemas.openxmlformats.org/officeDocument/2006/relationships/image" Target="../media/image1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6" y="2390254"/>
            <a:ext cx="90011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Binary Search </a:t>
            </a:r>
            <a:r>
              <a:rPr lang="en-US" sz="5625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Tree</a:t>
            </a:r>
            <a:endParaRPr dirty="0"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27E62690-A5C3-7C55-F66E-D5D529191DF7}"/>
              </a:ext>
            </a:extLst>
          </p:cNvPr>
          <p:cNvSpPr txBox="1"/>
          <p:nvPr/>
        </p:nvSpPr>
        <p:spPr>
          <a:xfrm>
            <a:off x="1809749" y="4057092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- 17 ]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044154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320528" y="2387054"/>
            <a:ext cx="7550943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Binary Tree ကနေ BST သို့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911054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သစ်ပင်တိုင်းဟာ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ရှာဖွေရ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လွယ်ကူတာ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မဟုတ်ပါဘူး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။ Tree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ထဲမှာ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 err="1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စည်းကမ်းတက</a:t>
            </a:r>
            <a:r>
              <a:rPr lang="en-US" sz="1950" b="1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ျ </a:t>
            </a:r>
            <a:r>
              <a:rPr lang="en-US" sz="1950" b="1" i="0" u="none" strike="noStrike" cap="none" dirty="0" err="1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နေရာချထားမှသာ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Binary Search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အလွန်မြန်ဆန်တဲ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အမြန်နှုန်းကို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ရရှိမှာ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ဖြစ်ပါတယ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1553170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BST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အကြောင်းမပြောခင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1" i="0" u="none" strike="noStrike" cap="none" dirty="0">
                <a:solidFill>
                  <a:srgbClr val="38BDF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Binary Tree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အရင်နားလည်ရပါမယ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271A92-A32F-6375-AB4E-6BBBC9232B01}"/>
              </a:ext>
            </a:extLst>
          </p:cNvPr>
          <p:cNvGrpSpPr/>
          <p:nvPr/>
        </p:nvGrpSpPr>
        <p:grpSpPr>
          <a:xfrm>
            <a:off x="581025" y="4947046"/>
            <a:ext cx="5276850" cy="1576984"/>
            <a:chOff x="581025" y="4947046"/>
            <a:chExt cx="5276850" cy="1576984"/>
          </a:xfrm>
        </p:grpSpPr>
        <p:pic>
          <p:nvPicPr>
            <p:cNvPr id="100" name="Google Shape;100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4947046"/>
              <a:ext cx="5276850" cy="15769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5"/>
            <p:cNvSpPr txBox="1"/>
            <p:nvPr/>
          </p:nvSpPr>
          <p:spPr>
            <a:xfrm>
              <a:off x="857250" y="5137546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Child လုံးဝ မရှိတာ (သို့) ၁ ခုတည်း ရှိတာလည်း ရပါတယ်။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၃ ခုနဲ့အထက် ရှိလို့မရတာကို</a:t>
              </a:r>
              <a:r>
                <a:rPr lang="en-US" sz="1650" b="0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Binary (နှစ်ခု) လို့ ခေါ်တာပါ။</a:t>
              </a:r>
              <a:endParaRPr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6259B5-8801-550C-E9CF-1FF9E57E0523}"/>
              </a:ext>
            </a:extLst>
          </p:cNvPr>
          <p:cNvGrpSpPr/>
          <p:nvPr/>
        </p:nvGrpSpPr>
        <p:grpSpPr>
          <a:xfrm>
            <a:off x="581025" y="2556867"/>
            <a:ext cx="5276850" cy="1005482"/>
            <a:chOff x="581025" y="2556867"/>
            <a:chExt cx="5276850" cy="1005482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1104900" y="2556867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အများဆုံး နှစ်ခု (Max 2 Children):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Node တစ်ခုစီတိုင်းမှာ Child Node က အများဆုံး (၂) ခုပဲ ရှိခွင့်ပြုပါတယ်။</a:t>
              </a:r>
              <a:endParaRPr/>
            </a:p>
          </p:txBody>
        </p:sp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2682477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15E97C-9604-4CF0-AC63-338AC1629E0E}"/>
              </a:ext>
            </a:extLst>
          </p:cNvPr>
          <p:cNvGrpSpPr/>
          <p:nvPr/>
        </p:nvGrpSpPr>
        <p:grpSpPr>
          <a:xfrm>
            <a:off x="581025" y="3800475"/>
            <a:ext cx="5276850" cy="335160"/>
            <a:chOff x="581025" y="3800475"/>
            <a:chExt cx="5276850" cy="335160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3800475"/>
              <a:ext cx="4752975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တစ်ခုက </a:t>
              </a:r>
              <a:r>
                <a:rPr lang="en-US" sz="1650" b="1" i="0" u="none" strike="noStrike" cap="none">
                  <a:solidFill>
                    <a:srgbClr val="38BDF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Left Child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(ဘယ်ဘက် ကလေး) ပါ။</a:t>
              </a:r>
              <a:endParaRPr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3878455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126F79C-765C-C9BC-1845-B633270A6107}"/>
              </a:ext>
            </a:extLst>
          </p:cNvPr>
          <p:cNvGrpSpPr/>
          <p:nvPr/>
        </p:nvGrpSpPr>
        <p:grpSpPr>
          <a:xfrm>
            <a:off x="581025" y="4373760"/>
            <a:ext cx="5276850" cy="335160"/>
            <a:chOff x="581025" y="4373760"/>
            <a:chExt cx="5276850" cy="335160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1104900" y="4373760"/>
              <a:ext cx="4752975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နောက်တစ်ခုက </a:t>
              </a:r>
              <a:r>
                <a:rPr lang="en-US" sz="1650" b="1" i="0" u="none" strike="noStrike" cap="none">
                  <a:solidFill>
                    <a:srgbClr val="38BDF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Right Child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(ညာဘက် ကလေး) ပါ။</a:t>
              </a:r>
              <a:endParaRPr/>
            </a:p>
          </p:txBody>
        </p:sp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81025" y="4451745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5"/>
          <p:cNvSpPr txBox="1"/>
          <p:nvPr/>
        </p:nvSpPr>
        <p:spPr>
          <a:xfrm>
            <a:off x="581025" y="333970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Binary Tree ဆိုတာ ဘာလဲ? (အခြေခံ)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1353145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 descr="&#10;Binary Tree ဆိုတာ ဘာလဲ? (အခြေခံ)&#10;&#10;BST အကြောင်းမပြောခင် Binary Tree ကို အရင်နားလည်ရပါမယ်။&#10;&#10;အများဆုံး နှစ်ခု (Max 2 Children): Node တစ်ခုစီတိုင်းမှာ Child Node က အများဆုံး (၂) ခုပဲ ရှိခွင့်ပြုပါတယ်။&#10;&#10;တစ်ခုက Left Child (ဘယ်ဘက် ကလေး) ပါ။&#10;&#10;နောက်တစ်ခုက Right Child (ညာဘက် ကလေး) ပါ။&#10;&#10;Child လုံးဝ မရှိတာ (သို့) ၁ ခုတည်း ရှိတာလည်း ရပါတယ်။ ၃ ခုနဲ့အထက် ရှိလို့မရတာကို Binary (နှစ်ခု) လို့ ခေါ်တာပါ။&#10;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34175" y="15296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62608" y="4167187"/>
            <a:ext cx="20002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88767" y="3048000"/>
            <a:ext cx="496341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L &lt; N &lt; R</a:t>
            </a:r>
            <a:endParaRPr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6115942" y="1529357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ဘယ်ဘက်က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ငယ်မယ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်၊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ညာဘက်က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ကြီးမယ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</a:t>
            </a:r>
            <a:endParaRPr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6115942" y="2123182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Binary Tree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FBBF2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Binary Search Tree (BST)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အောက်ပ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စည်းကမ်းချက်နဲ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ပြည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စုံရပါမယ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6115942" y="5601295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ဒီစည်းမျဉ်းဟာ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သစ်ပင်ရဲ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အစိတ်အပိုင်းတိုင်း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(Node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တိုင်း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)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အတွက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အကျုံးဝင်ပါတယ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A8FD76-5E93-3DEA-7BE8-F3100BED1B2A}"/>
              </a:ext>
            </a:extLst>
          </p:cNvPr>
          <p:cNvGrpSpPr/>
          <p:nvPr/>
        </p:nvGrpSpPr>
        <p:grpSpPr>
          <a:xfrm>
            <a:off x="6101184" y="3114079"/>
            <a:ext cx="5509790" cy="1005482"/>
            <a:chOff x="6101184" y="3114079"/>
            <a:chExt cx="5509790" cy="1005482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6639817" y="3114079"/>
              <a:ext cx="4971157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38BDF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Left Subtree: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ဘယ်ဘက်ခြမ်းမှာ ရှိတဲ့ Node တွေ အားလုံးရဲ့ တန်ဖိုးဟာ မိဘ (Root) ထက်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အမြဲတမ်း ငယ်ရပါမယ်။</a:t>
              </a:r>
              <a:endParaRPr/>
            </a:p>
          </p:txBody>
        </p:sp>
        <p:pic>
          <p:nvPicPr>
            <p:cNvPr id="124" name="Google Shape;124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01184" y="3203099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7A4B7B1-854C-8C24-6CEF-E9FD5B77C33E}"/>
              </a:ext>
            </a:extLst>
          </p:cNvPr>
          <p:cNvGrpSpPr/>
          <p:nvPr/>
        </p:nvGrpSpPr>
        <p:grpSpPr>
          <a:xfrm>
            <a:off x="6125466" y="4357687"/>
            <a:ext cx="5485508" cy="1005482"/>
            <a:chOff x="6125466" y="4357687"/>
            <a:chExt cx="5485508" cy="1005482"/>
          </a:xfrm>
        </p:grpSpPr>
        <p:sp>
          <p:nvSpPr>
            <p:cNvPr id="123" name="Google Shape;123;p16"/>
            <p:cNvSpPr txBox="1"/>
            <p:nvPr/>
          </p:nvSpPr>
          <p:spPr>
            <a:xfrm>
              <a:off x="6639817" y="4357687"/>
              <a:ext cx="4971157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Right Subtree: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ညာဘက်ခြမ်းမှာ ရှိတဲ့ Node တွေ အားလုံးရဲ့ တန်ဖိုးဟာ မိဘ (Root) ထက်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အမြဲတမ်း ကြီးရပါမယ်။</a:t>
              </a:r>
              <a:endParaRPr/>
            </a:p>
          </p:txBody>
        </p:sp>
        <p:pic>
          <p:nvPicPr>
            <p:cNvPr id="125" name="Google Shape;125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125466" y="4424403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6"/>
          <p:cNvSpPr txBox="1"/>
          <p:nvPr/>
        </p:nvSpPr>
        <p:spPr>
          <a:xfrm>
            <a:off x="581025" y="443507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Golden Rule of BST 🏆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81025" y="1186457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81025" y="1382316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ဘယ်ဘက်က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မှန်ကန်တဲ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BST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ဖြစ်ပြီး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ညာဘက်ကတော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စည်းကမ်းဖောက်ဖျက်ထားတဲ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သာမန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Binary Tree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4F8D27-03AF-9FED-C898-8B61B2D78115}"/>
              </a:ext>
            </a:extLst>
          </p:cNvPr>
          <p:cNvGrpSpPr/>
          <p:nvPr/>
        </p:nvGrpSpPr>
        <p:grpSpPr>
          <a:xfrm>
            <a:off x="581026" y="1979415"/>
            <a:ext cx="5276850" cy="4660872"/>
            <a:chOff x="581025" y="1979415"/>
            <a:chExt cx="5276850" cy="4660872"/>
          </a:xfrm>
        </p:grpSpPr>
        <p:pic>
          <p:nvPicPr>
            <p:cNvPr id="133" name="Google Shape;133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1979415"/>
              <a:ext cx="5276850" cy="46608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09887" y="3179564"/>
              <a:ext cx="619125" cy="619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505075" y="4322564"/>
              <a:ext cx="619125" cy="619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7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314700" y="4322564"/>
              <a:ext cx="619125" cy="619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7"/>
            <p:cNvSpPr txBox="1"/>
            <p:nvPr/>
          </p:nvSpPr>
          <p:spPr>
            <a:xfrm>
              <a:off x="2179047" y="2373853"/>
              <a:ext cx="2271305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195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Valid BST</a:t>
              </a:r>
              <a:endParaRPr dirty="0"/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971550" y="5227439"/>
              <a:ext cx="44958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ဘယ်ဘက် (5) က 10 ထက်ငယ်တယ်။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ညာဘက် (15) က 10 ထက်ကြီးတယ်။ </a:t>
              </a:r>
              <a:r>
                <a:rPr lang="en-US" sz="1650" b="1" i="0" u="none" strike="noStrike" cap="none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မှန်ကန်ပါသည်။</a:t>
              </a:r>
              <a:endParaRPr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2505075" y="3893939"/>
              <a:ext cx="142875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↙↘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0D968F3-248B-E2AF-BC77-D806064728B2}"/>
              </a:ext>
            </a:extLst>
          </p:cNvPr>
          <p:cNvGrpSpPr/>
          <p:nvPr/>
        </p:nvGrpSpPr>
        <p:grpSpPr>
          <a:xfrm>
            <a:off x="6334125" y="1979414"/>
            <a:ext cx="5276850" cy="4660873"/>
            <a:chOff x="6334125" y="1979414"/>
            <a:chExt cx="5276850" cy="4660873"/>
          </a:xfrm>
        </p:grpSpPr>
        <p:pic>
          <p:nvPicPr>
            <p:cNvPr id="134" name="Google Shape;134;p17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334125" y="1979414"/>
              <a:ext cx="5276850" cy="4660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662987" y="3155751"/>
              <a:ext cx="619125" cy="619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7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258175" y="4298751"/>
              <a:ext cx="619125" cy="619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7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067800" y="4298751"/>
              <a:ext cx="619125" cy="619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7"/>
            <p:cNvSpPr txBox="1"/>
            <p:nvPr/>
          </p:nvSpPr>
          <p:spPr>
            <a:xfrm>
              <a:off x="7850640" y="2413509"/>
              <a:ext cx="22438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195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rgbClr val="F43F5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Invalid BST</a:t>
              </a:r>
              <a:endParaRPr dirty="0"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6724650" y="5203626"/>
              <a:ext cx="44958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ဘယ်ဘက် (12) က 10 ထက်ကြီးနေတယ်။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ညာဘက် (8) က 10 ထက်ငယ်နေတယ်။ </a:t>
              </a:r>
              <a:r>
                <a:rPr lang="en-US" sz="1650" b="1" i="0" u="none" strike="noStrike" cap="none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မှားယွင်းပါသည်။</a:t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8258175" y="3870126"/>
              <a:ext cx="142875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↙↘</a:t>
              </a:r>
              <a:endParaRPr/>
            </a:p>
          </p:txBody>
        </p:sp>
      </p:grpSp>
      <p:sp>
        <p:nvSpPr>
          <p:cNvPr id="150" name="Google Shape;150;p17"/>
          <p:cNvSpPr txBox="1"/>
          <p:nvPr/>
        </p:nvSpPr>
        <p:spPr>
          <a:xfrm>
            <a:off x="581025" y="368391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မြင်သာအောင</a:t>
            </a: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</a:t>
            </a:r>
            <a:r>
              <a:rPr lang="en-US" sz="3150" b="1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နှိုင်းယှဉ်ကြည</a:t>
            </a: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့်</a:t>
            </a:r>
            <a:r>
              <a:rPr lang="en-US" sz="3150" b="1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မည</a:t>
            </a: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👁️</a:t>
            </a:r>
            <a:endParaRPr dirty="0"/>
          </a:p>
        </p:txBody>
      </p:sp>
      <p:sp>
        <p:nvSpPr>
          <p:cNvPr id="151" name="Google Shape;151;p17"/>
          <p:cNvSpPr/>
          <p:nvPr/>
        </p:nvSpPr>
        <p:spPr>
          <a:xfrm>
            <a:off x="581025" y="1110853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2EA9464-6F59-72A9-AAF5-C36D3CBBB116}"/>
              </a:ext>
            </a:extLst>
          </p:cNvPr>
          <p:cNvGrpSpPr/>
          <p:nvPr/>
        </p:nvGrpSpPr>
        <p:grpSpPr>
          <a:xfrm>
            <a:off x="581025" y="1656754"/>
            <a:ext cx="3486150" cy="4906565"/>
            <a:chOff x="581025" y="1656754"/>
            <a:chExt cx="3486150" cy="4906565"/>
          </a:xfrm>
        </p:grpSpPr>
        <p:pic>
          <p:nvPicPr>
            <p:cNvPr id="157" name="Google Shape;157;p1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1656754"/>
              <a:ext cx="3486150" cy="4906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075854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8"/>
            <p:cNvSpPr txBox="1"/>
            <p:nvPr/>
          </p:nvSpPr>
          <p:spPr>
            <a:xfrm>
              <a:off x="876300" y="3075979"/>
              <a:ext cx="2130266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Fast Searching</a:t>
              </a:r>
              <a:endParaRPr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876300" y="3618904"/>
              <a:ext cx="2895600" cy="2010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တွေက စည်းကမ်းနဲ့ နေတဲ့အတွက်၊ ရှာချင်တဲ့ဂဏန်းက Root ထက်ငယ်ရင် ဘယ်ဘက်၊ ကြီးရင် ညာဘက် သွားလိုက်ရုံနဲ့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တစ်ဝက်ကို အမြဲတမ်း ပယ်ပစ် (Eliminate)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နိုင်ပါတယ်။</a:t>
              </a:r>
              <a:endParaRPr/>
            </a:p>
          </p:txBody>
        </p:sp>
        <p:pic>
          <p:nvPicPr>
            <p:cNvPr id="169" name="Google Shape;169;p18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66800" y="2237779"/>
              <a:ext cx="3810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0054848-70B3-1E79-B045-4437D345CCB8}"/>
              </a:ext>
            </a:extLst>
          </p:cNvPr>
          <p:cNvGrpSpPr/>
          <p:nvPr/>
        </p:nvGrpSpPr>
        <p:grpSpPr>
          <a:xfrm>
            <a:off x="4352925" y="1656754"/>
            <a:ext cx="3486150" cy="4906565"/>
            <a:chOff x="4352925" y="1656754"/>
            <a:chExt cx="3486150" cy="4906565"/>
          </a:xfrm>
        </p:grpSpPr>
        <p:pic>
          <p:nvPicPr>
            <p:cNvPr id="158" name="Google Shape;158;p18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352925" y="1656754"/>
              <a:ext cx="3486150" cy="4906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8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648200" y="2075854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8"/>
            <p:cNvSpPr txBox="1"/>
            <p:nvPr/>
          </p:nvSpPr>
          <p:spPr>
            <a:xfrm>
              <a:off x="4648200" y="3075979"/>
              <a:ext cx="304038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Efficient Insert/Delete</a:t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4648200" y="3637954"/>
              <a:ext cx="2895600" cy="2010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Array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တွေလို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Data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ရှေ့တိုးနောက်ဆုတ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လုပ်စရာ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မလိုပါဘူး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လမ်းကြောင်းအတိုင်း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ဆင်းသွားပြီး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နေရာလွတ်မှာ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Pointer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လေး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ချိတ်လိုက်ရုံနဲ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အလုပ်ပြီးပါတယ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70" name="Google Shape;170;p18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62512" y="2237779"/>
              <a:ext cx="333375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771CC16-07C3-96A9-A17E-5D54F7B45EDA}"/>
              </a:ext>
            </a:extLst>
          </p:cNvPr>
          <p:cNvGrpSpPr/>
          <p:nvPr/>
        </p:nvGrpSpPr>
        <p:grpSpPr>
          <a:xfrm>
            <a:off x="8124825" y="1656754"/>
            <a:ext cx="3486150" cy="4906565"/>
            <a:chOff x="8124825" y="1656754"/>
            <a:chExt cx="3486150" cy="4906565"/>
          </a:xfrm>
        </p:grpSpPr>
        <p:pic>
          <p:nvPicPr>
            <p:cNvPr id="159" name="Google Shape;159;p18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24825" y="1656754"/>
              <a:ext cx="3486150" cy="4906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8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420100" y="2075854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8"/>
            <p:cNvSpPr txBox="1"/>
            <p:nvPr/>
          </p:nvSpPr>
          <p:spPr>
            <a:xfrm>
              <a:off x="8420100" y="3075979"/>
              <a:ext cx="232029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Naturally Sorted</a:t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8420100" y="3618904"/>
              <a:ext cx="2895600" cy="2010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BST ရဲ့ Data တွေကို ဘယ်ကနေညာ ဖတ်သွားရင် (In-order traversal) ဂဏန်းတွေက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အငယ်မှအကြီး အလိုအလျောက် စီပြီးသား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ဖြစ်နေတာကို တွေ့ရပါမယ်။</a:t>
              </a:r>
              <a:endParaRPr/>
            </a:p>
          </p:txBody>
        </p:sp>
        <p:pic>
          <p:nvPicPr>
            <p:cNvPr id="171" name="Google Shape;171;p18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553450" y="2237779"/>
              <a:ext cx="4953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18"/>
          <p:cNvSpPr txBox="1"/>
          <p:nvPr/>
        </p:nvSpPr>
        <p:spPr>
          <a:xfrm>
            <a:off x="581025" y="388739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ဘာကြောင</a:t>
            </a: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့် BST </a:t>
            </a:r>
            <a:r>
              <a:rPr lang="en-US" sz="3150" b="1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ကို</a:t>
            </a: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1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သုံးရတာလဲ</a:t>
            </a: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</a:t>
            </a:r>
            <a:endParaRPr dirty="0"/>
          </a:p>
        </p:txBody>
      </p:sp>
      <p:sp>
        <p:nvSpPr>
          <p:cNvPr id="173" name="Google Shape;173;p18"/>
          <p:cNvSpPr/>
          <p:nvPr/>
        </p:nvSpPr>
        <p:spPr>
          <a:xfrm>
            <a:off x="581025" y="1313854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81025" y="1523702"/>
            <a:ext cx="5277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Target          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ရှာမယ်ဆိုပါစို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့။</a:t>
            </a:r>
            <a:endParaRPr dirty="0"/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1254" y="1574602"/>
            <a:ext cx="323850" cy="342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9FD9E90-7040-215E-BF57-EDB7BC756FD9}"/>
              </a:ext>
            </a:extLst>
          </p:cNvPr>
          <p:cNvGrpSpPr/>
          <p:nvPr/>
        </p:nvGrpSpPr>
        <p:grpSpPr>
          <a:xfrm>
            <a:off x="581025" y="5119389"/>
            <a:ext cx="5276850" cy="1386482"/>
            <a:chOff x="581025" y="5119389"/>
            <a:chExt cx="5276850" cy="1386482"/>
          </a:xfrm>
        </p:grpSpPr>
        <p:pic>
          <p:nvPicPr>
            <p:cNvPr id="179" name="Google Shape;179;p19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5119389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9"/>
            <p:cNvSpPr txBox="1"/>
            <p:nvPr/>
          </p:nvSpPr>
          <p:spPr>
            <a:xfrm>
              <a:off x="857250" y="5309889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ဒါဟာ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Array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လုပ်ခဲ့တဲ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Binary Search Algorithm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သဘောတရား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အတိအက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ျ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အတူတူပဲ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D75D692-F6A2-77F1-DA92-F963E257C27F}"/>
              </a:ext>
            </a:extLst>
          </p:cNvPr>
          <p:cNvGrpSpPr/>
          <p:nvPr/>
        </p:nvGrpSpPr>
        <p:grpSpPr>
          <a:xfrm>
            <a:off x="613682" y="2058888"/>
            <a:ext cx="5244193" cy="1005482"/>
            <a:chOff x="613682" y="2058888"/>
            <a:chExt cx="5244193" cy="1005482"/>
          </a:xfrm>
        </p:grpSpPr>
        <p:sp>
          <p:nvSpPr>
            <p:cNvPr id="183" name="Google Shape;183;p19"/>
            <p:cNvSpPr txBox="1"/>
            <p:nvPr/>
          </p:nvSpPr>
          <p:spPr>
            <a:xfrm>
              <a:off x="1104900" y="2058888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Root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တိုက်မည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Root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10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ဖြစ်နေတယ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7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10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ထက်ငယ်တဲ့အတွက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ညာဘက်ခြမ်းကို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လုံးဝ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မကြည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တော့ဘဲ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38BDF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ဘယ်ဘက်သို</a:t>
              </a:r>
              <a:r>
                <a:rPr lang="en-US" sz="1650" b="1" i="0" u="none" strike="noStrike" cap="none" dirty="0">
                  <a:solidFill>
                    <a:srgbClr val="38BDF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ဆင်းမယ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86" name="Google Shape;186;p19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13682" y="2122348"/>
              <a:ext cx="1238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46E1F35-B625-64A4-1050-64A83A7F52F3}"/>
              </a:ext>
            </a:extLst>
          </p:cNvPr>
          <p:cNvGrpSpPr/>
          <p:nvPr/>
        </p:nvGrpSpPr>
        <p:grpSpPr>
          <a:xfrm>
            <a:off x="600755" y="3302496"/>
            <a:ext cx="5257120" cy="1005482"/>
            <a:chOff x="600755" y="3302496"/>
            <a:chExt cx="5257120" cy="1005482"/>
          </a:xfrm>
        </p:grpSpPr>
        <p:sp>
          <p:nvSpPr>
            <p:cNvPr id="184" name="Google Shape;184;p19"/>
            <p:cNvSpPr txBox="1"/>
            <p:nvPr/>
          </p:nvSpPr>
          <p:spPr>
            <a:xfrm>
              <a:off x="1104900" y="3302496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Next Node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တိုက်မည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ရောက်သွားတဲ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Node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5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ဖြစ်နေတယ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7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5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ကြီးတဲ့အတွက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ညာဘက်သို</a:t>
              </a:r>
              <a:r>
                <a:rPr lang="en-US" sz="1650" b="1" i="0" u="none" strike="noStrike" cap="none" dirty="0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ထပ်ဆင်းမယ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87" name="Google Shape;187;p19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00755" y="3423344"/>
              <a:ext cx="1619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4DFBB79-A41E-5B41-08D3-AFDF21AC5B33}"/>
              </a:ext>
            </a:extLst>
          </p:cNvPr>
          <p:cNvGrpSpPr/>
          <p:nvPr/>
        </p:nvGrpSpPr>
        <p:grpSpPr>
          <a:xfrm>
            <a:off x="594631" y="4546103"/>
            <a:ext cx="5263244" cy="392097"/>
            <a:chOff x="594631" y="4546103"/>
            <a:chExt cx="5263244" cy="392097"/>
          </a:xfrm>
        </p:grpSpPr>
        <p:sp>
          <p:nvSpPr>
            <p:cNvPr id="185" name="Google Shape;185;p19"/>
            <p:cNvSpPr txBox="1"/>
            <p:nvPr/>
          </p:nvSpPr>
          <p:spPr>
            <a:xfrm>
              <a:off x="1104900" y="4546103"/>
              <a:ext cx="4752975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တွေ့ပြီ: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7 ကို တွေ့သွားပါပြီ!</a:t>
              </a:r>
              <a:endParaRPr/>
            </a:p>
          </p:txBody>
        </p:sp>
        <p:pic>
          <p:nvPicPr>
            <p:cNvPr id="188" name="Google Shape;188;p19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94631" y="4681025"/>
              <a:ext cx="1619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19"/>
          <p:cNvSpPr txBox="1"/>
          <p:nvPr/>
        </p:nvSpPr>
        <p:spPr>
          <a:xfrm>
            <a:off x="581025" y="345423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BST </a:t>
            </a:r>
            <a:r>
              <a:rPr lang="en-US" sz="3150" b="1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တွင</a:t>
            </a: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</a:t>
            </a:r>
            <a:r>
              <a:rPr lang="en-US" sz="3150" b="1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ရှာဖွေခြင်း</a:t>
            </a: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(Searching) 🔍</a:t>
            </a:r>
            <a:endParaRPr dirty="0"/>
          </a:p>
        </p:txBody>
      </p:sp>
      <p:sp>
        <p:nvSpPr>
          <p:cNvPr id="190" name="Google Shape;190;p19"/>
          <p:cNvSpPr/>
          <p:nvPr/>
        </p:nvSpPr>
        <p:spPr>
          <a:xfrm>
            <a:off x="581025" y="1180802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9" descr="&#10;BST တွင် ရှာဖွေခြင်း (Searching) 🔍&#10;&#10;Target           ကို ရှာမယ်ဆိုပါစို့။&#10;&#10;Root နဲ့ တိုက်မည်: Root က 10 ဖြစ်နေတယ်။ 7 က 10 ထက်ငယ်တဲ့အတွက် ညာဘက်ခြမ်းကို လုံးဝ မကြည့်တော့ဘဲ ဘယ်ဘက်သို့ ဆင်းမယ်။&#10;&#10;Next Node နဲ့ တိုက်မည်: ရောက်သွားတဲ့ Node က 5 ဖြစ်နေတယ်။ 7 က 5 ထက် ကြီးတဲ့အတွက် ညာဘက်သို့ ထပ်ဆင်းမယ်။&#10;&#10;တွေ့ပြီ: 7 ကို တွေ့သွားပါပြီ!&#10;&#10;ဒါဟာ Array မှာ လုပ်ခဲ့တဲ့ Binary Search Algorithm နဲ့ သဘောတရား အတိအကျ အတူတူပဲ ဖြစ်ပါတယ်။&#10;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34175" y="1366838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81025" y="5622726"/>
            <a:ext cx="11029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ပျမ်းမ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ျှ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အားဖြင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အရမ်းမြန်တဲ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O(log n)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ရပေမယ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့်၊ Worst Case (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အဆိုးဆုံး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အခြေအနေ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)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မှာတော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0" u="none" strike="noStrike" cap="none" dirty="0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O(n)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ဖြစ်သွားတတ်ပါတယ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ဘာကြောင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လဲ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?</a:t>
            </a:r>
            <a:endParaRPr dirty="0"/>
          </a:p>
        </p:txBody>
      </p:sp>
      <p:graphicFrame>
        <p:nvGraphicFramePr>
          <p:cNvPr id="198" name="Google Shape;198;p20"/>
          <p:cNvGraphicFramePr/>
          <p:nvPr/>
        </p:nvGraphicFramePr>
        <p:xfrm>
          <a:off x="590550" y="1398401"/>
          <a:ext cx="11010900" cy="3857600"/>
        </p:xfrm>
        <a:graphic>
          <a:graphicData uri="http://schemas.openxmlformats.org/drawingml/2006/table">
            <a:tbl>
              <a:tblPr firstRow="1" bandRow="1">
                <a:noFill/>
                <a:tableStyleId>{D74911FC-18B0-4432-8549-FFF36260E688}</a:tableStyleId>
              </a:tblPr>
              <a:tblGrid>
                <a:gridCol w="408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4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8BDF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Operation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Average Case 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50" b="1" i="0" u="none" strike="noStrike" cap="none">
                          <a:solidFill>
                            <a:srgbClr val="94A3B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(Balanced Tree)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Worst Case 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50" b="1" i="0" u="none" strike="noStrike" cap="none">
                          <a:solidFill>
                            <a:srgbClr val="94A3B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(Unbalanced Tree)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4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0B98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Search (</a:t>
                      </a:r>
                      <a:r>
                        <a:rPr lang="en-US" sz="1650" b="1" i="0" u="none" strike="noStrike" cap="none" dirty="0" err="1">
                          <a:solidFill>
                            <a:srgbClr val="10B98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ရှာဖွေခြင်း</a:t>
                      </a:r>
                      <a:r>
                        <a:rPr lang="en-US" sz="1650" b="1" i="0" u="none" strike="noStrike" cap="none" dirty="0">
                          <a:solidFill>
                            <a:srgbClr val="10B98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O(log n</a:t>
                      </a:r>
                      <a:r>
                        <a:rPr lang="en-US" sz="165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4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Insert (ထည့်ခြင်း)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O(log 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4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59E0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Delete (ဖျက်ခြင်း)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E293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O(log n)</a:t>
                      </a:r>
                      <a:b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O(n)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9" name="Google Shape;199;p20"/>
          <p:cNvSpPr txBox="1"/>
          <p:nvPr/>
        </p:nvSpPr>
        <p:spPr>
          <a:xfrm>
            <a:off x="581025" y="422076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Complexity (Big O) ⏱️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81025" y="1165026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E1E7409-F376-403D-B800-C8426D20B1C9}"/>
              </a:ext>
            </a:extLst>
          </p:cNvPr>
          <p:cNvGrpSpPr/>
          <p:nvPr/>
        </p:nvGrpSpPr>
        <p:grpSpPr>
          <a:xfrm>
            <a:off x="1809750" y="2081511"/>
            <a:ext cx="8572500" cy="670321"/>
            <a:chOff x="1809750" y="2412206"/>
            <a:chExt cx="8572500" cy="670321"/>
          </a:xfrm>
        </p:grpSpPr>
        <p:sp>
          <p:nvSpPr>
            <p:cNvPr id="206" name="Google Shape;206;p21"/>
            <p:cNvSpPr txBox="1"/>
            <p:nvPr/>
          </p:nvSpPr>
          <p:spPr>
            <a:xfrm>
              <a:off x="2333625" y="2412206"/>
              <a:ext cx="8048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Sorted Data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ထည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မိရင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အနေနဲ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1, 2, 3, 4, 5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အစဉ်လိုက်ဂဏန်းတွေကို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BST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အစဉ်လိုက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ထည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မိရင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ဂဏန်းတိုင်းက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ညာဘက်ကိုပဲ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ဆင်းသွားပါလိမ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209" name="Google Shape;209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09750" y="2510859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7983517-014A-3005-7881-37D18A229BCD}"/>
              </a:ext>
            </a:extLst>
          </p:cNvPr>
          <p:cNvGrpSpPr/>
          <p:nvPr/>
        </p:nvGrpSpPr>
        <p:grpSpPr>
          <a:xfrm>
            <a:off x="1809750" y="3155305"/>
            <a:ext cx="8572500" cy="1005482"/>
            <a:chOff x="1809750" y="3320653"/>
            <a:chExt cx="8572500" cy="1005482"/>
          </a:xfrm>
        </p:grpSpPr>
        <p:sp>
          <p:nvSpPr>
            <p:cNvPr id="207" name="Google Shape;207;p21"/>
            <p:cNvSpPr txBox="1"/>
            <p:nvPr/>
          </p:nvSpPr>
          <p:spPr>
            <a:xfrm>
              <a:off x="2333625" y="3320653"/>
              <a:ext cx="804862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Linked List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ဖြစ်သွားခြင်း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သစ်ပင်ဟာ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ဘယ်ညာ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ခွဲမထွက်တော့ဘဲ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ညာဘက်ကိုချည်း</a:t>
              </a:r>
              <a:r>
                <a:rPr lang="en-US" sz="1650" b="1" i="0" u="none" strike="noStrike" cap="none" dirty="0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မျဉ်းဖြောင</a:t>
              </a:r>
              <a:r>
                <a:rPr lang="en-US" sz="1650" b="1" i="0" u="none" strike="noStrike" cap="none" dirty="0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ကြီး</a:t>
              </a:r>
              <a:r>
                <a:rPr lang="en-US" sz="1650" b="1" i="0" u="none" strike="noStrike" cap="none" dirty="0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(Skewed) </a:t>
              </a:r>
              <a:r>
                <a:rPr lang="en-US" sz="1650" b="1" i="0" u="none" strike="noStrike" cap="none" dirty="0" err="1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ဖြစ်သွားပြီး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Linked List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ဖြစ်သွားပါတယ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ဒါဆိုရင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Search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O(n)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အထိ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နှေးသွားပါပြီ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</a:t>
              </a:r>
              <a:endParaRPr dirty="0"/>
            </a:p>
          </p:txBody>
        </p:sp>
        <p:pic>
          <p:nvPicPr>
            <p:cNvPr id="210" name="Google Shape;210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09750" y="3429000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B975C92-FFA9-9A55-26BC-9E3229CE0725}"/>
              </a:ext>
            </a:extLst>
          </p:cNvPr>
          <p:cNvGrpSpPr/>
          <p:nvPr/>
        </p:nvGrpSpPr>
        <p:grpSpPr>
          <a:xfrm>
            <a:off x="1806348" y="4564260"/>
            <a:ext cx="8575902" cy="1005482"/>
            <a:chOff x="1806348" y="4564260"/>
            <a:chExt cx="8575902" cy="1005482"/>
          </a:xfrm>
        </p:grpSpPr>
        <p:sp>
          <p:nvSpPr>
            <p:cNvPr id="208" name="Google Shape;208;p21"/>
            <p:cNvSpPr txBox="1"/>
            <p:nvPr/>
          </p:nvSpPr>
          <p:spPr>
            <a:xfrm>
              <a:off x="2333625" y="4564260"/>
              <a:ext cx="804862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ဖြေရှင်းနည်း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ဒီပ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ြဿ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နာကို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ဖြေရှင်းဖို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သစ်ပင်ကို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အမြဲတမ်း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ဘယ်ညာ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ညီမ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ျှ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အောင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ထိန်းညှိပေးတဲ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AVL Tree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့) </a:t>
              </a:r>
              <a:r>
                <a:rPr lang="en-US" sz="1650" b="1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Red-Black Tree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လိုမျိုး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Balanced BST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အသုံးပြုကြပါတယ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211" name="Google Shape;211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06348" y="4677836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1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အားနည်းချက် (The Unbalanced Problem) ⚠️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3CD9BFC-EDD1-3978-55B7-7A1C17B9B55E}"/>
              </a:ext>
            </a:extLst>
          </p:cNvPr>
          <p:cNvGrpSpPr/>
          <p:nvPr/>
        </p:nvGrpSpPr>
        <p:grpSpPr>
          <a:xfrm>
            <a:off x="581025" y="2951300"/>
            <a:ext cx="3486150" cy="2431051"/>
            <a:chOff x="581025" y="2951300"/>
            <a:chExt cx="3486150" cy="2431051"/>
          </a:xfrm>
        </p:grpSpPr>
        <p:pic>
          <p:nvPicPr>
            <p:cNvPr id="219" name="Google Shape;219;p22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951300"/>
              <a:ext cx="3486150" cy="2431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22"/>
            <p:cNvSpPr txBox="1"/>
            <p:nvPr/>
          </p:nvSpPr>
          <p:spPr>
            <a:xfrm>
              <a:off x="753903" y="3324225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Database Indexing</a:t>
              </a:r>
              <a:endParaRPr dirty="0"/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828675" y="3752850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Database တွေထဲက Record သန်းချီကို ချက်ချင်းရှာတွေ့ဖို့ (B-Trees အနေနဲ့) BST ရဲ့ သဘောတရားကို အခြေခံပြီး တည်ဆောက်ထားပါတယ်။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FC11C53-21D5-BB86-6F5C-E1C6A6D87810}"/>
              </a:ext>
            </a:extLst>
          </p:cNvPr>
          <p:cNvGrpSpPr/>
          <p:nvPr/>
        </p:nvGrpSpPr>
        <p:grpSpPr>
          <a:xfrm>
            <a:off x="4352925" y="2951300"/>
            <a:ext cx="3486150" cy="2431051"/>
            <a:chOff x="4352925" y="2951300"/>
            <a:chExt cx="3486150" cy="2431051"/>
          </a:xfrm>
        </p:grpSpPr>
        <p:pic>
          <p:nvPicPr>
            <p:cNvPr id="220" name="Google Shape;220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2951300"/>
              <a:ext cx="3486150" cy="2431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2"/>
            <p:cNvSpPr txBox="1"/>
            <p:nvPr/>
          </p:nvSpPr>
          <p:spPr>
            <a:xfrm>
              <a:off x="4525803" y="3324225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Sets &amp; Maps</a:t>
              </a:r>
              <a:endParaRPr dirty="0"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4600575" y="3752850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Programming Language တချို့ (ဥပမာ C++, Java) တွေရဲ့ </a:t>
              </a:r>
              <a:r>
                <a:rPr lang="en-US" sz="135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“</a:t>
              </a:r>
              <a:r>
                <a:rPr lang="en-US" sz="1350" b="1">
                  <a:solidFill>
                    <a:srgbClr val="00FF00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Set</a:t>
              </a:r>
              <a:r>
                <a:rPr lang="en-US" sz="135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” </a:t>
              </a: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နဲ့ </a:t>
              </a:r>
              <a:r>
                <a:rPr lang="en-US" sz="135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“</a:t>
              </a:r>
              <a:r>
                <a:rPr lang="en-US" sz="1350" b="1">
                  <a:solidFill>
                    <a:srgbClr val="00FF00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Map</a:t>
              </a:r>
              <a:r>
                <a:rPr lang="en-US" sz="135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”</a:t>
              </a: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တွေနောက်ကွယ်မှာ Balanced BST တွေကို သုံးထားပါတယ်။</a:t>
              </a: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F8EBE83-7767-9C4A-140B-D1D1B7E2CCD2}"/>
              </a:ext>
            </a:extLst>
          </p:cNvPr>
          <p:cNvGrpSpPr/>
          <p:nvPr/>
        </p:nvGrpSpPr>
        <p:grpSpPr>
          <a:xfrm>
            <a:off x="8124825" y="2951300"/>
            <a:ext cx="3486150" cy="2431051"/>
            <a:chOff x="8124825" y="2951300"/>
            <a:chExt cx="3486150" cy="2431051"/>
          </a:xfrm>
        </p:grpSpPr>
        <p:pic>
          <p:nvPicPr>
            <p:cNvPr id="221" name="Google Shape;221;p22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4825" y="2951300"/>
              <a:ext cx="3486150" cy="2431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2"/>
            <p:cNvSpPr txBox="1"/>
            <p:nvPr/>
          </p:nvSpPr>
          <p:spPr>
            <a:xfrm>
              <a:off x="8297703" y="3324225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BBF2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Auto-complete</a:t>
              </a:r>
              <a:endParaRPr dirty="0"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8372475" y="3752850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Search Box မှာ စာရိုက်လိုက်တာနဲ့ ရှေ့က စာလုံးနဲ့တူတဲ့ စကားလုံးတွေကို အမြန်ရှာပေးတဲ့ (Trie Data Structure) နေရာတွေမှာ သုံးပါတယ်။</a:t>
              </a:r>
              <a:endParaRPr/>
            </a:p>
          </p:txBody>
        </p:sp>
      </p:grpSp>
      <p:sp>
        <p:nvSpPr>
          <p:cNvPr id="228" name="Google Shape;228;p22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ဘယ်နေရာတွေမှာ သုံးလဲ? (Applications) 🌍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7">
          <a:extLst>
            <a:ext uri="{FF2B5EF4-FFF2-40B4-BE49-F238E27FC236}">
              <a16:creationId xmlns:a16="http://schemas.microsoft.com/office/drawing/2014/main" id="{90CEE60B-0752-7CAF-E908-D532B733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>
            <a:extLst>
              <a:ext uri="{FF2B5EF4-FFF2-40B4-BE49-F238E27FC236}">
                <a16:creationId xmlns:a16="http://schemas.microsoft.com/office/drawing/2014/main" id="{F0D172E8-F92C-8E15-9FDE-1800616408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BA8AB40B-CE1D-C35C-E1FB-420BB8A51840}"/>
              </a:ext>
            </a:extLst>
          </p:cNvPr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Search in a Binary Search Tree</a:t>
            </a:r>
            <a:endParaRPr dirty="0"/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2354D909-9ED4-855C-6D8E-5E541EA17C32}"/>
              </a:ext>
            </a:extLst>
          </p:cNvPr>
          <p:cNvSpPr/>
          <p:nvPr/>
        </p:nvSpPr>
        <p:spPr>
          <a:xfrm>
            <a:off x="581025" y="1219391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B4D5B-3628-4C6A-5FFC-931521DF15D2}"/>
              </a:ext>
            </a:extLst>
          </p:cNvPr>
          <p:cNvSpPr txBox="1"/>
          <p:nvPr/>
        </p:nvSpPr>
        <p:spPr>
          <a:xfrm>
            <a:off x="581025" y="1382534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You are given the `root` Node of a standard Binary Search Tree (BST) and a specific integer `target`.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You must find the exact Node inside the BST that the given `target`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matches and return True. If the `target` does not exist inside the BST, simply return False.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root = [4,2,7,1,3], target = 2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True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2: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root = [4,2,7,1,3], target = 5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False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0251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7">
          <a:extLst>
            <a:ext uri="{FF2B5EF4-FFF2-40B4-BE49-F238E27FC236}">
              <a16:creationId xmlns:a16="http://schemas.microsoft.com/office/drawing/2014/main" id="{1DF58A1E-BCB1-BB1B-E293-5271EF6D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>
            <a:extLst>
              <a:ext uri="{FF2B5EF4-FFF2-40B4-BE49-F238E27FC236}">
                <a16:creationId xmlns:a16="http://schemas.microsoft.com/office/drawing/2014/main" id="{1DB805E5-C3F9-EB9B-30D2-6D9AA45EB8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4255959C-EB5D-79CF-FED2-97ED9C309E64}"/>
              </a:ext>
            </a:extLst>
          </p:cNvPr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Search in a Binary Search Tree</a:t>
            </a:r>
            <a:endParaRPr dirty="0"/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0C594776-2C7E-67DC-FB68-510655F3ABD5}"/>
              </a:ext>
            </a:extLst>
          </p:cNvPr>
          <p:cNvSpPr/>
          <p:nvPr/>
        </p:nvSpPr>
        <p:spPr>
          <a:xfrm>
            <a:off x="581025" y="1219391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D644C-9143-8D42-F30E-C1AC36498CB7}"/>
              </a:ext>
            </a:extLst>
          </p:cNvPr>
          <p:cNvSpPr txBox="1"/>
          <p:nvPr/>
        </p:nvSpPr>
        <p:spPr>
          <a:xfrm>
            <a:off x="581025" y="1382534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root = [4,2,7,1,3], target = 2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True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2: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root = [4,2,7,1,3], target = 5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False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899932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3|1|2.2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1|40.7|28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|56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|36.1|16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4.5|1.9|3.4|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34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33.7|22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3.6|9.8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1685</Words>
  <Application>Microsoft Macintosh PowerPoint</Application>
  <PresentationFormat>Widescreen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6</cp:revision>
  <dcterms:modified xsi:type="dcterms:W3CDTF">2026-04-06T15:49:12Z</dcterms:modified>
</cp:coreProperties>
</file>