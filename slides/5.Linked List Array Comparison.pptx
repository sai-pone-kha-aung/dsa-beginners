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Lato" panose="020F0502020204030203" pitchFamily="34" charset="77"/>
      <p:regular r:id="rId14"/>
      <p:bold r:id="rId15"/>
      <p:italic r:id="rId16"/>
      <p:boldItalic r:id="rId17"/>
    </p:embeddedFont>
    <p:embeddedFont>
      <p:font typeface="Noto Sans Myanmar" panose="020B0502040504020204" pitchFamily="34" charset="0"/>
      <p:regular r:id="rId18"/>
      <p:bold r:id="rId19"/>
    </p:embeddedFont>
    <p:embeddedFont>
      <p:font typeface="Poppins" pitchFamily="2" charset="77"/>
      <p:regular r:id="rId20"/>
      <p:bold r:id="rId21"/>
      <p:italic r:id="rId22"/>
      <p:boldItalic r:id="rId23"/>
    </p:embeddedFont>
    <p:embeddedFont>
      <p:font typeface="Poppins SemiBold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D28BA3-A414-49F2-8C77-5E6ED8457C61}">
  <a:tblStyle styleId="{19D28BA3-A414-49F2-8C77-5E6ED8457C6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70"/>
  </p:normalViewPr>
  <p:slideViewPr>
    <p:cSldViewPr snapToGrid="0">
      <p:cViewPr varScale="1">
        <p:scale>
          <a:sx n="117" d="100"/>
          <a:sy n="117" d="100"/>
        </p:scale>
        <p:origin x="107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937CFC95-59EB-5746-AD76-3410878F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>
            <a:extLst>
              <a:ext uri="{FF2B5EF4-FFF2-40B4-BE49-F238E27FC236}">
                <a16:creationId xmlns:a16="http://schemas.microsoft.com/office/drawing/2014/main" id="{10090E4E-DD9E-BF5E-5B50-C89B05878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>
            <a:extLst>
              <a:ext uri="{FF2B5EF4-FFF2-40B4-BE49-F238E27FC236}">
                <a16:creationId xmlns:a16="http://schemas.microsoft.com/office/drawing/2014/main" id="{FC86759A-07ED-2E75-F08C-F86FF89CE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3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65421" y="2162175"/>
            <a:ext cx="92613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Linked List</a:t>
            </a:r>
            <a:r>
              <a:rPr lang="en-US" sz="487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ဆိုတာဘာလဲ?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095625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[ Singly Linked List ]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01FE4CE7-1FB5-33F9-C966-67B2586E0CCB}"/>
              </a:ext>
            </a:extLst>
          </p:cNvPr>
          <p:cNvSpPr txBox="1"/>
          <p:nvPr/>
        </p:nvSpPr>
        <p:spPr>
          <a:xfrm>
            <a:off x="1809750" y="3705465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- 5 ]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289869"/>
            <a:ext cx="1143000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770459" y="2623244"/>
            <a:ext cx="8651081" cy="124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ရထားတွဲများလို Data Structure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4061519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Memory ထဲမှာ တစ်ဆက်တည်း နေစရာမလိုဘဲ၊ တစ်ခုနဲ့တစ်ခု ချိတ်ဆက်ပြီး အလုပ်လုပ်တဲ့ နည်းလမ်းဖြစ်ပါတယ်။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1476077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Linked List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ဆိုတာ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ရထားတွဲလေးတွေလို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တစ်ခုနဲ့တစ်ခု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59E0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ချိတ်ဆက</a:t>
            </a:r>
            <a:r>
              <a:rPr lang="en-US" sz="1650" b="1" i="0" u="none" strike="noStrike" cap="none" dirty="0">
                <a:solidFill>
                  <a:srgbClr val="F59E0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(Link)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ထားတဲ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Data Structure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တစ်ခုပ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54D49F-5E38-99E9-3567-F06FE1C590BD}"/>
              </a:ext>
            </a:extLst>
          </p:cNvPr>
          <p:cNvGrpSpPr/>
          <p:nvPr/>
        </p:nvGrpSpPr>
        <p:grpSpPr>
          <a:xfrm>
            <a:off x="581025" y="5014614"/>
            <a:ext cx="5276850" cy="1386482"/>
            <a:chOff x="581025" y="5014614"/>
            <a:chExt cx="5276850" cy="1386482"/>
          </a:xfrm>
        </p:grpSpPr>
        <p:pic>
          <p:nvPicPr>
            <p:cNvPr id="101" name="Google Shape;101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014614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38200" y="5121325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Memory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အခန်းတွေ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ဆက်တိုက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(Contiguous)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ရှိနေစရာ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မလိုပါဘူး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ကြိုက်တဲ့နေရာမှာ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ထားလို့ရပါတယ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4B36A-821F-7C66-426B-800CE8D8F128}"/>
              </a:ext>
            </a:extLst>
          </p:cNvPr>
          <p:cNvGrpSpPr/>
          <p:nvPr/>
        </p:nvGrpSpPr>
        <p:grpSpPr>
          <a:xfrm>
            <a:off x="581025" y="2624435"/>
            <a:ext cx="5276850" cy="365733"/>
            <a:chOff x="581025" y="2624435"/>
            <a:chExt cx="5276850" cy="365733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2624435"/>
              <a:ext cx="4752975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ခေါင်းတွဲ</a:t>
              </a:r>
              <a:r>
                <a:rPr lang="en-US" sz="1650" b="1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(Head)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စတင်ပါတယ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2732993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A00CA4-277F-E8DA-DA17-AD0887522271}"/>
              </a:ext>
            </a:extLst>
          </p:cNvPr>
          <p:cNvGrpSpPr/>
          <p:nvPr/>
        </p:nvGrpSpPr>
        <p:grpSpPr>
          <a:xfrm>
            <a:off x="581025" y="3197721"/>
            <a:ext cx="5276850" cy="670321"/>
            <a:chOff x="581025" y="3197721"/>
            <a:chExt cx="5276850" cy="670321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1104900" y="3197721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နောက်တွဲတွေကို သံကြိုး (Pointer) နဲ့ ချိတ်ဆက်ထားပါတယ်။</a:t>
              </a:r>
              <a:endParaRPr/>
            </a:p>
          </p:txBody>
        </p:sp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3307661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9A644B-B0E1-8240-FD92-BC809470DC73}"/>
              </a:ext>
            </a:extLst>
          </p:cNvPr>
          <p:cNvGrpSpPr/>
          <p:nvPr/>
        </p:nvGrpSpPr>
        <p:grpSpPr>
          <a:xfrm>
            <a:off x="581025" y="4106167"/>
            <a:ext cx="5276850" cy="670321"/>
            <a:chOff x="581025" y="4106167"/>
            <a:chExt cx="5276850" cy="670321"/>
          </a:xfrm>
        </p:grpSpPr>
        <p:sp>
          <p:nvSpPr>
            <p:cNvPr id="106" name="Google Shape;106;p15"/>
            <p:cNvSpPr txBox="1"/>
            <p:nvPr/>
          </p:nvSpPr>
          <p:spPr>
            <a:xfrm>
              <a:off x="1104900" y="4106167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နောက်ဆုံးတွဲကတော့ ဘာကိုမှ မချိတ်ထားတဲ့အတွက် </a:t>
              </a:r>
              <a:r>
                <a:rPr lang="en-US" sz="1650" b="1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Null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လို့ ခေါ်ပါတယ်။</a:t>
              </a:r>
              <a:endParaRPr/>
            </a:p>
          </p:txBody>
        </p:sp>
        <p:pic>
          <p:nvPicPr>
            <p:cNvPr id="109" name="Google Shape;109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4161137"/>
              <a:ext cx="19050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5"/>
          <p:cNvSpPr txBox="1"/>
          <p:nvPr/>
        </p:nvSpPr>
        <p:spPr>
          <a:xfrm>
            <a:off x="581025" y="386655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Linked List </a:t>
            </a: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ဆိုတာ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ရထားတစ်စင်းပါပဲ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🚂</a:t>
            </a:r>
            <a:endParaRPr dirty="0"/>
          </a:p>
        </p:txBody>
      </p:sp>
      <p:pic>
        <p:nvPicPr>
          <p:cNvPr id="111" name="Google Shape;111;p15" descr="Linked List ဆိုတာ ရထားတစ်စင်းပါပဲ 🚂&#10;Linked List ဆိုတာ Data တွေကို ရထားတွဲလေးတွေလို တစ်ခုနဲ့တစ်ခု ချိတ်ဆက် (Link) ထားတဲ့ Data Structure တစ်ခုပါ။&#10;Array လို Memory ထဲမှာ အခန်းတွေ ဆက်တိုက် (Contiguous) ရှိနေစရာ မလိုပါဘူး။ ကြိုက်တဲ့နေရာမှာ ထားလို့ရပါတယ်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38625" y="11427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6334125" y="1441549"/>
            <a:ext cx="554069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Node လို့ ခေါ်ပါတယ်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334125" y="1973163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Linked List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တွဲတစ်ခုစီကို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59E0B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Node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လို့ခေ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Node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တစ်ခုမှာ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အဓိက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အပိုင်း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(၂)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ပိုင်း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ပါဝင်ပါတယ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5BEF46-7DDB-0CEE-4282-3DBD8236E8F1}"/>
              </a:ext>
            </a:extLst>
          </p:cNvPr>
          <p:cNvGrpSpPr/>
          <p:nvPr/>
        </p:nvGrpSpPr>
        <p:grpSpPr>
          <a:xfrm>
            <a:off x="6334125" y="3269158"/>
            <a:ext cx="5540692" cy="1135100"/>
            <a:chOff x="6334125" y="3269158"/>
            <a:chExt cx="5540692" cy="1135100"/>
          </a:xfrm>
        </p:grpSpPr>
        <p:sp>
          <p:nvSpPr>
            <p:cNvPr id="119" name="Google Shape;119;p16"/>
            <p:cNvSpPr txBox="1"/>
            <p:nvPr/>
          </p:nvSpPr>
          <p:spPr>
            <a:xfrm>
              <a:off x="6334125" y="3269158"/>
              <a:ext cx="5540692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1. Data (</a:t>
              </a:r>
              <a:r>
                <a:rPr lang="en-US" sz="2100" b="0" i="0" u="none" strike="noStrike" cap="none" dirty="0" err="1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ကုန်ပစ္စည်း</a:t>
              </a:r>
              <a:r>
                <a:rPr lang="en-US" sz="2100" b="0" i="0" u="none" strike="noStrike" cap="none" dirty="0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)</a:t>
              </a:r>
              <a:endParaRPr dirty="0"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6334125" y="3733937"/>
              <a:ext cx="527685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ကိုယ်သိမ်းချင်တဲ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တန်ဖိုး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ဂဏန်း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စာသား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စသည်ဖြင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ထည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ထားတဲ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အပိုင်းပ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EDBD1D0-FFA0-F61D-47E2-F254F483B64A}"/>
              </a:ext>
            </a:extLst>
          </p:cNvPr>
          <p:cNvGrpSpPr/>
          <p:nvPr/>
        </p:nvGrpSpPr>
        <p:grpSpPr>
          <a:xfrm>
            <a:off x="6334125" y="4869037"/>
            <a:ext cx="5540692" cy="1518962"/>
            <a:chOff x="6334125" y="4869037"/>
            <a:chExt cx="5540692" cy="1518962"/>
          </a:xfrm>
        </p:grpSpPr>
        <p:sp>
          <p:nvSpPr>
            <p:cNvPr id="121" name="Google Shape;121;p16"/>
            <p:cNvSpPr txBox="1"/>
            <p:nvPr/>
          </p:nvSpPr>
          <p:spPr>
            <a:xfrm>
              <a:off x="6334125" y="4869037"/>
              <a:ext cx="5540692" cy="581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2. Next Pointer (</a:t>
              </a:r>
              <a:r>
                <a:rPr lang="en-US" sz="2100" b="0" i="0" u="none" strike="noStrike" cap="none" dirty="0" err="1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သံကြိုးချိတ</a:t>
              </a:r>
              <a:r>
                <a:rPr lang="en-US" sz="2100" b="0" i="0" u="none" strike="noStrike" cap="none" dirty="0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်)</a:t>
              </a:r>
              <a:endParaRPr dirty="0"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6334125" y="5382517"/>
              <a:ext cx="527685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နောက်ထပ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ရထားတွဲ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(Node)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Memory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ဘယ်နေရာမှာ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ရှိတယ်ဆိုတဲ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လိပ်စာ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(Address)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မှတ်ထားပေးတဲ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အပိုင်းဖြစ်ပါတယ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123" name="Google Shape;123;p16"/>
          <p:cNvSpPr txBox="1"/>
          <p:nvPr/>
        </p:nvSpPr>
        <p:spPr>
          <a:xfrm>
            <a:off x="848200" y="333214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ရထားတွဲ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(Node) </a:t>
            </a: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တစ်တွဲမှာ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ဘာပါလဲ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</a:t>
            </a:r>
            <a:endParaRPr dirty="0"/>
          </a:p>
        </p:txBody>
      </p:sp>
      <p:pic>
        <p:nvPicPr>
          <p:cNvPr id="124" name="Google Shape;124;p16" descr="Node လို့ ခေါ်ပါတယ်&#10;Linked List ရဲ့ တွဲတစ်ခုစီကို Node လို့ခေါ်ပါတယ်။ Node တစ်ခုမှာ အဓိက အပိုင်း (၂) ပိုင်း ပါဝင်ပါတယ်။&#10;1. Data (ကုန်ပစ္စည်း)&#10;2. Next Pointer (သံကြိုးချိတ်)&#10;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8200" y="13446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64B78CC-B9DC-5F62-7E4E-61D55C8171C1}"/>
              </a:ext>
            </a:extLst>
          </p:cNvPr>
          <p:cNvGrpSpPr/>
          <p:nvPr/>
        </p:nvGrpSpPr>
        <p:grpSpPr>
          <a:xfrm>
            <a:off x="581025" y="2121247"/>
            <a:ext cx="5276850" cy="3825180"/>
            <a:chOff x="581025" y="2121247"/>
            <a:chExt cx="5276850" cy="3825180"/>
          </a:xfrm>
        </p:grpSpPr>
        <p:pic>
          <p:nvPicPr>
            <p:cNvPr id="130" name="Google Shape;130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121247"/>
              <a:ext cx="5276850" cy="3825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71550" y="4416775"/>
              <a:ext cx="4495800" cy="1277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7"/>
            <p:cNvSpPr txBox="1"/>
            <p:nvPr/>
          </p:nvSpPr>
          <p:spPr>
            <a:xfrm>
              <a:off x="971550" y="2511772"/>
              <a:ext cx="47205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47675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Array</a:t>
              </a:r>
              <a:endParaRPr dirty="0"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971550" y="3054697"/>
              <a:ext cx="44958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ရုပ်ရှင်ရုံက ထိုင်ခုံတွေလိုပဲ၊ Memory ထဲမှာ နေရာ (Blocks) တွေကို </a:t>
              </a:r>
              <a:r>
                <a:rPr lang="en-US" sz="150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တန်းစီပြီး (Contiguous)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ယူရပါတယ်။</a:t>
              </a:r>
              <a:endParaRPr/>
            </a:p>
          </p:txBody>
        </p:sp>
        <p:pic>
          <p:nvPicPr>
            <p:cNvPr id="138" name="Google Shape;138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71550" y="2568922"/>
              <a:ext cx="3048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7"/>
            <p:cNvSpPr txBox="1"/>
            <p:nvPr/>
          </p:nvSpPr>
          <p:spPr>
            <a:xfrm>
              <a:off x="1219200" y="4530083"/>
              <a:ext cx="4000500" cy="548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အားနည်းချက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နေရာမလောက်ရင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Array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ကြီးတစ်ခုလုံးကို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နေရာသစ်တစ်ခုဆီ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ွှ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ေ့ပြောင်းရပါတယ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2B6856B-CBCB-0793-2445-304AD13FEB46}"/>
              </a:ext>
            </a:extLst>
          </p:cNvPr>
          <p:cNvGrpSpPr/>
          <p:nvPr/>
        </p:nvGrpSpPr>
        <p:grpSpPr>
          <a:xfrm>
            <a:off x="6334125" y="2121247"/>
            <a:ext cx="5276850" cy="3825180"/>
            <a:chOff x="6334125" y="2121247"/>
            <a:chExt cx="5276850" cy="3825180"/>
          </a:xfrm>
        </p:grpSpPr>
        <p:pic>
          <p:nvPicPr>
            <p:cNvPr id="131" name="Google Shape;131;p17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334125" y="2121247"/>
              <a:ext cx="5276850" cy="3825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7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724650" y="4416772"/>
              <a:ext cx="4495800" cy="9486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17"/>
            <p:cNvSpPr txBox="1"/>
            <p:nvPr/>
          </p:nvSpPr>
          <p:spPr>
            <a:xfrm>
              <a:off x="6724650" y="2511772"/>
              <a:ext cx="47205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762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38BDF8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Linked List</a:t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6724650" y="3054697"/>
              <a:ext cx="44958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စားသောက်ဆိုင်မှာ လွတ်တဲ့ဝိုင်းမှာ ထိုင်ပြီး နောက်လူ ဘယ်ဝိုင်းမှာ ထိုင်လဲဆိုတာကို </a:t>
              </a:r>
              <a:r>
                <a:rPr lang="en-US" sz="150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စာရွက်လေးနဲ့ မှတ်ထား (Non-contiguous)</a:t>
              </a:r>
              <a:r>
                <a:rPr lang="en-US" sz="150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သလိုပါပဲ။</a:t>
              </a:r>
              <a:endParaRPr/>
            </a:p>
          </p:txBody>
        </p:sp>
        <p:pic>
          <p:nvPicPr>
            <p:cNvPr id="140" name="Google Shape;140;p17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724650" y="2568922"/>
              <a:ext cx="333375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7"/>
            <p:cNvSpPr txBox="1"/>
            <p:nvPr/>
          </p:nvSpPr>
          <p:spPr>
            <a:xfrm>
              <a:off x="6972300" y="4573627"/>
              <a:ext cx="4000500" cy="548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အားသာချက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 Memory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ထဲမှာ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ကျဲနေတဲ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နေရာလွတ်တွေကို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အကျိုးရှိရှိ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သုံးလို့ရပါတယ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142" name="Google Shape;142;p17"/>
          <p:cNvSpPr txBox="1"/>
          <p:nvPr/>
        </p:nvSpPr>
        <p:spPr>
          <a:xfrm>
            <a:off x="581025" y="581025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နေရာယူပုံ နှိုင်းယှဉ်ချက်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Google Shape;147;p18"/>
          <p:cNvGraphicFramePr/>
          <p:nvPr>
            <p:extLst>
              <p:ext uri="{D42A27DB-BD31-4B8C-83A1-F6EECF244321}">
                <p14:modId xmlns:p14="http://schemas.microsoft.com/office/powerpoint/2010/main" val="3867220273"/>
              </p:ext>
            </p:extLst>
          </p:nvPr>
        </p:nvGraphicFramePr>
        <p:xfrm>
          <a:off x="590549" y="1398133"/>
          <a:ext cx="11010900" cy="4250500"/>
        </p:xfrm>
        <a:graphic>
          <a:graphicData uri="http://schemas.openxmlformats.org/drawingml/2006/table">
            <a:tbl>
              <a:tblPr firstRow="1" bandRow="1">
                <a:noFill/>
                <a:tableStyleId>{19D28BA3-A414-49F2-8C77-5E6ED8457C61}</a:tableStyleId>
              </a:tblPr>
              <a:tblGrid>
                <a:gridCol w="424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0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Operation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Array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Linked 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dirty="0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Access / Search </a:t>
                      </a:r>
                      <a:endParaRPr sz="1650" b="1" i="0" u="none" strike="noStrike" cap="none" dirty="0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dirty="0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O(1)</a:t>
                      </a:r>
                      <a:endParaRPr sz="1650" b="1" i="0" u="none" strike="noStrike" cap="none" dirty="0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O(n)</a:t>
                      </a:r>
                      <a:endParaRPr sz="1650" b="1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Insert at Head</a:t>
                      </a:r>
                      <a:endParaRPr sz="1650" b="1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O(n)</a:t>
                      </a:r>
                      <a:endParaRPr sz="1650" b="1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O(1)</a:t>
                      </a:r>
                      <a:endParaRPr sz="1650" b="1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Insert at Middle</a:t>
                      </a:r>
                      <a:endParaRPr sz="1650" b="1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O(n)</a:t>
                      </a:r>
                      <a:endParaRPr sz="1650" b="1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dirty="0">
                          <a:solidFill>
                            <a:srgbClr val="F59E0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O(n)</a:t>
                      </a:r>
                      <a:endParaRPr sz="1650" b="1" dirty="0">
                        <a:solidFill>
                          <a:srgbClr val="F59E0B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8" name="Google Shape;148;p18"/>
          <p:cNvSpPr/>
          <p:nvPr/>
        </p:nvSpPr>
        <p:spPr>
          <a:xfrm>
            <a:off x="590550" y="1724025"/>
            <a:ext cx="424234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832895" y="1724025"/>
            <a:ext cx="3530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8363396" y="1724025"/>
            <a:ext cx="323805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90550" y="395287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vs Linked List (Time Complexity)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581025" y="581025"/>
            <a:ext cx="5540692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ဘာကြောင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 Insert at Head </a:t>
            </a: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က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မြန်တာလဲ</a:t>
            </a: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</a:t>
            </a:r>
            <a:endParaRPr dirty="0"/>
          </a:p>
        </p:txBody>
      </p:sp>
      <p:sp>
        <p:nvSpPr>
          <p:cNvPr id="158" name="Google Shape;158;p19"/>
          <p:cNvSpPr txBox="1"/>
          <p:nvPr/>
        </p:nvSpPr>
        <p:spPr>
          <a:xfrm>
            <a:off x="581025" y="2072775"/>
            <a:ext cx="5277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Array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ရှေ့ဆုံး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(Index 0)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အသစ်ထည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မယ်ဆိုရင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်၊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ရှိပြီးသား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အားလုံးကို</a:t>
            </a:r>
            <a:r>
              <a:rPr lang="en-US" sz="1650" b="0" i="0" u="none" strike="noStrike" cap="none" dirty="0">
                <a:solidFill>
                  <a:srgbClr val="CBD5E1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နောက်ကို</a:t>
            </a:r>
            <a:r>
              <a:rPr lang="en-US" sz="1650" b="1" i="0" u="none" strike="noStrike" cap="none" dirty="0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တစ်ခန်းစီ</a:t>
            </a:r>
            <a:r>
              <a:rPr lang="en-US" sz="1650" b="1" i="0" u="none" strike="noStrike" cap="none" dirty="0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(Shift) </a:t>
            </a:r>
            <a:r>
              <a:rPr lang="en-US" sz="1650" b="1" i="0" u="none" strike="noStrike" cap="none" dirty="0" err="1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</a:t>
            </a:r>
            <a:r>
              <a:rPr lang="en-US" sz="1650" b="1" i="0" u="none" strike="noStrike" cap="none" dirty="0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ွှ</a:t>
            </a:r>
            <a:r>
              <a:rPr lang="en-US" sz="1650" b="1" i="0" u="none" strike="noStrike" cap="none" dirty="0" err="1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ေ့ပေးရပါတယ</a:t>
            </a:r>
            <a:r>
              <a:rPr lang="en-US" sz="1650" b="1" i="0" u="none" strike="noStrike" cap="none" dirty="0">
                <a:solidFill>
                  <a:srgbClr val="FB7185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60" name="Google Shape;160;p19"/>
          <p:cNvSpPr txBox="1"/>
          <p:nvPr/>
        </p:nvSpPr>
        <p:spPr>
          <a:xfrm>
            <a:off x="723900" y="7836098"/>
            <a:ext cx="51339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Constant Time!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19ECBD-E154-6767-E777-C6CBBA4BCE9A}"/>
              </a:ext>
            </a:extLst>
          </p:cNvPr>
          <p:cNvGrpSpPr/>
          <p:nvPr/>
        </p:nvGrpSpPr>
        <p:grpSpPr>
          <a:xfrm>
            <a:off x="581025" y="3670695"/>
            <a:ext cx="5277000" cy="2697656"/>
            <a:chOff x="581025" y="3670695"/>
            <a:chExt cx="5277000" cy="2697656"/>
          </a:xfrm>
        </p:grpSpPr>
        <p:sp>
          <p:nvSpPr>
            <p:cNvPr id="159" name="Google Shape;159;p19"/>
            <p:cNvSpPr txBox="1"/>
            <p:nvPr/>
          </p:nvSpPr>
          <p:spPr>
            <a:xfrm>
              <a:off x="581025" y="3670695"/>
              <a:ext cx="52770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Linked List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မှာတော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အဲ့ဒီလို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ွှ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ေ့စရာ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မလိုပါဘူး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 dirty="0"/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581025" y="4226318"/>
              <a:ext cx="47529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Node (ရထားတွဲ) အသစ်တစ်ခု ဖန်တီးလိုက်တယ်။</a:t>
              </a:r>
              <a:endParaRPr/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581025" y="4799604"/>
              <a:ext cx="47529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အဲ့ဒီတွဲရဲ့ သံကြိုး (Pointer) ကို လက်ရှိ Head (ခေါင်းတွဲ) ဆီကို ချိတ်လိုက်တယ်။</a:t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581025" y="5708051"/>
              <a:ext cx="47529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အဲ့ဒီတွဲအသစ်ကို Head အဖြစ် ပြောင်းသတ်မှတ်လိုက်တယ်။</a:t>
              </a:r>
              <a:endParaRPr/>
            </a:p>
          </p:txBody>
        </p:sp>
      </p:grpSp>
      <p:pic>
        <p:nvPicPr>
          <p:cNvPr id="164" name="Google Shape;164;p19" descr="ဘာကြောင့် Insert at Head က မြန်တာလဲ?&#10;&#10;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3350" y="13593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E095DD6-C979-2373-5D3B-CDBEF6078F59}"/>
              </a:ext>
            </a:extLst>
          </p:cNvPr>
          <p:cNvGrpSpPr/>
          <p:nvPr/>
        </p:nvGrpSpPr>
        <p:grpSpPr>
          <a:xfrm>
            <a:off x="581025" y="1762422"/>
            <a:ext cx="3486150" cy="4542829"/>
            <a:chOff x="581025" y="1762422"/>
            <a:chExt cx="3486150" cy="4542829"/>
          </a:xfrm>
        </p:grpSpPr>
        <p:pic>
          <p:nvPicPr>
            <p:cNvPr id="170" name="Google Shape;170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1762422"/>
              <a:ext cx="3486150" cy="45428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152947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20"/>
            <p:cNvSpPr txBox="1"/>
            <p:nvPr/>
          </p:nvSpPr>
          <p:spPr>
            <a:xfrm>
              <a:off x="876300" y="3153072"/>
              <a:ext cx="1910238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Dynamic Size</a:t>
              </a:r>
              <a:endParaRPr/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876300" y="3695997"/>
              <a:ext cx="2895600" cy="2010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Array လို Size ကို ကြိုတင်သတ်မှတ်စရာ မလိုပါဘူး။ လိုအပ်သလို Node အသစ်တွေ ထပ်ထည့်၊ ဖျက်လို့ ရပါတယ်။ Memory အလဟဿ မဖြစ်ပါဘူး။</a:t>
              </a:r>
              <a:endParaRPr/>
            </a:p>
          </p:txBody>
        </p:sp>
        <p:pic>
          <p:nvPicPr>
            <p:cNvPr id="182" name="Google Shape;182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47750" y="2295822"/>
              <a:ext cx="419100" cy="476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E70EE9-AC2E-FFE5-8A37-B2232B161C15}"/>
              </a:ext>
            </a:extLst>
          </p:cNvPr>
          <p:cNvGrpSpPr/>
          <p:nvPr/>
        </p:nvGrpSpPr>
        <p:grpSpPr>
          <a:xfrm>
            <a:off x="4352925" y="1762422"/>
            <a:ext cx="3486150" cy="4542829"/>
            <a:chOff x="4352925" y="1762422"/>
            <a:chExt cx="3486150" cy="4542829"/>
          </a:xfrm>
        </p:grpSpPr>
        <p:pic>
          <p:nvPicPr>
            <p:cNvPr id="171" name="Google Shape;171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52925" y="1762422"/>
              <a:ext cx="3486150" cy="45428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20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648200" y="2152947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20"/>
            <p:cNvSpPr txBox="1"/>
            <p:nvPr/>
          </p:nvSpPr>
          <p:spPr>
            <a:xfrm>
              <a:off x="4648200" y="3153072"/>
              <a:ext cx="2540317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Fast Insert/Delete</a:t>
              </a:r>
              <a:endParaRPr/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4648200" y="3695997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ရှေ့ဆုံး (Head) မှာ Data ထည့်တာ၊ ဖျက်တာတွေက O(1) နဲ့ အလုပ်လုပ်လို့ အရမ်းမြန်ပါတယ်။ ကျန်တဲ့ Data တွေ နေရာရွှေ့စရာ မလိုလို့ပါ။</a:t>
              </a:r>
              <a:endParaRPr/>
            </a:p>
          </p:txBody>
        </p:sp>
        <p:pic>
          <p:nvPicPr>
            <p:cNvPr id="183" name="Google Shape;183;p20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19650" y="2295822"/>
              <a:ext cx="419100" cy="476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E01CDC1-DB83-7B9A-D373-3F39F4208AA4}"/>
              </a:ext>
            </a:extLst>
          </p:cNvPr>
          <p:cNvGrpSpPr/>
          <p:nvPr/>
        </p:nvGrpSpPr>
        <p:grpSpPr>
          <a:xfrm>
            <a:off x="8124825" y="1762422"/>
            <a:ext cx="3486150" cy="4542829"/>
            <a:chOff x="8124825" y="1762422"/>
            <a:chExt cx="3486150" cy="4542829"/>
          </a:xfrm>
        </p:grpSpPr>
        <p:pic>
          <p:nvPicPr>
            <p:cNvPr id="172" name="Google Shape;172;p20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24825" y="1762422"/>
              <a:ext cx="3486150" cy="45428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0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20100" y="2152947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 txBox="1"/>
            <p:nvPr/>
          </p:nvSpPr>
          <p:spPr>
            <a:xfrm>
              <a:off x="8420100" y="3153072"/>
              <a:ext cx="3040380" cy="8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Slow Access &amp; Extra Space</a:t>
              </a:r>
              <a:endParaRPr/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8420100" y="4096047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Index နံပါတ်နဲ့ တိုက်ရိုက်ခေါ်လို့ မရလို့ (ဥပမာ 5 တွဲမြောက်) O(n) နှေးပါတယ်။ Pointer တွေ သိမ်းဖို့ Memory Space အပို ထပ်လိုပါတယ်။</a:t>
              </a:r>
              <a:endParaRPr/>
            </a:p>
          </p:txBody>
        </p:sp>
        <p:pic>
          <p:nvPicPr>
            <p:cNvPr id="184" name="Google Shape;184;p20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562975" y="2295822"/>
              <a:ext cx="476250" cy="4762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20"/>
          <p:cNvSpPr txBox="1"/>
          <p:nvPr/>
        </p:nvSpPr>
        <p:spPr>
          <a:xfrm>
            <a:off x="581025" y="552747"/>
            <a:ext cx="1158144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Linked List ရဲ့ အားသာချက် နဲ့ အားနည်းချက်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8">
          <a:extLst>
            <a:ext uri="{FF2B5EF4-FFF2-40B4-BE49-F238E27FC236}">
              <a16:creationId xmlns:a16="http://schemas.microsoft.com/office/drawing/2014/main" id="{5D656E34-254E-8B5B-99F0-820285C68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image.png">
            <a:extLst>
              <a:ext uri="{FF2B5EF4-FFF2-40B4-BE49-F238E27FC236}">
                <a16:creationId xmlns:a16="http://schemas.microsoft.com/office/drawing/2014/main" id="{BAD375DA-0C57-E1CC-E647-861622C304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D531A0F-8213-5C30-9081-8F78BC469789}"/>
              </a:ext>
            </a:extLst>
          </p:cNvPr>
          <p:cNvGrpSpPr/>
          <p:nvPr/>
        </p:nvGrpSpPr>
        <p:grpSpPr>
          <a:xfrm>
            <a:off x="581025" y="1964131"/>
            <a:ext cx="6047014" cy="3455816"/>
            <a:chOff x="581025" y="1964131"/>
            <a:chExt cx="6047014" cy="3455816"/>
          </a:xfrm>
        </p:grpSpPr>
        <p:sp>
          <p:nvSpPr>
            <p:cNvPr id="174" name="Google Shape;174;p20">
              <a:extLst>
                <a:ext uri="{FF2B5EF4-FFF2-40B4-BE49-F238E27FC236}">
                  <a16:creationId xmlns:a16="http://schemas.microsoft.com/office/drawing/2014/main" id="{60AD4446-36A3-F250-BE4A-0417CC29B49F}"/>
                </a:ext>
              </a:extLst>
            </p:cNvPr>
            <p:cNvSpPr txBox="1"/>
            <p:nvPr/>
          </p:nvSpPr>
          <p:spPr>
            <a:xfrm>
              <a:off x="581025" y="1964131"/>
              <a:ext cx="19102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Array</a:t>
              </a:r>
              <a:endParaRPr dirty="0"/>
            </a:p>
          </p:txBody>
        </p:sp>
        <p:sp>
          <p:nvSpPr>
            <p:cNvPr id="175" name="Google Shape;175;p20">
              <a:extLst>
                <a:ext uri="{FF2B5EF4-FFF2-40B4-BE49-F238E27FC236}">
                  <a16:creationId xmlns:a16="http://schemas.microsoft.com/office/drawing/2014/main" id="{E8D61B73-B3B4-9AB1-8331-EAC8BE8F5886}"/>
                </a:ext>
              </a:extLst>
            </p:cNvPr>
            <p:cNvSpPr txBox="1"/>
            <p:nvPr/>
          </p:nvSpPr>
          <p:spPr>
            <a:xfrm>
              <a:off x="581025" y="2649958"/>
              <a:ext cx="6047014" cy="2769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indent="-285750">
                <a:lnSpc>
                  <a:spcPct val="200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Index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နဲ့ မကြာခဏ </a:t>
              </a: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access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လုပ်ရမယ်ဆိုရင်</a:t>
              </a:r>
            </a:p>
            <a:p>
              <a:pPr marL="285750" indent="-285750">
                <a:lnSpc>
                  <a:spcPct val="200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Memory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ကို သက်သာစေချင်ရင် (</a:t>
              </a: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Linked List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က </a:t>
              </a: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pointer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အတွက် နေရာပိုယူတယ်)</a:t>
              </a:r>
            </a:p>
            <a:p>
              <a:pPr marL="285750" indent="-285750">
                <a:lnSpc>
                  <a:spcPct val="200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Cache locality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ကောင်းဖို့လိုရင် (</a:t>
              </a: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Array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က </a:t>
              </a: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memory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ထဲမှာ ဆက်တိုက်ရှိတယ်)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1378CC2-3E27-9219-5FA4-6BA656451C08}"/>
              </a:ext>
            </a:extLst>
          </p:cNvPr>
          <p:cNvGrpSpPr/>
          <p:nvPr/>
        </p:nvGrpSpPr>
        <p:grpSpPr>
          <a:xfrm>
            <a:off x="6671185" y="1964131"/>
            <a:ext cx="5096272" cy="2740236"/>
            <a:chOff x="6671185" y="1964131"/>
            <a:chExt cx="5096272" cy="2740236"/>
          </a:xfrm>
        </p:grpSpPr>
        <p:sp>
          <p:nvSpPr>
            <p:cNvPr id="177" name="Google Shape;177;p20">
              <a:extLst>
                <a:ext uri="{FF2B5EF4-FFF2-40B4-BE49-F238E27FC236}">
                  <a16:creationId xmlns:a16="http://schemas.microsoft.com/office/drawing/2014/main" id="{E9C2DF14-2270-0029-3E93-9164F6C567EE}"/>
                </a:ext>
              </a:extLst>
            </p:cNvPr>
            <p:cNvSpPr txBox="1"/>
            <p:nvPr/>
          </p:nvSpPr>
          <p:spPr>
            <a:xfrm>
              <a:off x="6671185" y="1964131"/>
              <a:ext cx="30497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 dirty="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Linked</a:t>
              </a:r>
              <a:r>
                <a:rPr lang="en-US" sz="2100" b="0" i="0" u="none" strike="noStrike" cap="none" dirty="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 </a:t>
              </a:r>
              <a:r>
                <a:rPr lang="en-US" sz="2400" b="0" i="0" u="none" strike="noStrike" cap="none" dirty="0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List</a:t>
              </a:r>
              <a:endParaRPr sz="2400" dirty="0"/>
            </a:p>
          </p:txBody>
        </p:sp>
        <p:sp>
          <p:nvSpPr>
            <p:cNvPr id="178" name="Google Shape;178;p20">
              <a:extLst>
                <a:ext uri="{FF2B5EF4-FFF2-40B4-BE49-F238E27FC236}">
                  <a16:creationId xmlns:a16="http://schemas.microsoft.com/office/drawing/2014/main" id="{442775B4-7E03-7E5F-A0F0-0B3858496F01}"/>
                </a:ext>
              </a:extLst>
            </p:cNvPr>
            <p:cNvSpPr txBox="1"/>
            <p:nvPr/>
          </p:nvSpPr>
          <p:spPr>
            <a:xfrm>
              <a:off x="6671185" y="2488376"/>
              <a:ext cx="5096272" cy="2215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indent="-285750">
                <a:lnSpc>
                  <a:spcPct val="200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အစမှာ ထည့်တာ၊ ဖျက်တာ မကြာခဏလုပ်ရမယ်ဆိုရင်</a:t>
              </a:r>
            </a:p>
            <a:p>
              <a:pPr marL="285750" indent="-285750">
                <a:lnSpc>
                  <a:spcPct val="200000"/>
                </a:lnSpc>
                <a:buClr>
                  <a:schemeClr val="bg1"/>
                </a:buClr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Size </a:t>
              </a:r>
              <a:r>
                <a:rPr lang="my-MM" sz="1800" dirty="0">
                  <a:solidFill>
                    <a:schemeClr val="bg1"/>
                  </a:solidFill>
                  <a:latin typeface="Lato" panose="020F0502020204030203" pitchFamily="34" charset="77"/>
                </a:rPr>
                <a:t>က ကြိုတင်သိနိုင်စရာမရှိဘဲ အဆက်မပြတ် ပြောင်းလဲနေမယ်ဆိုရင်</a:t>
              </a:r>
            </a:p>
          </p:txBody>
        </p:sp>
      </p:grpSp>
      <p:sp>
        <p:nvSpPr>
          <p:cNvPr id="185" name="Google Shape;185;p20">
            <a:extLst>
              <a:ext uri="{FF2B5EF4-FFF2-40B4-BE49-F238E27FC236}">
                <a16:creationId xmlns:a16="http://schemas.microsoft.com/office/drawing/2014/main" id="{302FFA9C-2A17-3CC7-6694-FFD4AB07BC43}"/>
              </a:ext>
            </a:extLst>
          </p:cNvPr>
          <p:cNvSpPr txBox="1"/>
          <p:nvPr/>
        </p:nvSpPr>
        <p:spPr>
          <a:xfrm>
            <a:off x="581025" y="552747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vs Linked List</a:t>
            </a:r>
            <a:endParaRPr lang="my-MM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869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1|3.4|13.9|13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1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33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18.6|3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3|25.7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1130</Words>
  <Application>Microsoft Macintosh PowerPoint</Application>
  <PresentationFormat>Widescreen</PresentationFormat>
  <Paragraphs>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4</cp:revision>
  <dcterms:modified xsi:type="dcterms:W3CDTF">2026-04-06T15:46:42Z</dcterms:modified>
</cp:coreProperties>
</file>