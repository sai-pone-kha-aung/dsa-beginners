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tags/tag7.xml" ContentType="application/vnd.openxmlformats-officedocument.presentationml.tags+xml"/>
  <Override PartName="/ppt/notesSlides/notesSlide8.xml" ContentType="application/vnd.openxmlformats-officedocument.presentationml.notesSlide+xml"/>
  <Override PartName="/ppt/tags/tag8.xml" ContentType="application/vnd.openxmlformats-officedocument.presentationml.tags+xml"/>
  <Override PartName="/ppt/notesSlides/notesSlide9.xml" ContentType="application/vnd.openxmlformats-officedocument.presentationml.notesSlide+xml"/>
  <Override PartName="/ppt/tags/tag9.xml" ContentType="application/vnd.openxmlformats-officedocument.presentationml.tags+xml"/>
  <Override PartName="/ppt/notesSlides/notesSlide10.xml" ContentType="application/vnd.openxmlformats-officedocument.presentationml.notesSlide+xml"/>
  <Override PartName="/ppt/tags/tag10.xml" ContentType="application/vnd.openxmlformats-officedocument.presentationml.tags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Fira Code" panose="020B0809050000020004" pitchFamily="49" charset="0"/>
      <p:regular r:id="rId14"/>
      <p:bold r:id="rId15"/>
    </p:embeddedFont>
    <p:embeddedFont>
      <p:font typeface="Noto Sans Myanmar" panose="020B0502040504020204" pitchFamily="34" charset="0"/>
      <p:regular r:id="rId16"/>
      <p:bold r:id="rId17"/>
    </p:embeddedFont>
    <p:embeddedFont>
      <p:font typeface="Poppins" pitchFamily="2" charset="77"/>
      <p:regular r:id="rId18"/>
      <p:bold r:id="rId19"/>
      <p:italic r:id="rId20"/>
      <p:boldItalic r:id="rId21"/>
    </p:embeddedFont>
    <p:embeddedFont>
      <p:font typeface="Poppins SemiBold" pitchFamily="2" charset="77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E277E89-DC40-400C-A40B-F14DD64B70C4}">
  <a:tblStyle styleId="{AE277E89-DC40-400C-A40B-F14DD64B70C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18"/>
    <p:restoredTop sz="94670"/>
  </p:normalViewPr>
  <p:slideViewPr>
    <p:cSldViewPr snapToGrid="0">
      <p:cViewPr varScale="1">
        <p:scale>
          <a:sx n="117" d="100"/>
          <a:sy n="117" d="100"/>
        </p:scale>
        <p:origin x="1280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7.jpg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.png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2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2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1.png"/><Relationship Id="rId9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1B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915477" y="2120354"/>
            <a:ext cx="836104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25" b="1" i="0" u="none" strike="noStrike" cap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Tree</a:t>
            </a:r>
            <a:r>
              <a:rPr lang="en-US" sz="5625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Data Structure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114550" y="3168104"/>
            <a:ext cx="796290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6B6D4"/>
                </a:solidFill>
                <a:latin typeface="Fira Code"/>
                <a:ea typeface="Fira Code"/>
                <a:cs typeface="Fira Code"/>
                <a:sym typeface="Fira Code"/>
              </a:rPr>
              <a:t>[ Root, Node, Leaf ]</a:t>
            </a:r>
            <a:endParaRPr/>
          </a:p>
        </p:txBody>
      </p:sp>
      <p:sp>
        <p:nvSpPr>
          <p:cNvPr id="2" name="Google Shape;86;p13">
            <a:extLst>
              <a:ext uri="{FF2B5EF4-FFF2-40B4-BE49-F238E27FC236}">
                <a16:creationId xmlns:a16="http://schemas.microsoft.com/office/drawing/2014/main" id="{91CB229B-DF84-A74D-3669-CA58C0A8595B}"/>
              </a:ext>
            </a:extLst>
          </p:cNvPr>
          <p:cNvSpPr txBox="1"/>
          <p:nvPr/>
        </p:nvSpPr>
        <p:spPr>
          <a:xfrm>
            <a:off x="1809749" y="3874167"/>
            <a:ext cx="8572500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[ Y2K </a:t>
            </a:r>
            <a:r>
              <a:rPr lang="en-US" sz="1950" b="0" i="0" u="none" strike="noStrike" cap="none" dirty="0" err="1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DevHub</a:t>
            </a:r>
            <a:r>
              <a:rPr lang="en-US" sz="1950" b="0" i="0" u="none" strike="noStrike" cap="none" dirty="0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 : Beginner DSA Series - 15 ]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1B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619750" y="2044154"/>
            <a:ext cx="952500" cy="571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1205388" y="2387054"/>
            <a:ext cx="9781222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ဘာကြောင့် Tree တွေ လိုအပ်တာလဲ?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2286000" y="3911054"/>
            <a:ext cx="7620000" cy="1188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Data </a:t>
            </a:r>
            <a:r>
              <a:rPr lang="en-US" sz="1950" b="0" i="0" u="none" strike="noStrike" cap="none" dirty="0" err="1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တွေ</a:t>
            </a:r>
            <a:r>
              <a:rPr lang="en-US" sz="1950" b="0" i="0" u="none" strike="noStrike" cap="none" dirty="0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950" b="0" i="0" u="none" strike="noStrike" cap="none" dirty="0" err="1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အများကြီးကို</a:t>
            </a:r>
            <a:r>
              <a:rPr lang="en-US" sz="1950" b="0" i="0" u="none" strike="noStrike" cap="none" dirty="0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950" b="1" i="0" u="none" strike="noStrike" cap="none" dirty="0" err="1">
                <a:solidFill>
                  <a:srgbClr val="06B6D4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အထက်အောက</a:t>
            </a:r>
            <a:r>
              <a:rPr lang="en-US" sz="1950" b="1" i="0" u="none" strike="noStrike" cap="none" dirty="0">
                <a:solidFill>
                  <a:srgbClr val="06B6D4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 </a:t>
            </a:r>
            <a:r>
              <a:rPr lang="en-US" sz="1950" b="1" i="0" u="none" strike="noStrike" cap="none" dirty="0" err="1">
                <a:solidFill>
                  <a:srgbClr val="06B6D4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ဆက်သွယ်မှု</a:t>
            </a:r>
            <a:r>
              <a:rPr lang="en-US" sz="1950" b="1" i="0" u="none" strike="noStrike" cap="none" dirty="0">
                <a:solidFill>
                  <a:srgbClr val="06B6D4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(Hierarchy)</a:t>
            </a:r>
            <a:r>
              <a:rPr lang="en-US" sz="1950" b="0" i="0" u="none" strike="noStrike" cap="none" dirty="0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950" b="0" i="0" u="none" strike="noStrike" cap="none" dirty="0" err="1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ပုံစံနဲ</a:t>
            </a:r>
            <a:r>
              <a:rPr lang="en-US" sz="1950" b="0" i="0" u="none" strike="noStrike" cap="none" dirty="0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</a:t>
            </a:r>
            <a:r>
              <a:rPr lang="en-US" sz="1950" b="0" i="0" u="none" strike="noStrike" cap="none" dirty="0" err="1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သိမ်းဆည်းဖို့နဲ</a:t>
            </a:r>
            <a:r>
              <a:rPr lang="en-US" sz="1950" b="0" i="0" u="none" strike="noStrike" cap="none" dirty="0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့၊ </a:t>
            </a:r>
            <a:r>
              <a:rPr lang="en-US" sz="1950" b="0" i="0" u="none" strike="noStrike" cap="none" dirty="0" err="1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အလွန်မြန်ဆန်စွာ</a:t>
            </a:r>
            <a:r>
              <a:rPr lang="en-US" sz="1950" b="0" i="0" u="none" strike="noStrike" cap="none" dirty="0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950" b="0" i="0" u="none" strike="noStrike" cap="none" dirty="0" err="1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ရှာဖွေနိုင်ဖို့အတွက</a:t>
            </a:r>
            <a:r>
              <a:rPr lang="en-US" sz="1950" b="0" i="0" u="none" strike="noStrike" cap="none" dirty="0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 Tree </a:t>
            </a:r>
            <a:r>
              <a:rPr lang="en-US" sz="1950" b="0" i="0" u="none" strike="noStrike" cap="none" dirty="0" err="1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တွေက</a:t>
            </a:r>
            <a:r>
              <a:rPr lang="en-US" sz="1950" b="0" i="0" u="none" strike="noStrike" cap="none" dirty="0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950" b="0" i="0" u="none" strike="noStrike" cap="none" dirty="0" err="1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မရှိမဖြစ</a:t>
            </a:r>
            <a:r>
              <a:rPr lang="en-US" sz="1950" b="0" i="0" u="none" strike="noStrike" cap="none" dirty="0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 </a:t>
            </a:r>
            <a:r>
              <a:rPr lang="en-US" sz="1950" b="0" i="0" u="none" strike="noStrike" cap="none" dirty="0" err="1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လိုအပ်လာပါတယ</a:t>
            </a:r>
            <a:r>
              <a:rPr lang="en-US" sz="1950" b="0" i="0" u="none" strike="noStrike" cap="none" dirty="0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်။</a:t>
            </a:r>
            <a:endParaRPr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1B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581025" y="1599902"/>
            <a:ext cx="52768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Tree </a:t>
            </a:r>
            <a:r>
              <a:rPr lang="en-US" sz="1650" b="0" i="0" u="none" strike="noStrike" cap="none" dirty="0" err="1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ရဲ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</a:t>
            </a:r>
            <a:r>
              <a:rPr lang="en-US" sz="1650" b="0" i="0" u="none" strike="noStrike" cap="none" dirty="0" err="1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ဖွဲ့စည်းပုံကို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မြင်ယောင်ဖို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</a:t>
            </a:r>
            <a:r>
              <a:rPr lang="en-US" sz="1650" b="0" i="0" u="none" strike="noStrike" cap="none" dirty="0" err="1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အလွယ်ဆုံးက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ကုမ္ပဏီတစ်ခုရဲ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Organization Chart (</a:t>
            </a:r>
            <a:r>
              <a:rPr lang="en-US" sz="1650" b="0" i="0" u="none" strike="noStrike" cap="none" dirty="0" err="1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သို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့) </a:t>
            </a:r>
            <a:r>
              <a:rPr lang="en-US" sz="1650" b="0" i="0" u="none" strike="noStrike" cap="none" dirty="0" err="1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မိသားစု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ဆွေစဉ်မျိုးဆက်ပ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ြ </a:t>
            </a:r>
            <a:r>
              <a:rPr lang="en-US" sz="1650" b="0" i="0" u="none" strike="noStrike" cap="none" dirty="0" err="1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ဇယားကို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ကြည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့်</a:t>
            </a:r>
            <a:r>
              <a:rPr lang="en-US" sz="1650" b="0" i="0" u="none" strike="noStrike" cap="none" dirty="0" err="1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တာပ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ါ။</a:t>
            </a:r>
            <a:endParaRPr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D010681-4EC3-B2BF-F503-076FDAFA8A9A}"/>
              </a:ext>
            </a:extLst>
          </p:cNvPr>
          <p:cNvGrpSpPr/>
          <p:nvPr/>
        </p:nvGrpSpPr>
        <p:grpSpPr>
          <a:xfrm>
            <a:off x="566737" y="3010197"/>
            <a:ext cx="5291138" cy="670321"/>
            <a:chOff x="566737" y="3010197"/>
            <a:chExt cx="5291138" cy="670321"/>
          </a:xfrm>
        </p:grpSpPr>
        <p:sp>
          <p:nvSpPr>
            <p:cNvPr id="102" name="Google Shape;102;p15"/>
            <p:cNvSpPr txBox="1"/>
            <p:nvPr/>
          </p:nvSpPr>
          <p:spPr>
            <a:xfrm>
              <a:off x="1104900" y="3010197"/>
              <a:ext cx="4752975" cy="6703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အထက်ဆုံး:</a:t>
              </a:r>
              <a:r>
                <a:rPr lang="en-US" sz="1650" b="0" i="0" u="none" strike="noStrike" cap="none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ကုမ္ပဏီမှာဆိုရင် CEO တစ်ယောက်တည်းကနေ စတင်ပါတယ်။</a:t>
              </a:r>
              <a:endParaRPr/>
            </a:p>
          </p:txBody>
        </p:sp>
        <p:pic>
          <p:nvPicPr>
            <p:cNvPr id="105" name="Google Shape;105;p15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66737" y="3073004"/>
              <a:ext cx="276225" cy="2571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8F485668-1498-ECB7-D116-3BEC45A17177}"/>
              </a:ext>
            </a:extLst>
          </p:cNvPr>
          <p:cNvGrpSpPr/>
          <p:nvPr/>
        </p:nvGrpSpPr>
        <p:grpSpPr>
          <a:xfrm>
            <a:off x="566737" y="3918644"/>
            <a:ext cx="5291138" cy="1005482"/>
            <a:chOff x="566737" y="3918644"/>
            <a:chExt cx="5291138" cy="1005482"/>
          </a:xfrm>
        </p:grpSpPr>
        <p:sp>
          <p:nvSpPr>
            <p:cNvPr id="103" name="Google Shape;103;p15"/>
            <p:cNvSpPr txBox="1"/>
            <p:nvPr/>
          </p:nvSpPr>
          <p:spPr>
            <a:xfrm>
              <a:off x="1104900" y="3918644"/>
              <a:ext cx="4752975" cy="10054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အဆင့်ဆင့်:</a:t>
              </a:r>
              <a:r>
                <a:rPr lang="en-US" sz="1650" b="0" i="0" u="none" strike="noStrike" cap="none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သူ့အောက်မှာ Manager တွေ၊ အဲ့ဒီအောက်မှာမှ ဝန်ထမ်းတွေ ဆိုပြီး အဆင့်ဆင့် ခွဲထွက်သွားပါတယ်။</a:t>
              </a:r>
              <a:endParaRPr/>
            </a:p>
          </p:txBody>
        </p:sp>
        <p:pic>
          <p:nvPicPr>
            <p:cNvPr id="106" name="Google Shape;106;p15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66737" y="4040832"/>
              <a:ext cx="314325" cy="2571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E1EE9EC8-E9A2-EDE2-DED8-3B60BEF60BEB}"/>
              </a:ext>
            </a:extLst>
          </p:cNvPr>
          <p:cNvGrpSpPr/>
          <p:nvPr/>
        </p:nvGrpSpPr>
        <p:grpSpPr>
          <a:xfrm>
            <a:off x="581025" y="5243065"/>
            <a:ext cx="5291138" cy="1005482"/>
            <a:chOff x="581025" y="5243065"/>
            <a:chExt cx="5291138" cy="1005482"/>
          </a:xfrm>
        </p:grpSpPr>
        <p:sp>
          <p:nvSpPr>
            <p:cNvPr id="104" name="Google Shape;104;p15"/>
            <p:cNvSpPr txBox="1"/>
            <p:nvPr/>
          </p:nvSpPr>
          <p:spPr>
            <a:xfrm>
              <a:off x="1119188" y="5243065"/>
              <a:ext cx="4752975" cy="10054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စည်းကမ်း</a:t>
              </a:r>
              <a:r>
                <a:rPr lang="en-US" sz="165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: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လမ်းကြောင်းတွေဟာ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အောက်ကိုပဲ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ဆင်းသွားရပြီး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၊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အချင်းချင်း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ပတ်ချာလည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ပြန်ချိတ်လို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မရပါဘူး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။</a:t>
              </a:r>
              <a:endParaRPr dirty="0"/>
            </a:p>
          </p:txBody>
        </p:sp>
        <p:pic>
          <p:nvPicPr>
            <p:cNvPr id="107" name="Google Shape;107;p15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81025" y="5338911"/>
              <a:ext cx="247650" cy="2571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8" name="Google Shape;108;p15"/>
          <p:cNvSpPr txBox="1"/>
          <p:nvPr/>
        </p:nvSpPr>
        <p:spPr>
          <a:xfrm>
            <a:off x="581025" y="452139"/>
            <a:ext cx="11581447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ကုမ္ပဏီ ဖွဲ့စည်းပုံ (သို့) ဆွေစဉ်မျိုးဆက် 👨‍👩‍👧‍👦</a:t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581025" y="1471314"/>
            <a:ext cx="11029950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15" descr="Tree ရဲ့ ဖွဲ့စည်းပုံကို မြင်ယောင်ဖို့ အလွယ်ဆုံးက ကုမ္ပဏီတစ်ခုရဲ့ Organization Chart (သို့) မိသားစု ဆွေစဉ်မျိုးဆက်ပြ ဇယားကို ကြည့်တာပါ။&#10;အထက်ဆုံး: ကုမ္ပဏီမှာဆိုရင် CEO တစ်ယောက်တည်းကနေ စတင်ပါတယ်။&#10;အဆင့်ဆင့်: သူ့အောက်မှာ Manager တွေ၊ အဲ့ဒီအောက်မှာမှ ဝန်ထမ်းတွေ ဆိုပြီး အဆင့်ဆင့် ခွဲထွက်သွားပါတယ်။&#10;စည်းကမ်း: လမ်းကြောင်းတွေဟာ အောက်ကိုပဲ ဆင်းသွားရပြီး၊ အချင်းချင်း ပတ်ချာလည် ပြန်ချိတ်လို့ မရပါဘူး။&#10;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571075" y="1614200"/>
            <a:ext cx="4876800" cy="487680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1B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6334125" y="2149375"/>
            <a:ext cx="52768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Linked List </a:t>
            </a:r>
            <a:r>
              <a:rPr lang="en-US" sz="1650" b="0" i="0" u="none" strike="noStrike" cap="none" dirty="0" err="1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လိုပဲ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Tree </a:t>
            </a:r>
            <a:r>
              <a:rPr lang="en-US" sz="1650" b="0" i="0" u="none" strike="noStrike" cap="none" dirty="0" err="1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တွေမှာလည်း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Data </a:t>
            </a:r>
            <a:r>
              <a:rPr lang="en-US" sz="1650" b="0" i="0" u="none" strike="noStrike" cap="none" dirty="0" err="1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တွေကို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1" i="0" u="none" strike="noStrike" cap="none" dirty="0">
                <a:solidFill>
                  <a:srgbClr val="06B6D4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Node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လေးတွေထဲမှာ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ထည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့်</a:t>
            </a:r>
            <a:r>
              <a:rPr lang="en-US" sz="1650" b="0" i="0" u="none" strike="noStrike" cap="none" dirty="0" err="1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သိမ်းပါတယ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်။</a:t>
            </a:r>
            <a:endParaRPr dirty="0"/>
          </a:p>
        </p:txBody>
      </p:sp>
      <p:sp>
        <p:nvSpPr>
          <p:cNvPr id="118" name="Google Shape;118;p16"/>
          <p:cNvSpPr txBox="1"/>
          <p:nvPr/>
        </p:nvSpPr>
        <p:spPr>
          <a:xfrm>
            <a:off x="6334125" y="5073690"/>
            <a:ext cx="52770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Node </a:t>
            </a:r>
            <a:r>
              <a:rPr lang="en-US" sz="1650" b="0" i="0" u="none" strike="noStrike" cap="none" dirty="0" err="1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တစ်ခုမှာ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Data </a:t>
            </a:r>
            <a:r>
              <a:rPr lang="en-US" sz="1650" b="0" i="0" u="none" strike="noStrike" cap="none" dirty="0" err="1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ကိုယ်တိုင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 </a:t>
            </a:r>
            <a:r>
              <a:rPr lang="en-US" sz="1650" b="0" i="0" u="none" strike="noStrike" cap="none" dirty="0" err="1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ပါဝင်သလို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၊ </a:t>
            </a:r>
            <a:r>
              <a:rPr lang="en-US" sz="1650" b="0" i="0" u="none" strike="noStrike" cap="none" dirty="0" err="1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သူ့အောက်က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ကလေး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(Child nodes) </a:t>
            </a:r>
            <a:r>
              <a:rPr lang="en-US" sz="1650" b="0" i="0" u="none" strike="noStrike" cap="none" dirty="0" err="1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တွေဆီကို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ည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ွှ</a:t>
            </a:r>
            <a:r>
              <a:rPr lang="en-US" sz="1650" b="0" i="0" u="none" strike="noStrike" cap="none" dirty="0" err="1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န်ပြတဲ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</a:t>
            </a:r>
            <a:r>
              <a:rPr lang="en-US" sz="1650" b="0" i="0" u="none" strike="noStrike" cap="none" dirty="0" err="1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လိပ်စာ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(Pointers) </a:t>
            </a:r>
            <a:r>
              <a:rPr lang="en-US" sz="1650" b="0" i="0" u="none" strike="noStrike" cap="none" dirty="0" err="1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တွေလည်း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ပါဝင်ပါတယ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်။</a:t>
            </a:r>
            <a:endParaRPr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10B5903-DC13-FADD-2E16-136C9B2CA062}"/>
              </a:ext>
            </a:extLst>
          </p:cNvPr>
          <p:cNvGrpSpPr/>
          <p:nvPr/>
        </p:nvGrpSpPr>
        <p:grpSpPr>
          <a:xfrm>
            <a:off x="6334125" y="3010200"/>
            <a:ext cx="5276850" cy="1881362"/>
            <a:chOff x="6334125" y="3010200"/>
            <a:chExt cx="5276850" cy="1881362"/>
          </a:xfrm>
        </p:grpSpPr>
        <p:pic>
          <p:nvPicPr>
            <p:cNvPr id="116" name="Google Shape;116;p16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334125" y="3010200"/>
              <a:ext cx="5276850" cy="188136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" name="Google Shape;119;p16"/>
            <p:cNvSpPr txBox="1"/>
            <p:nvPr/>
          </p:nvSpPr>
          <p:spPr>
            <a:xfrm>
              <a:off x="6591300" y="3186303"/>
              <a:ext cx="4762500" cy="13406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ဒါပေမယ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့်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ကွာခြားချက်က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Linked List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မှာ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Next Pointer ၁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ခုတည်း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ရှိပေမယ</a:t>
              </a:r>
              <a:r>
                <a:rPr lang="en-US" sz="1650" b="0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့်၊ </a:t>
              </a:r>
              <a:r>
                <a:rPr lang="en-US" sz="165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Tree </a:t>
              </a:r>
              <a:r>
                <a:rPr lang="en-US" sz="1650" b="1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ရဲ</a:t>
              </a:r>
              <a:r>
                <a:rPr lang="en-US" sz="165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Node </a:t>
              </a:r>
              <a:r>
                <a:rPr lang="en-US" sz="1650" b="1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တွေကနေ</a:t>
              </a:r>
              <a:r>
                <a:rPr lang="en-US" sz="165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1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အောက်ကို</a:t>
              </a:r>
              <a:r>
                <a:rPr lang="en-US" sz="165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1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လမ်းခွဲ</a:t>
              </a:r>
              <a:r>
                <a:rPr lang="en-US" sz="165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(Branches) </a:t>
              </a:r>
              <a:r>
                <a:rPr lang="en-US" sz="1650" b="1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တွေ</a:t>
              </a:r>
              <a:r>
                <a:rPr lang="en-US" sz="165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1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အများကြီး</a:t>
              </a:r>
              <a:r>
                <a:rPr lang="en-US" sz="165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1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ထွက်သွားနိုင်ပါတယ</a:t>
              </a:r>
              <a:r>
                <a:rPr lang="en-US" sz="165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</a:t>
              </a:r>
              <a:endParaRPr dirty="0"/>
            </a:p>
          </p:txBody>
        </p:sp>
      </p:grpSp>
      <p:sp>
        <p:nvSpPr>
          <p:cNvPr id="120" name="Google Shape;120;p16"/>
          <p:cNvSpPr txBox="1"/>
          <p:nvPr/>
        </p:nvSpPr>
        <p:spPr>
          <a:xfrm>
            <a:off x="581025" y="581025"/>
            <a:ext cx="11581447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6B6D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Tree ရဲ့ အစိတ်အပိုင်းများ (Nodes)</a:t>
            </a:r>
            <a:endParaRPr/>
          </a:p>
        </p:txBody>
      </p:sp>
      <p:sp>
        <p:nvSpPr>
          <p:cNvPr id="121" name="Google Shape;121;p16"/>
          <p:cNvSpPr/>
          <p:nvPr/>
        </p:nvSpPr>
        <p:spPr>
          <a:xfrm>
            <a:off x="581025" y="1600200"/>
            <a:ext cx="11029950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p16" descr="Tree ရဲ့ အစိတ်အပိုင်းများ (Nodes)&#10;Linked List လိုပဲ Tree တွေမှာလည်း Data တွေကို Node လေးတွေထဲမှာ ထည့်သိမ်းပါတယ်။&#10;ဒါပေမယ့် ကွာခြားချက်က Linked List မှာ Next Pointer ၁ ခုတည်း ရှိပေမယ့်၊ Tree ရဲ့ Node တွေကနေ အောက်ကို လမ်းခွဲ (Branches) တွေ အများကြီး ထွက်သွားနိုင်ပါတယ်။&#10;Node တစ်ခုမှာ Data ကိုယ်တိုင် ပါဝင်သလို၊ သူ့အောက်က ကလေး (Child nodes) တွေဆီကို ညွှန်ပြတဲ့ လိပ်စာ (Pointers) တွေလည်း ပါဝင်ပါတယ်။&#10;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8200" y="1512475"/>
            <a:ext cx="4876800" cy="487680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1B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7"/>
          <p:cNvSpPr txBox="1"/>
          <p:nvPr/>
        </p:nvSpPr>
        <p:spPr>
          <a:xfrm>
            <a:off x="581025" y="1840625"/>
            <a:ext cx="11029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Tree </a:t>
            </a:r>
            <a:r>
              <a:rPr lang="en-US" sz="1650" b="0" i="0" u="none" strike="noStrike" cap="none" dirty="0" err="1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ကို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လေ့လာတဲ့အခ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ါ </a:t>
            </a:r>
            <a:r>
              <a:rPr lang="en-US" sz="1650" b="0" i="0" u="none" strike="noStrike" cap="none" dirty="0" err="1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အရေးအကြီးဆုံး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အခေ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ါ်</a:t>
            </a:r>
            <a:r>
              <a:rPr lang="en-US" sz="1650" b="0" i="0" u="none" strike="noStrike" cap="none" dirty="0" err="1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အဝေ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ါ် </a:t>
            </a:r>
            <a:r>
              <a:rPr lang="en-US" sz="1650" b="0" i="0" u="none" strike="noStrike" cap="none" dirty="0" err="1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နှစ်ခု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ရှိပါတယ</a:t>
            </a:r>
            <a:r>
              <a:rPr lang="en-US" sz="1650" b="0" i="0" u="none" strike="noStrike" cap="none" dirty="0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်။</a:t>
            </a:r>
            <a:endParaRPr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427ACBD-8628-8982-FD35-DA29EA622ED6}"/>
              </a:ext>
            </a:extLst>
          </p:cNvPr>
          <p:cNvGrpSpPr/>
          <p:nvPr/>
        </p:nvGrpSpPr>
        <p:grpSpPr>
          <a:xfrm>
            <a:off x="581025" y="2481560"/>
            <a:ext cx="5276850" cy="3782615"/>
            <a:chOff x="581025" y="2481560"/>
            <a:chExt cx="5276850" cy="3782615"/>
          </a:xfrm>
        </p:grpSpPr>
        <p:pic>
          <p:nvPicPr>
            <p:cNvPr id="128" name="Google Shape;128;p17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81025" y="2481560"/>
              <a:ext cx="5276850" cy="37826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" name="Google Shape;131;p17"/>
            <p:cNvSpPr txBox="1"/>
            <p:nvPr/>
          </p:nvSpPr>
          <p:spPr>
            <a:xfrm>
              <a:off x="971550" y="3624560"/>
              <a:ext cx="4495800" cy="3351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သစ်ပင်ရဲ့ အစအဦးဆုံး Node</a:t>
              </a:r>
              <a:endParaRPr/>
            </a:p>
          </p:txBody>
        </p:sp>
        <p:sp>
          <p:nvSpPr>
            <p:cNvPr id="132" name="Google Shape;132;p17"/>
            <p:cNvSpPr txBox="1"/>
            <p:nvPr/>
          </p:nvSpPr>
          <p:spPr>
            <a:xfrm>
              <a:off x="971550" y="4054971"/>
              <a:ext cx="4495800" cy="16758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Tree ရဲ့ အထက်ဆုံး ထိပ်ဆုံးမှာ ရှိတဲ့ </a:t>
              </a:r>
              <a:r>
                <a:rPr lang="en-US" sz="1650" b="1" i="0" u="none" strike="noStrike" cap="none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တစ်ခုတည်းသော Node</a:t>
              </a:r>
              <a:r>
                <a:rPr lang="en-US" sz="1650" b="0" i="0" u="none" strike="noStrike" cap="none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ကို Root လို့ ခေါ်ပါတယ်။ သစ်ပင်တစ်ပင်မှာ အမြစ်တစ်ခုတည်း ရှိသလိုပါပဲ။ ကျန်တဲ့ Node တွေအားလုံးက သူ့ဆီကနေ ဆင်းသက်လာတာပါ။</a:t>
              </a:r>
              <a:endParaRPr/>
            </a:p>
          </p:txBody>
        </p:sp>
        <p:grpSp>
          <p:nvGrpSpPr>
            <p:cNvPr id="135" name="Google Shape;135;p17"/>
            <p:cNvGrpSpPr/>
            <p:nvPr/>
          </p:nvGrpSpPr>
          <p:grpSpPr>
            <a:xfrm>
              <a:off x="971550" y="2880060"/>
              <a:ext cx="4720500" cy="323100"/>
              <a:chOff x="971550" y="2900660"/>
              <a:chExt cx="4720500" cy="323100"/>
            </a:xfrm>
          </p:grpSpPr>
          <p:sp>
            <p:nvSpPr>
              <p:cNvPr id="136" name="Google Shape;136;p17"/>
              <p:cNvSpPr txBox="1"/>
              <p:nvPr/>
            </p:nvSpPr>
            <p:spPr>
              <a:xfrm>
                <a:off x="971550" y="2900660"/>
                <a:ext cx="4720500" cy="32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09575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100" b="0" i="0" u="none" strike="noStrike" cap="none" dirty="0">
                    <a:solidFill>
                      <a:srgbClr val="10B981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Root Node (</a:t>
                </a:r>
                <a:r>
                  <a:rPr lang="en-US" sz="2100" b="0" i="0" u="none" strike="noStrike" cap="none" dirty="0" err="1">
                    <a:solidFill>
                      <a:srgbClr val="10B981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အမြစ</a:t>
                </a:r>
                <a:r>
                  <a:rPr lang="en-US" sz="2100" b="0" i="0" u="none" strike="noStrike" cap="none" dirty="0">
                    <a:solidFill>
                      <a:srgbClr val="10B981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်)</a:t>
                </a:r>
                <a:endParaRPr dirty="0"/>
              </a:p>
            </p:txBody>
          </p:sp>
          <p:pic>
            <p:nvPicPr>
              <p:cNvPr id="137" name="Google Shape;137;p17" descr="image.png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971550" y="2920433"/>
                <a:ext cx="266700" cy="2667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AD4A492-7A45-442F-84FD-1F87F0F4C326}"/>
              </a:ext>
            </a:extLst>
          </p:cNvPr>
          <p:cNvGrpSpPr/>
          <p:nvPr/>
        </p:nvGrpSpPr>
        <p:grpSpPr>
          <a:xfrm>
            <a:off x="6334125" y="2481560"/>
            <a:ext cx="5276850" cy="3782615"/>
            <a:chOff x="6334125" y="2481560"/>
            <a:chExt cx="5276850" cy="3782615"/>
          </a:xfrm>
        </p:grpSpPr>
        <p:pic>
          <p:nvPicPr>
            <p:cNvPr id="129" name="Google Shape;129;p17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6334125" y="2481560"/>
              <a:ext cx="5276850" cy="37826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" name="Google Shape;133;p17"/>
            <p:cNvSpPr txBox="1"/>
            <p:nvPr/>
          </p:nvSpPr>
          <p:spPr>
            <a:xfrm>
              <a:off x="6724650" y="3792140"/>
              <a:ext cx="4495800" cy="3351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အဆုံးသတ</a:t>
              </a:r>
              <a:r>
                <a:rPr lang="en-US" sz="165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 Node </a:t>
              </a:r>
              <a:r>
                <a:rPr lang="en-US" sz="1650" b="1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များ</a:t>
              </a:r>
              <a:endParaRPr dirty="0"/>
            </a:p>
          </p:txBody>
        </p:sp>
        <p:sp>
          <p:nvSpPr>
            <p:cNvPr id="134" name="Google Shape;134;p17"/>
            <p:cNvSpPr txBox="1"/>
            <p:nvPr/>
          </p:nvSpPr>
          <p:spPr>
            <a:xfrm>
              <a:off x="6724650" y="4222551"/>
              <a:ext cx="4495800" cy="13406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အောက်ကို ဆက်ပြီး ခွဲထွက်စရာ Child Node လုံးဝ </a:t>
              </a:r>
              <a:r>
                <a:rPr lang="en-US" sz="1650" b="1" i="0" u="none" strike="noStrike" cap="none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မရှိတော့တဲ့</a:t>
              </a:r>
              <a:r>
                <a:rPr lang="en-US" sz="1650" b="0" i="0" u="none" strike="noStrike" cap="none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(Next ပိုင်းတွေ Null ဖြစ်နေတဲ့) Node တွေကို Leaf လို့ ခေါ်ပါတယ်။ သူတို့က Tree ရဲ့ အောက်ခြေ အဆုံးသတ်တွေပါ။</a:t>
              </a:r>
              <a:endParaRPr/>
            </a:p>
          </p:txBody>
        </p:sp>
        <p:grpSp>
          <p:nvGrpSpPr>
            <p:cNvPr id="138" name="Google Shape;138;p17"/>
            <p:cNvGrpSpPr/>
            <p:nvPr/>
          </p:nvGrpSpPr>
          <p:grpSpPr>
            <a:xfrm>
              <a:off x="6724650" y="2873906"/>
              <a:ext cx="4720500" cy="329234"/>
              <a:chOff x="6724650" y="3062106"/>
              <a:chExt cx="4720500" cy="329234"/>
            </a:xfrm>
          </p:grpSpPr>
          <p:sp>
            <p:nvSpPr>
              <p:cNvPr id="139" name="Google Shape;139;p17"/>
              <p:cNvSpPr txBox="1"/>
              <p:nvPr/>
            </p:nvSpPr>
            <p:spPr>
              <a:xfrm>
                <a:off x="6724650" y="3068240"/>
                <a:ext cx="4720500" cy="32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8100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100" b="0" i="0" u="none" strike="noStrike" cap="none" dirty="0">
                    <a:solidFill>
                      <a:srgbClr val="F59E0B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 Leaf Node (</a:t>
                </a:r>
                <a:r>
                  <a:rPr lang="en-US" sz="2100" b="0" i="0" u="none" strike="noStrike" cap="none" dirty="0" err="1">
                    <a:solidFill>
                      <a:srgbClr val="F59E0B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သစ်ရွက</a:t>
                </a:r>
                <a:r>
                  <a:rPr lang="en-US" sz="2100" b="0" i="0" u="none" strike="noStrike" cap="none" dirty="0">
                    <a:solidFill>
                      <a:srgbClr val="F59E0B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်)</a:t>
                </a:r>
                <a:endParaRPr dirty="0"/>
              </a:p>
            </p:txBody>
          </p:sp>
          <p:pic>
            <p:nvPicPr>
              <p:cNvPr id="140" name="Google Shape;140;p17" descr="image.png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6724650" y="3062106"/>
                <a:ext cx="238125" cy="2667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41" name="Google Shape;141;p17"/>
          <p:cNvSpPr txBox="1"/>
          <p:nvPr/>
        </p:nvSpPr>
        <p:spPr>
          <a:xfrm>
            <a:off x="581025" y="581025"/>
            <a:ext cx="11581447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အထက်ဆုံး နှင့် အောက်ဆုံး</a:t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581025" y="1600200"/>
            <a:ext cx="11029950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1B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8" name="Google Shape;148;p18"/>
          <p:cNvGraphicFramePr/>
          <p:nvPr/>
        </p:nvGraphicFramePr>
        <p:xfrm>
          <a:off x="581025" y="1236500"/>
          <a:ext cx="11010900" cy="5283625"/>
        </p:xfrm>
        <a:graphic>
          <a:graphicData uri="http://schemas.openxmlformats.org/drawingml/2006/table">
            <a:tbl>
              <a:tblPr firstRow="1" bandRow="1">
                <a:noFill/>
                <a:tableStyleId>{AE277E89-DC40-400C-A40B-F14DD64B70C4}</a:tableStyleId>
              </a:tblPr>
              <a:tblGrid>
                <a:gridCol w="2752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58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56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 dirty="0" err="1">
                          <a:solidFill>
                            <a:srgbClr val="06B6D4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အခေ</a:t>
                      </a:r>
                      <a:r>
                        <a:rPr lang="en-US" sz="1650" b="1" i="0" u="none" strike="noStrike" cap="none" dirty="0">
                          <a:solidFill>
                            <a:srgbClr val="06B6D4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ါ်</a:t>
                      </a:r>
                      <a:r>
                        <a:rPr lang="en-US" sz="1650" b="1" i="0" u="none" strike="noStrike" cap="none" dirty="0" err="1">
                          <a:solidFill>
                            <a:srgbClr val="06B6D4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အဝေ</a:t>
                      </a:r>
                      <a:r>
                        <a:rPr lang="en-US" sz="1650" b="1" i="0" u="none" strike="noStrike" cap="none" dirty="0">
                          <a:solidFill>
                            <a:srgbClr val="06B6D4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ါ်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9090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6B6D4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ဆိုလိုရင်း အဓိပ္ပာယ်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909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6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Parent</a:t>
                      </a:r>
                      <a:b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1650" b="0" i="0" u="none" strike="noStrike" cap="none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(မိဘ)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အောက်ကို ခွဲထွက်သွားတဲ့ Node ကို မွေးထုတ်ပေးလိုက်တဲ့ အထက်က Node ကို ဆိုလိုပါတယ်။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6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Child</a:t>
                      </a:r>
                      <a:b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1650" b="0" i="0" u="none" strike="noStrike" cap="none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(သားသမီး)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Parent တစ်ခုခုကနေ အောက်ကို ဆင်းသက်လာတဲ့ Node များကို ခေါ်ပါတယ်။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6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Sibling</a:t>
                      </a:r>
                      <a:b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1650" b="0" i="0" u="none" strike="noStrike" cap="none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(ညီအစ်ကို မောင်နှမ)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Parent Node တစ်ခုတည်းကနေ အတူတူ ဆင်းသက်လာတဲ့ Node အချင်းချင်းကို Sibling လို့ ခေါ်ပါတယ်။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56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Edge</a:t>
                      </a:r>
                      <a:b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1650" b="0" i="0" u="none" strike="noStrike" cap="none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(ဆက်သွယ်မှု မျဉ်း)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 dirty="0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Node </a:t>
                      </a:r>
                      <a:r>
                        <a:rPr lang="en-US" sz="1650" b="0" i="0" u="none" strike="noStrike" cap="none" dirty="0" err="1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တစ်ခုနဲ</a:t>
                      </a:r>
                      <a:r>
                        <a:rPr lang="en-US" sz="1650" b="0" i="0" u="none" strike="noStrike" cap="none" dirty="0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့ </a:t>
                      </a:r>
                      <a:r>
                        <a:rPr lang="en-US" sz="1650" b="0" i="0" u="none" strike="noStrike" cap="none" dirty="0" err="1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တစ်ခုကို</a:t>
                      </a:r>
                      <a:r>
                        <a:rPr lang="en-US" sz="1650" b="0" i="0" u="none" strike="noStrike" cap="none" dirty="0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 </a:t>
                      </a:r>
                      <a:r>
                        <a:rPr lang="en-US" sz="1650" b="0" i="0" u="none" strike="noStrike" cap="none" dirty="0" err="1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ချိတ်ဆက်ပေးထားတဲ</a:t>
                      </a:r>
                      <a:r>
                        <a:rPr lang="en-US" sz="1650" b="0" i="0" u="none" strike="noStrike" cap="none" dirty="0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့ </a:t>
                      </a:r>
                      <a:r>
                        <a:rPr lang="en-US" sz="1650" b="0" i="0" u="none" strike="noStrike" cap="none" dirty="0" err="1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လမ်းကြောင်း</a:t>
                      </a:r>
                      <a:r>
                        <a:rPr lang="en-US" sz="1650" b="0" i="0" u="none" strike="noStrike" cap="none" dirty="0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 (Pointer/Reference) </a:t>
                      </a:r>
                      <a:r>
                        <a:rPr lang="en-US" sz="1650" b="0" i="0" u="none" strike="noStrike" cap="none" dirty="0" err="1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ဖြစ်ပါတယ</a:t>
                      </a:r>
                      <a:r>
                        <a:rPr lang="en-US" sz="1650" b="0" i="0" u="none" strike="noStrike" cap="none" dirty="0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်။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9" name="Google Shape;149;p18"/>
          <p:cNvSpPr txBox="1"/>
          <p:nvPr/>
        </p:nvSpPr>
        <p:spPr>
          <a:xfrm>
            <a:off x="581025" y="379025"/>
            <a:ext cx="11581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6B6D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Tree Terminology (ဝေါဟာရများ) 🗣️</a:t>
            </a:r>
            <a:endParaRPr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1B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9"/>
          <p:cNvSpPr/>
          <p:nvPr/>
        </p:nvSpPr>
        <p:spPr>
          <a:xfrm>
            <a:off x="581025" y="4100512"/>
            <a:ext cx="11029950" cy="19050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467739C-A0EF-12BB-AEF2-BCB2A7431ECE}"/>
              </a:ext>
            </a:extLst>
          </p:cNvPr>
          <p:cNvGrpSpPr/>
          <p:nvPr/>
        </p:nvGrpSpPr>
        <p:grpSpPr>
          <a:xfrm>
            <a:off x="1562136" y="1967962"/>
            <a:ext cx="8394316" cy="1765800"/>
            <a:chOff x="1562136" y="1967962"/>
            <a:chExt cx="8394316" cy="1765800"/>
          </a:xfrm>
        </p:grpSpPr>
        <p:pic>
          <p:nvPicPr>
            <p:cNvPr id="155" name="Google Shape;155;p19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492660" y="3295612"/>
              <a:ext cx="1447800" cy="4381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8" name="Google Shape;158;p19"/>
            <p:cNvSpPr txBox="1"/>
            <p:nvPr/>
          </p:nvSpPr>
          <p:spPr>
            <a:xfrm>
              <a:off x="1562136" y="1967962"/>
              <a:ext cx="3309000" cy="115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0" b="1" i="0" u="none" strike="noStrike" cap="none" dirty="0">
                  <a:solidFill>
                    <a:srgbClr val="F59E0B"/>
                  </a:solidFill>
                  <a:latin typeface="Poppins"/>
                  <a:ea typeface="Poppins"/>
                  <a:cs typeface="Poppins"/>
                  <a:sym typeface="Poppins"/>
                </a:rPr>
                <a:t>Depth</a:t>
              </a:r>
              <a:endParaRPr dirty="0"/>
            </a:p>
          </p:txBody>
        </p:sp>
        <p:sp>
          <p:nvSpPr>
            <p:cNvPr id="159" name="Google Shape;159;p19"/>
            <p:cNvSpPr txBox="1"/>
            <p:nvPr/>
          </p:nvSpPr>
          <p:spPr>
            <a:xfrm>
              <a:off x="6096000" y="1967962"/>
              <a:ext cx="3860452" cy="16758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 dirty="0">
                  <a:solidFill>
                    <a:srgbClr val="F59E0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Depth (</a:t>
              </a:r>
              <a:r>
                <a:rPr lang="en-US" sz="1650" b="1" i="0" u="none" strike="noStrike" cap="none" dirty="0" err="1">
                  <a:solidFill>
                    <a:srgbClr val="F59E0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အနက</a:t>
              </a:r>
              <a:r>
                <a:rPr lang="en-US" sz="1650" b="1" i="0" u="none" strike="noStrike" cap="none" dirty="0">
                  <a:solidFill>
                    <a:srgbClr val="F59E0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်):</a:t>
              </a:r>
              <a:r>
                <a:rPr lang="en-US" sz="1650" b="0" i="0" u="none" strike="noStrike" cap="none" dirty="0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အပေ</a:t>
              </a:r>
              <a:r>
                <a:rPr lang="en-US" sz="1650" b="0" i="0" u="none" strike="noStrike" cap="none" dirty="0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ါ်</a:t>
              </a:r>
              <a:r>
                <a:rPr lang="en-US" sz="1650" b="0" i="0" u="none" strike="noStrike" cap="none" dirty="0" err="1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ဆုံး</a:t>
              </a:r>
              <a:r>
                <a:rPr lang="en-US" sz="1650" b="0" i="0" u="none" strike="noStrike" cap="none" dirty="0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Root </a:t>
              </a:r>
              <a:r>
                <a:rPr lang="en-US" sz="1650" b="1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ကနေ</a:t>
              </a:r>
              <a:r>
                <a:rPr lang="en-US" sz="165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1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စရေတွက်ပြီး</a:t>
              </a:r>
              <a:r>
                <a:rPr lang="en-US" sz="1650" b="0" i="0" u="none" strike="noStrike" cap="none" dirty="0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ကိုယ</a:t>
              </a:r>
              <a:r>
                <a:rPr lang="en-US" sz="1650" b="0" i="0" u="none" strike="noStrike" cap="none" dirty="0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့်</a:t>
              </a:r>
              <a:r>
                <a:rPr lang="en-US" sz="1650" b="0" i="0" u="none" strike="noStrike" cap="none" dirty="0" err="1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ဆီ</a:t>
              </a:r>
              <a:r>
                <a:rPr lang="en-US" sz="1650" b="0" i="0" u="none" strike="noStrike" cap="none" dirty="0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ရောက်ဖို</a:t>
              </a:r>
              <a:r>
                <a:rPr lang="en-US" sz="1650" b="0" i="0" u="none" strike="noStrike" cap="none" dirty="0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0" i="0" u="none" strike="noStrike" cap="none" dirty="0" err="1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အောက်ကို</a:t>
              </a:r>
              <a:r>
                <a:rPr lang="en-US" sz="1650" b="0" i="0" u="none" strike="noStrike" cap="none" dirty="0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ဘယ်နှစ်ဆင</a:t>
              </a:r>
              <a:r>
                <a:rPr lang="en-US" sz="1650" b="0" i="0" u="none" strike="noStrike" cap="none" dirty="0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့် (Edges) </a:t>
              </a:r>
              <a:r>
                <a:rPr lang="en-US" sz="1650" b="0" i="0" u="none" strike="noStrike" cap="none" dirty="0" err="1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ဆင်းရလဲ</a:t>
              </a:r>
              <a:r>
                <a:rPr lang="en-US" sz="1650" b="0" i="0" u="none" strike="noStrike" cap="none" dirty="0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ဆိုတာကို</a:t>
              </a:r>
              <a:r>
                <a:rPr lang="en-US" sz="1650" b="0" i="0" u="none" strike="noStrike" cap="none" dirty="0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တိုင်းတာပါတယ</a:t>
              </a:r>
              <a:r>
                <a:rPr lang="en-US" sz="1650" b="0" i="0" u="none" strike="noStrike" cap="none" dirty="0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</a:t>
              </a:r>
              <a:br>
                <a:rPr lang="en-US"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650" b="0" i="1" u="none" strike="noStrike" cap="none" dirty="0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(Root </a:t>
              </a:r>
              <a:r>
                <a:rPr lang="en-US" sz="1650" b="0" i="1" u="none" strike="noStrike" cap="none" dirty="0" err="1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ရဲ</a:t>
              </a:r>
              <a:r>
                <a:rPr lang="en-US" sz="1650" b="0" i="1" u="none" strike="noStrike" cap="none" dirty="0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Depth </a:t>
              </a:r>
              <a:r>
                <a:rPr lang="en-US" sz="1650" b="0" i="1" u="none" strike="noStrike" cap="none" dirty="0" err="1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</a:t>
              </a:r>
              <a:r>
                <a:rPr lang="en-US" sz="1650" b="0" i="1" u="none" strike="noStrike" cap="none" dirty="0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0 </a:t>
              </a:r>
              <a:r>
                <a:rPr lang="en-US" sz="1650" b="0" i="1" u="none" strike="noStrike" cap="none" dirty="0" err="1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ဖြစ်ပါတယ</a:t>
              </a:r>
              <a:r>
                <a:rPr lang="en-US" sz="1650" b="0" i="1" u="none" strike="noStrike" cap="none" dirty="0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်။)</a:t>
              </a:r>
              <a:endParaRPr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0E702A88-CCFE-D048-9D82-57D5126A185E}"/>
              </a:ext>
            </a:extLst>
          </p:cNvPr>
          <p:cNvGrpSpPr/>
          <p:nvPr/>
        </p:nvGrpSpPr>
        <p:grpSpPr>
          <a:xfrm>
            <a:off x="1562136" y="4310062"/>
            <a:ext cx="8404287" cy="1783050"/>
            <a:chOff x="1562136" y="4310062"/>
            <a:chExt cx="8404287" cy="1783050"/>
          </a:xfrm>
        </p:grpSpPr>
        <p:pic>
          <p:nvPicPr>
            <p:cNvPr id="156" name="Google Shape;156;p19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440235" y="5654962"/>
              <a:ext cx="1552575" cy="4381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" name="Google Shape;160;p19"/>
            <p:cNvSpPr txBox="1"/>
            <p:nvPr/>
          </p:nvSpPr>
          <p:spPr>
            <a:xfrm>
              <a:off x="1562136" y="4310062"/>
              <a:ext cx="3309000" cy="115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0" b="1" i="0" u="none" strike="noStrike" cap="none" dirty="0">
                  <a:solidFill>
                    <a:srgbClr val="06B6D4"/>
                  </a:solidFill>
                  <a:latin typeface="Poppins"/>
                  <a:ea typeface="Poppins"/>
                  <a:cs typeface="Poppins"/>
                  <a:sym typeface="Poppins"/>
                </a:rPr>
                <a:t>Height</a:t>
              </a:r>
              <a:endParaRPr dirty="0"/>
            </a:p>
          </p:txBody>
        </p:sp>
        <p:sp>
          <p:nvSpPr>
            <p:cNvPr id="161" name="Google Shape;161;p19"/>
            <p:cNvSpPr txBox="1"/>
            <p:nvPr/>
          </p:nvSpPr>
          <p:spPr>
            <a:xfrm>
              <a:off x="6105971" y="4310062"/>
              <a:ext cx="3860452" cy="16758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4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 dirty="0">
                  <a:solidFill>
                    <a:srgbClr val="06B6D4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Height (</a:t>
              </a:r>
              <a:r>
                <a:rPr lang="en-US" sz="1650" b="1" i="0" u="none" strike="noStrike" cap="none" dirty="0" err="1">
                  <a:solidFill>
                    <a:srgbClr val="06B6D4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အမြင</a:t>
              </a:r>
              <a:r>
                <a:rPr lang="en-US" sz="1650" b="1" i="0" u="none" strike="noStrike" cap="none" dirty="0">
                  <a:solidFill>
                    <a:srgbClr val="06B6D4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့်):</a:t>
              </a:r>
              <a:r>
                <a:rPr lang="en-US" sz="1650" b="0" i="0" u="none" strike="noStrike" cap="none" dirty="0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အောက်ဆုံးက</a:t>
              </a:r>
              <a:r>
                <a:rPr lang="en-US" sz="1650" b="0" i="0" u="none" strike="noStrike" cap="none" dirty="0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Leaf </a:t>
              </a:r>
              <a:r>
                <a:rPr lang="en-US" sz="1650" b="1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ကနေ</a:t>
              </a:r>
              <a:r>
                <a:rPr lang="en-US" sz="165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1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စရေတွက်ပြီး</a:t>
              </a:r>
              <a:r>
                <a:rPr lang="en-US" sz="1650" b="0" i="0" u="none" strike="noStrike" cap="none" dirty="0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အပေ</a:t>
              </a:r>
              <a:r>
                <a:rPr lang="en-US" sz="1650" b="0" i="0" u="none" strike="noStrike" cap="none" dirty="0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ါ်</a:t>
              </a:r>
              <a:r>
                <a:rPr lang="en-US" sz="1650" b="0" i="0" u="none" strike="noStrike" cap="none" dirty="0" err="1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ကို</a:t>
              </a:r>
              <a:r>
                <a:rPr lang="en-US" sz="1650" b="0" i="0" u="none" strike="noStrike" cap="none" dirty="0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ကိုယ</a:t>
              </a:r>
              <a:r>
                <a:rPr lang="en-US" sz="1650" b="0" i="0" u="none" strike="noStrike" cap="none" dirty="0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့်</a:t>
              </a:r>
              <a:r>
                <a:rPr lang="en-US" sz="1650" b="0" i="0" u="none" strike="noStrike" cap="none" dirty="0" err="1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ဆီရောက်ဖို</a:t>
              </a:r>
              <a:r>
                <a:rPr lang="en-US" sz="1650" b="0" i="0" u="none" strike="noStrike" cap="none" dirty="0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0" i="0" u="none" strike="noStrike" cap="none" dirty="0" err="1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ဘယ်နှစ်ဆင</a:t>
              </a:r>
              <a:r>
                <a:rPr lang="en-US" sz="1650" b="0" i="0" u="none" strike="noStrike" cap="none" dirty="0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့် </a:t>
              </a:r>
              <a:r>
                <a:rPr lang="en-US" sz="1650" b="0" i="0" u="none" strike="noStrike" cap="none" dirty="0" err="1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ပြန်တက်ရလဲ</a:t>
              </a:r>
              <a:r>
                <a:rPr lang="en-US" sz="1650" b="0" i="0" u="none" strike="noStrike" cap="none" dirty="0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ဆိုတာကို</a:t>
              </a:r>
              <a:r>
                <a:rPr lang="en-US" sz="1650" b="0" i="0" u="none" strike="noStrike" cap="none" dirty="0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တိုင်းတာပါတယ</a:t>
              </a:r>
              <a:r>
                <a:rPr lang="en-US" sz="1650" b="0" i="0" u="none" strike="noStrike" cap="none" dirty="0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</a:t>
              </a:r>
              <a:br>
                <a:rPr lang="en-US"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650" b="0" i="1" u="none" strike="noStrike" cap="none" dirty="0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(Leaf </a:t>
              </a:r>
              <a:r>
                <a:rPr lang="en-US" sz="1650" b="0" i="1" u="none" strike="noStrike" cap="none" dirty="0" err="1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ရဲ</a:t>
              </a:r>
              <a:r>
                <a:rPr lang="en-US" sz="1650" b="0" i="1" u="none" strike="noStrike" cap="none" dirty="0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Height </a:t>
              </a:r>
              <a:r>
                <a:rPr lang="en-US" sz="1650" b="0" i="1" u="none" strike="noStrike" cap="none" dirty="0" err="1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</a:t>
              </a:r>
              <a:r>
                <a:rPr lang="en-US" sz="1650" b="0" i="1" u="none" strike="noStrike" cap="none" dirty="0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0 </a:t>
              </a:r>
              <a:r>
                <a:rPr lang="en-US" sz="1650" b="0" i="1" u="none" strike="noStrike" cap="none" dirty="0" err="1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ဖြစ်ပါတယ</a:t>
              </a:r>
              <a:r>
                <a:rPr lang="en-US" sz="1650" b="0" i="1" u="none" strike="noStrike" cap="none" dirty="0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်။)</a:t>
              </a:r>
              <a:endParaRPr dirty="0"/>
            </a:p>
          </p:txBody>
        </p:sp>
      </p:grpSp>
      <p:sp>
        <p:nvSpPr>
          <p:cNvPr id="162" name="Google Shape;162;p19"/>
          <p:cNvSpPr txBox="1"/>
          <p:nvPr/>
        </p:nvSpPr>
        <p:spPr>
          <a:xfrm>
            <a:off x="581025" y="581025"/>
            <a:ext cx="11581447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အနက် နှင့် အမြင့် (Depth &amp; Height) 📏</a:t>
            </a:r>
            <a:endParaRPr/>
          </a:p>
        </p:txBody>
      </p:sp>
      <p:sp>
        <p:nvSpPr>
          <p:cNvPr id="163" name="Google Shape;163;p19"/>
          <p:cNvSpPr/>
          <p:nvPr/>
        </p:nvSpPr>
        <p:spPr>
          <a:xfrm>
            <a:off x="581025" y="1600200"/>
            <a:ext cx="11029950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1B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937BB5D4-62B4-7D6F-F1C7-3D498802582F}"/>
              </a:ext>
            </a:extLst>
          </p:cNvPr>
          <p:cNvGrpSpPr/>
          <p:nvPr/>
        </p:nvGrpSpPr>
        <p:grpSpPr>
          <a:xfrm>
            <a:off x="581025" y="2024349"/>
            <a:ext cx="3486150" cy="4626822"/>
            <a:chOff x="581025" y="2024349"/>
            <a:chExt cx="3486150" cy="4626822"/>
          </a:xfrm>
        </p:grpSpPr>
        <p:pic>
          <p:nvPicPr>
            <p:cNvPr id="169" name="Google Shape;169;p20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81025" y="2024349"/>
              <a:ext cx="3486150" cy="46268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" name="Google Shape;172;p20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76300" y="2443460"/>
              <a:ext cx="762000" cy="76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3" name="Google Shape;173;p20"/>
            <p:cNvSpPr txBox="1"/>
            <p:nvPr/>
          </p:nvSpPr>
          <p:spPr>
            <a:xfrm>
              <a:off x="876300" y="3443585"/>
              <a:ext cx="1600200" cy="4000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>
                  <a:solidFill>
                    <a:srgbClr val="10B98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Binary Tree</a:t>
              </a:r>
              <a:endParaRPr/>
            </a:p>
          </p:txBody>
        </p:sp>
        <p:sp>
          <p:nvSpPr>
            <p:cNvPr id="174" name="Google Shape;174;p20"/>
            <p:cNvSpPr txBox="1"/>
            <p:nvPr/>
          </p:nvSpPr>
          <p:spPr>
            <a:xfrm>
              <a:off x="876300" y="3986510"/>
              <a:ext cx="2895600" cy="13406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Node တစ်ခုမှာ Child Node </a:t>
              </a:r>
              <a:r>
                <a:rPr lang="en-US" sz="1650" b="1" i="0" u="none" strike="noStrike" cap="none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အများဆုံး (၂) ခု</a:t>
              </a:r>
              <a:r>
                <a:rPr lang="en-US" sz="1650" b="0" i="0" u="none" strike="noStrike" cap="none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(Left &amp; Right) ပဲ ရှိခွင့်ပြုထားတဲ့ အသုံးအများဆုံး သစ်ပင်ဖြစ်ပါတယ်။</a:t>
              </a:r>
              <a:endParaRPr/>
            </a:p>
          </p:txBody>
        </p:sp>
        <p:pic>
          <p:nvPicPr>
            <p:cNvPr id="181" name="Google Shape;181;p20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066800" y="2605385"/>
              <a:ext cx="381000" cy="4381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0068DDE2-76D8-8C77-BE6B-FECD6C225B93}"/>
              </a:ext>
            </a:extLst>
          </p:cNvPr>
          <p:cNvGrpSpPr/>
          <p:nvPr/>
        </p:nvGrpSpPr>
        <p:grpSpPr>
          <a:xfrm>
            <a:off x="4352925" y="2024349"/>
            <a:ext cx="3486150" cy="4626822"/>
            <a:chOff x="4352925" y="2024349"/>
            <a:chExt cx="3486150" cy="4626822"/>
          </a:xfrm>
        </p:grpSpPr>
        <p:pic>
          <p:nvPicPr>
            <p:cNvPr id="170" name="Google Shape;170;p20" descr="image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4352925" y="2024349"/>
              <a:ext cx="3486150" cy="46268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" name="Google Shape;175;p20" descr="image.png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4648200" y="2443460"/>
              <a:ext cx="762000" cy="76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6" name="Google Shape;176;p20"/>
            <p:cNvSpPr txBox="1"/>
            <p:nvPr/>
          </p:nvSpPr>
          <p:spPr>
            <a:xfrm>
              <a:off x="4648200" y="3443585"/>
              <a:ext cx="2660332" cy="4000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>
                  <a:solidFill>
                    <a:srgbClr val="F59E0B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Binary Search Tree</a:t>
              </a:r>
              <a:endParaRPr/>
            </a:p>
          </p:txBody>
        </p:sp>
        <p:sp>
          <p:nvSpPr>
            <p:cNvPr id="177" name="Google Shape;177;p20"/>
            <p:cNvSpPr txBox="1"/>
            <p:nvPr/>
          </p:nvSpPr>
          <p:spPr>
            <a:xfrm>
              <a:off x="4648200" y="3986510"/>
              <a:ext cx="2895600" cy="16758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Binary Tree ကိုပဲ စည်းကမ်းချက် တစ်ခု ထပ်ထည့်ထားတာပါ။ </a:t>
              </a:r>
              <a:r>
                <a:rPr lang="en-US" sz="1650" b="1" i="0" u="none" strike="noStrike" cap="none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ဘယ်ဘက် Child က ငယ်ရမယ်၊ ညာဘက် Child က ကြီးရမယ်</a:t>
              </a:r>
              <a:r>
                <a:rPr lang="en-US" sz="1650" b="0" i="0" u="none" strike="noStrike" cap="none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လို့ သတ်မှတ်ထားပါတယ်။</a:t>
              </a:r>
              <a:endParaRPr/>
            </a:p>
          </p:txBody>
        </p:sp>
        <p:pic>
          <p:nvPicPr>
            <p:cNvPr id="182" name="Google Shape;182;p20" descr="image.png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810125" y="2605385"/>
              <a:ext cx="438150" cy="4381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B94AA396-3B63-FC88-65E9-69FA6152814C}"/>
              </a:ext>
            </a:extLst>
          </p:cNvPr>
          <p:cNvGrpSpPr/>
          <p:nvPr/>
        </p:nvGrpSpPr>
        <p:grpSpPr>
          <a:xfrm>
            <a:off x="8124825" y="2024349"/>
            <a:ext cx="3486150" cy="4626822"/>
            <a:chOff x="8124825" y="2024349"/>
            <a:chExt cx="3486150" cy="4626822"/>
          </a:xfrm>
        </p:grpSpPr>
        <p:pic>
          <p:nvPicPr>
            <p:cNvPr id="171" name="Google Shape;171;p20" descr="image.png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8124825" y="2024349"/>
              <a:ext cx="3486150" cy="46268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8" name="Google Shape;178;p20" descr="image.png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8420100" y="2443460"/>
              <a:ext cx="762000" cy="76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9" name="Google Shape;179;p20"/>
            <p:cNvSpPr txBox="1"/>
            <p:nvPr/>
          </p:nvSpPr>
          <p:spPr>
            <a:xfrm>
              <a:off x="8420100" y="3443585"/>
              <a:ext cx="1520190" cy="4000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>
                  <a:solidFill>
                    <a:srgbClr val="06B6D4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N-ary Tree</a:t>
              </a:r>
              <a:endParaRPr/>
            </a:p>
          </p:txBody>
        </p:sp>
        <p:sp>
          <p:nvSpPr>
            <p:cNvPr id="180" name="Google Shape;180;p20"/>
            <p:cNvSpPr txBox="1"/>
            <p:nvPr/>
          </p:nvSpPr>
          <p:spPr>
            <a:xfrm>
              <a:off x="8420100" y="3986510"/>
              <a:ext cx="2895600" cy="13406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Child အရေအတွက် </a:t>
              </a:r>
              <a:r>
                <a:rPr lang="en-US" sz="1650" b="1" i="0" u="none" strike="noStrike" cap="none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အကန့်အသတ်မရှိ</a:t>
              </a:r>
              <a:r>
                <a:rPr lang="en-US" sz="1650" b="0" i="0" u="none" strike="noStrike" cap="none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ခွဲထွက်နိုင်တဲ့ သစ်ပင်ဖြစ်ပါတယ်။ (ဥပမာ Folder တွေ ဖန်တီးသလိုမျိုးပါ)</a:t>
              </a:r>
              <a:endParaRPr/>
            </a:p>
          </p:txBody>
        </p:sp>
        <p:pic>
          <p:nvPicPr>
            <p:cNvPr id="183" name="Google Shape;183;p20" descr="image.png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8553450" y="2605385"/>
              <a:ext cx="495300" cy="4381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4" name="Google Shape;184;p20"/>
          <p:cNvSpPr txBox="1"/>
          <p:nvPr/>
        </p:nvSpPr>
        <p:spPr>
          <a:xfrm>
            <a:off x="581025" y="581025"/>
            <a:ext cx="11581447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Tree အမျိုးအစားများ 🌲</a:t>
            </a:r>
            <a:endParaRPr/>
          </a:p>
        </p:txBody>
      </p:sp>
      <p:sp>
        <p:nvSpPr>
          <p:cNvPr id="185" name="Google Shape;185;p20"/>
          <p:cNvSpPr/>
          <p:nvPr/>
        </p:nvSpPr>
        <p:spPr>
          <a:xfrm>
            <a:off x="581025" y="1600200"/>
            <a:ext cx="11029950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1B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1" name="Google Shape;191;p21"/>
          <p:cNvGraphicFramePr/>
          <p:nvPr>
            <p:extLst>
              <p:ext uri="{D42A27DB-BD31-4B8C-83A1-F6EECF244321}">
                <p14:modId xmlns:p14="http://schemas.microsoft.com/office/powerpoint/2010/main" val="3834181894"/>
              </p:ext>
            </p:extLst>
          </p:nvPr>
        </p:nvGraphicFramePr>
        <p:xfrm>
          <a:off x="581050" y="1497012"/>
          <a:ext cx="11099075" cy="4667000"/>
        </p:xfrm>
        <a:graphic>
          <a:graphicData uri="http://schemas.openxmlformats.org/drawingml/2006/table">
            <a:tbl>
              <a:tblPr firstRow="1" bandRow="1">
                <a:noFill/>
                <a:tableStyleId>{AE277E89-DC40-400C-A40B-F14DD64B70C4}</a:tableStyleId>
              </a:tblPr>
              <a:tblGrid>
                <a:gridCol w="2404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5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9090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43F5E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Array / Linked List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9090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10B981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Tree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909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Structure (ဖွဲ့စည်းပုံ)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Linear (တစ်တန်းတည်း)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Hierarchical (အထက်အောက် အဆင့်ဆင့်)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Paths (လမ်းကြောင်း)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Data တစ်ခုစီကို သွားဖို့ လမ်းကြောင်း (၁) ခုပဲ ရှိတယ်။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Data ဆီသွားဖို့ လမ်းခွဲတွေ (Branches) အများကြီး ရှိတယ်။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Searching Time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O(n) (Linear Search)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O(log n) (Binary Search Tree တွင်) အရမ်းမြန်!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3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အဓိက အသုံးပြုမှု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Data တွေကို အစဉ်လိုက် မှတ်ထားဖို့ သုံးတယ်။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 dirty="0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Relationship (</a:t>
                      </a:r>
                      <a:r>
                        <a:rPr lang="en-US" sz="1650" b="0" i="0" u="none" strike="noStrike" cap="none" dirty="0" err="1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ဆက</a:t>
                      </a:r>
                      <a:r>
                        <a:rPr lang="en-US" sz="1650" b="0" i="0" u="none" strike="noStrike" cap="none" dirty="0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်</a:t>
                      </a:r>
                      <a:r>
                        <a:rPr lang="my-MM" sz="1650" b="0" i="0" u="none" strike="noStrike" cap="none" dirty="0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သွ</a:t>
                      </a:r>
                      <a:r>
                        <a:rPr lang="en-US" sz="1650" b="0" i="0" u="none" strike="noStrike" cap="none" dirty="0" err="1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ယ်မှု</a:t>
                      </a:r>
                      <a:r>
                        <a:rPr lang="en-US" sz="1650" b="0" i="0" u="none" strike="noStrike" cap="none" dirty="0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) </a:t>
                      </a:r>
                      <a:r>
                        <a:rPr lang="en-US" sz="1650" b="0" i="0" u="none" strike="noStrike" cap="none" dirty="0" err="1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တွေကို</a:t>
                      </a:r>
                      <a:r>
                        <a:rPr lang="en-US" sz="1650" b="0" i="0" u="none" strike="noStrike" cap="none" dirty="0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 </a:t>
                      </a:r>
                      <a:r>
                        <a:rPr lang="en-US" sz="1650" b="0" i="0" u="none" strike="noStrike" cap="none" dirty="0" err="1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သိမ်းဖို</a:t>
                      </a:r>
                      <a:r>
                        <a:rPr lang="en-US" sz="1650" b="0" i="0" u="none" strike="noStrike" cap="none" dirty="0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့ </a:t>
                      </a:r>
                      <a:r>
                        <a:rPr lang="en-US" sz="1650" b="0" i="0" u="none" strike="noStrike" cap="none" dirty="0" err="1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သုံးတယ</a:t>
                      </a:r>
                      <a:r>
                        <a:rPr lang="en-US" sz="1650" b="0" i="0" u="none" strike="noStrike" cap="none" dirty="0"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်။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2" name="Google Shape;192;p21"/>
          <p:cNvSpPr txBox="1"/>
          <p:nvPr/>
        </p:nvSpPr>
        <p:spPr>
          <a:xfrm>
            <a:off x="581050" y="318224"/>
            <a:ext cx="11581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06B6D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Array/Linked List vs Tree ⚖️</a:t>
            </a:r>
            <a:endParaRPr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1B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F751BA12-A522-5AAE-0780-E2E37AB4B617}"/>
              </a:ext>
            </a:extLst>
          </p:cNvPr>
          <p:cNvGrpSpPr/>
          <p:nvPr/>
        </p:nvGrpSpPr>
        <p:grpSpPr>
          <a:xfrm>
            <a:off x="581025" y="2941625"/>
            <a:ext cx="3486150" cy="2505308"/>
            <a:chOff x="581025" y="2941625"/>
            <a:chExt cx="3486150" cy="2505308"/>
          </a:xfrm>
        </p:grpSpPr>
        <p:pic>
          <p:nvPicPr>
            <p:cNvPr id="198" name="Google Shape;198;p22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81025" y="2941625"/>
              <a:ext cx="3486150" cy="25053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1" name="Google Shape;201;p22"/>
            <p:cNvSpPr txBox="1"/>
            <p:nvPr/>
          </p:nvSpPr>
          <p:spPr>
            <a:xfrm>
              <a:off x="753903" y="3224762"/>
              <a:ext cx="3140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rgbClr val="F59E0B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File Systems</a:t>
              </a:r>
              <a:endParaRPr dirty="0"/>
            </a:p>
          </p:txBody>
        </p:sp>
        <p:sp>
          <p:nvSpPr>
            <p:cNvPr id="202" name="Google Shape;202;p22"/>
            <p:cNvSpPr txBox="1"/>
            <p:nvPr/>
          </p:nvSpPr>
          <p:spPr>
            <a:xfrm>
              <a:off x="828675" y="3653387"/>
              <a:ext cx="2991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Computer ထဲက Folder တွေဟာ N-ary Tree ပါပဲ။ Root (C: Drive) ကနေ Folder တွေ၊ အဲ့ဒီအောက်ကမှ Sub-folders နဲ့ Files တွေ အဆင့်ဆင့် ရှိနေတာပါ။</a:t>
              </a:r>
              <a:endParaRPr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68C6940-C413-9067-ADC0-72BAECA26B14}"/>
              </a:ext>
            </a:extLst>
          </p:cNvPr>
          <p:cNvGrpSpPr/>
          <p:nvPr/>
        </p:nvGrpSpPr>
        <p:grpSpPr>
          <a:xfrm>
            <a:off x="4352925" y="2941625"/>
            <a:ext cx="3486150" cy="2524358"/>
            <a:chOff x="4352925" y="2941625"/>
            <a:chExt cx="3486150" cy="2524358"/>
          </a:xfrm>
        </p:grpSpPr>
        <p:pic>
          <p:nvPicPr>
            <p:cNvPr id="199" name="Google Shape;199;p22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352925" y="2941625"/>
              <a:ext cx="3486150" cy="252435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3" name="Google Shape;203;p22"/>
            <p:cNvSpPr txBox="1"/>
            <p:nvPr/>
          </p:nvSpPr>
          <p:spPr>
            <a:xfrm>
              <a:off x="4525803" y="3196674"/>
              <a:ext cx="3140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rgbClr val="06B6D4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HTML DOM</a:t>
              </a:r>
              <a:endParaRPr dirty="0"/>
            </a:p>
          </p:txBody>
        </p:sp>
        <p:sp>
          <p:nvSpPr>
            <p:cNvPr id="204" name="Google Shape;204;p22"/>
            <p:cNvSpPr txBox="1"/>
            <p:nvPr/>
          </p:nvSpPr>
          <p:spPr>
            <a:xfrm>
              <a:off x="4691050" y="3641766"/>
              <a:ext cx="2991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Website တွေမှာ မြင်ရတဲ့ HTML Tags တွေက </a:t>
              </a:r>
              <a:r>
                <a:rPr lang="en-US" sz="1350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“</a:t>
              </a:r>
              <a:r>
                <a:rPr lang="en-US" sz="1350" b="1">
                  <a:solidFill>
                    <a:srgbClr val="10B98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HTML</a:t>
              </a:r>
              <a:r>
                <a:rPr lang="en-US" sz="1350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” </a:t>
              </a:r>
              <a:r>
                <a:rPr lang="en-US" sz="1350" b="0" i="0" u="none" strike="noStrike" cap="none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ကနေ</a:t>
              </a:r>
              <a:r>
                <a:rPr lang="en-US" sz="1350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“</a:t>
              </a:r>
              <a:r>
                <a:rPr lang="en-US" sz="1350" b="1">
                  <a:solidFill>
                    <a:srgbClr val="10B98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Body</a:t>
              </a:r>
              <a:r>
                <a:rPr lang="en-US" sz="1350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”</a:t>
              </a:r>
              <a:r>
                <a:rPr lang="en-US" sz="1350" b="0" i="0" u="none" strike="noStrike" cap="none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,</a:t>
              </a:r>
              <a:r>
                <a:rPr lang="en-US" sz="1350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“</a:t>
              </a:r>
              <a:r>
                <a:rPr lang="en-US" sz="1350" b="1">
                  <a:solidFill>
                    <a:srgbClr val="10B98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div</a:t>
              </a:r>
              <a:r>
                <a:rPr lang="en-US" sz="1350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” </a:t>
              </a:r>
              <a:r>
                <a:rPr lang="en-US" sz="1350" b="0" i="0" u="none" strike="noStrike" cap="none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,</a:t>
              </a:r>
              <a:r>
                <a:rPr lang="en-US" sz="1350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“</a:t>
              </a:r>
              <a:r>
                <a:rPr lang="en-US" sz="1350" b="1">
                  <a:solidFill>
                    <a:srgbClr val="10B98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P</a:t>
              </a:r>
              <a:r>
                <a:rPr lang="en-US" sz="1350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”</a:t>
              </a:r>
              <a:r>
                <a:rPr lang="en-US" sz="1350" b="0" i="0" u="none" strike="noStrike" cap="none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စသဖြင့် Tree ပုံစံ</a:t>
              </a:r>
              <a:r>
                <a:rPr lang="en-US" sz="1350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350" b="0" i="0" u="none" strike="noStrike" cap="none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ဖွဲ့စည်းထားတာပါ။</a:t>
              </a:r>
              <a:endParaRPr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7DA56CD2-9421-546F-73E2-27A1E039B5BC}"/>
              </a:ext>
            </a:extLst>
          </p:cNvPr>
          <p:cNvGrpSpPr/>
          <p:nvPr/>
        </p:nvGrpSpPr>
        <p:grpSpPr>
          <a:xfrm>
            <a:off x="8124825" y="2941631"/>
            <a:ext cx="3486150" cy="2524358"/>
            <a:chOff x="8124825" y="2941631"/>
            <a:chExt cx="3486150" cy="2524358"/>
          </a:xfrm>
        </p:grpSpPr>
        <p:pic>
          <p:nvPicPr>
            <p:cNvPr id="200" name="Google Shape;200;p22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8124825" y="2941631"/>
              <a:ext cx="3486150" cy="252435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5" name="Google Shape;205;p22"/>
            <p:cNvSpPr txBox="1"/>
            <p:nvPr/>
          </p:nvSpPr>
          <p:spPr>
            <a:xfrm>
              <a:off x="8297703" y="3224762"/>
              <a:ext cx="3140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rgbClr val="10B981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AI / Decision Trees</a:t>
              </a:r>
              <a:endParaRPr dirty="0"/>
            </a:p>
          </p:txBody>
        </p:sp>
        <p:sp>
          <p:nvSpPr>
            <p:cNvPr id="206" name="Google Shape;206;p22"/>
            <p:cNvSpPr txBox="1"/>
            <p:nvPr/>
          </p:nvSpPr>
          <p:spPr>
            <a:xfrm>
              <a:off x="8372475" y="3653387"/>
              <a:ext cx="2991000" cy="145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 dirty="0" err="1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ဂိမ်းတွေထဲက</a:t>
              </a:r>
              <a:r>
                <a:rPr lang="en-US" sz="1350" b="0" i="0" u="none" strike="noStrike" cap="none" dirty="0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AI </a:t>
              </a:r>
              <a:r>
                <a:rPr lang="en-US" sz="1350" b="0" i="0" u="none" strike="noStrike" cap="none" dirty="0" err="1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</a:t>
              </a:r>
              <a:r>
                <a:rPr lang="en-US" sz="1350" b="0" i="0" u="none" strike="noStrike" cap="none" dirty="0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350" b="0" i="0" u="none" strike="noStrike" cap="none" dirty="0" err="1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စဉ်းစားတဲ့အခ</a:t>
              </a:r>
              <a:r>
                <a:rPr lang="en-US" sz="1350" b="0" i="0" u="none" strike="noStrike" cap="none" dirty="0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ါ "Player </a:t>
              </a:r>
              <a:r>
                <a:rPr lang="en-US" sz="1350" b="0" i="0" u="none" strike="noStrike" cap="none" dirty="0" err="1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</a:t>
              </a:r>
              <a:r>
                <a:rPr lang="en-US" sz="1350" b="0" i="0" u="none" strike="noStrike" cap="none" dirty="0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350" b="0" i="0" u="none" strike="noStrike" cap="none" dirty="0" err="1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ဘယ်လာရင</a:t>
              </a:r>
              <a:r>
                <a:rPr lang="en-US" sz="1350" b="0" i="0" u="none" strike="noStrike" cap="none" dirty="0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်၊ </a:t>
              </a:r>
              <a:r>
                <a:rPr lang="en-US" sz="1350" b="0" i="0" u="none" strike="noStrike" cap="none" dirty="0" err="1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ငါကညာသွားမယ</a:t>
              </a:r>
              <a:r>
                <a:rPr lang="en-US" sz="1350" b="0" i="0" u="none" strike="noStrike" cap="none" dirty="0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်" </a:t>
              </a:r>
              <a:r>
                <a:rPr lang="en-US" sz="1350" b="0" i="0" u="none" strike="noStrike" cap="none" dirty="0" err="1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ဆိုတဲ</a:t>
              </a:r>
              <a:r>
                <a:rPr lang="en-US" sz="1350" b="0" i="0" u="none" strike="noStrike" cap="none" dirty="0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350" b="0" i="0" u="none" strike="noStrike" cap="none" dirty="0" err="1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ဆုံးဖြတ်ချက</a:t>
              </a:r>
              <a:r>
                <a:rPr lang="en-US" sz="1350" b="0" i="0" u="none" strike="noStrike" cap="none" dirty="0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 </a:t>
              </a:r>
              <a:r>
                <a:rPr lang="en-US" sz="1350" b="0" i="0" u="none" strike="noStrike" cap="none" dirty="0" err="1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လမ်းကြောင်းတွေ</a:t>
              </a:r>
              <a:r>
                <a:rPr lang="en-US" sz="1350" b="0" i="0" u="none" strike="noStrike" cap="none" dirty="0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350" b="0" i="0" u="none" strike="noStrike" cap="none" dirty="0" err="1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ဖန်တီးရာမှာ</a:t>
              </a:r>
              <a:r>
                <a:rPr lang="en-US" sz="1350" b="0" i="0" u="none" strike="noStrike" cap="none" dirty="0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350" b="0" i="0" u="none" strike="noStrike" cap="none" dirty="0" err="1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သုံးပါတယ</a:t>
              </a:r>
              <a:r>
                <a:rPr lang="en-US" sz="1350" b="0" i="0" u="none" strike="noStrike" cap="none" dirty="0">
                  <a:solidFill>
                    <a:srgbClr val="A1A1AA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</a:t>
              </a:r>
              <a:endParaRPr dirty="0"/>
            </a:p>
          </p:txBody>
        </p:sp>
      </p:grpSp>
      <p:sp>
        <p:nvSpPr>
          <p:cNvPr id="207" name="Google Shape;207;p22"/>
          <p:cNvSpPr txBox="1"/>
          <p:nvPr/>
        </p:nvSpPr>
        <p:spPr>
          <a:xfrm>
            <a:off x="581025" y="500062"/>
            <a:ext cx="11581447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ဘယ်နေရာတွေမှာ သုံးလဲ? (Real World Uses)</a:t>
            </a:r>
            <a:endParaRPr/>
          </a:p>
        </p:txBody>
      </p:sp>
      <p:sp>
        <p:nvSpPr>
          <p:cNvPr id="208" name="Google Shape;208;p22"/>
          <p:cNvSpPr/>
          <p:nvPr/>
        </p:nvSpPr>
        <p:spPr>
          <a:xfrm>
            <a:off x="581025" y="1519237"/>
            <a:ext cx="11029950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1B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20746B2-8926-B372-007A-885228C06AEC}"/>
              </a:ext>
            </a:extLst>
          </p:cNvPr>
          <p:cNvGrpSpPr/>
          <p:nvPr/>
        </p:nvGrpSpPr>
        <p:grpSpPr>
          <a:xfrm>
            <a:off x="1809750" y="2293740"/>
            <a:ext cx="8586788" cy="670321"/>
            <a:chOff x="1795462" y="2747367"/>
            <a:chExt cx="8586788" cy="670321"/>
          </a:xfrm>
        </p:grpSpPr>
        <p:sp>
          <p:nvSpPr>
            <p:cNvPr id="214" name="Google Shape;214;p23"/>
            <p:cNvSpPr txBox="1"/>
            <p:nvPr/>
          </p:nvSpPr>
          <p:spPr>
            <a:xfrm>
              <a:off x="2333625" y="2747367"/>
              <a:ext cx="8048625" cy="6703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 dirty="0">
                  <a:solidFill>
                    <a:srgbClr val="10B98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Hierarchy </a:t>
              </a:r>
              <a:r>
                <a:rPr lang="en-US" sz="1650" b="1" i="0" u="none" strike="noStrike" cap="none" dirty="0" err="1">
                  <a:solidFill>
                    <a:srgbClr val="10B98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အကောင်းဆုံး</a:t>
              </a:r>
              <a:r>
                <a:rPr lang="en-US" sz="1650" b="1" i="0" u="none" strike="noStrike" cap="none" dirty="0">
                  <a:solidFill>
                    <a:srgbClr val="10B98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: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Data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တွေရဲ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ဆက်သွယ်မှု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(Relationship)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ကို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ပြသဖို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အကောင်းဆုံးနဲ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သဘာဝအကျဆုံး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Data Structure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ပ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ါ။</a:t>
              </a:r>
              <a:endParaRPr dirty="0"/>
            </a:p>
          </p:txBody>
        </p:sp>
        <p:pic>
          <p:nvPicPr>
            <p:cNvPr id="217" name="Google Shape;217;p23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795462" y="2846486"/>
              <a:ext cx="247650" cy="2571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7D4018BA-776F-86CB-293D-437FFE1B9508}"/>
              </a:ext>
            </a:extLst>
          </p:cNvPr>
          <p:cNvGrpSpPr/>
          <p:nvPr/>
        </p:nvGrpSpPr>
        <p:grpSpPr>
          <a:xfrm>
            <a:off x="1809675" y="3371974"/>
            <a:ext cx="8572650" cy="784373"/>
            <a:chOff x="1809675" y="3655814"/>
            <a:chExt cx="8572650" cy="784373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151B535-3B9E-6B39-CE43-B79656E0FFFF}"/>
                </a:ext>
              </a:extLst>
            </p:cNvPr>
            <p:cNvGrpSpPr/>
            <p:nvPr/>
          </p:nvGrpSpPr>
          <p:grpSpPr>
            <a:xfrm>
              <a:off x="1809675" y="3655814"/>
              <a:ext cx="8572650" cy="660300"/>
              <a:chOff x="1809675" y="3655814"/>
              <a:chExt cx="8572650" cy="660300"/>
            </a:xfrm>
          </p:grpSpPr>
          <p:sp>
            <p:nvSpPr>
              <p:cNvPr id="215" name="Google Shape;215;p23"/>
              <p:cNvSpPr txBox="1"/>
              <p:nvPr/>
            </p:nvSpPr>
            <p:spPr>
              <a:xfrm>
                <a:off x="2333625" y="3655814"/>
                <a:ext cx="8048700" cy="66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50" b="1" i="0" u="none" strike="noStrike" cap="none">
                    <a:solidFill>
                      <a:srgbClr val="F59E0B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Search အရမ်းမြန်:</a:t>
                </a:r>
                <a:r>
                  <a:rPr lang="en-US" sz="1650" b="0" i="0" u="none" strike="noStrike" cap="none">
                    <a:solidFill>
                      <a:srgbClr val="D4D4D8"/>
                    </a:solidFill>
                    <a:latin typeface="Noto Sans Myanmar"/>
                    <a:ea typeface="Noto Sans Myanmar"/>
                    <a:cs typeface="Noto Sans Myanmar"/>
                    <a:sym typeface="Noto Sans Myanmar"/>
                  </a:rPr>
                  <a:t> Binary Search Tree (BST) မှာ Data ရှာမယ်ဆိုရင် Linear မဟုတ်ဘဲ ထက်ဝက်စီ ပိုင်းရှာနိုင်လို့                          အမြန်နှုန်းနဲ့ တွေ့နိုင်ပါတယ်။</a:t>
                </a:r>
                <a:endParaRPr/>
              </a:p>
            </p:txBody>
          </p:sp>
          <p:pic>
            <p:nvPicPr>
              <p:cNvPr id="218" name="Google Shape;218;p23" descr="image.png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1809675" y="3771656"/>
                <a:ext cx="219075" cy="2571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19" name="Google Shape;219;p23"/>
            <p:cNvGrpSpPr/>
            <p:nvPr/>
          </p:nvGrpSpPr>
          <p:grpSpPr>
            <a:xfrm>
              <a:off x="4600139" y="4142759"/>
              <a:ext cx="1170849" cy="297428"/>
              <a:chOff x="4838700" y="4019275"/>
              <a:chExt cx="938481" cy="238400"/>
            </a:xfrm>
          </p:grpSpPr>
          <p:pic>
            <p:nvPicPr>
              <p:cNvPr id="220" name="Google Shape;220;p23" descr="image.png"/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4838700" y="4019275"/>
                <a:ext cx="938475" cy="2384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1" name="Google Shape;221;p23" descr="image.png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4914900" y="4048125"/>
                <a:ext cx="862281" cy="190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9DAA1D0-8F95-4143-11D6-D51B3E5A0423}"/>
              </a:ext>
            </a:extLst>
          </p:cNvPr>
          <p:cNvGrpSpPr/>
          <p:nvPr/>
        </p:nvGrpSpPr>
        <p:grpSpPr>
          <a:xfrm>
            <a:off x="1795387" y="4564260"/>
            <a:ext cx="8586863" cy="670321"/>
            <a:chOff x="1795387" y="4564260"/>
            <a:chExt cx="8586863" cy="670321"/>
          </a:xfrm>
        </p:grpSpPr>
        <p:sp>
          <p:nvSpPr>
            <p:cNvPr id="216" name="Google Shape;216;p23"/>
            <p:cNvSpPr txBox="1"/>
            <p:nvPr/>
          </p:nvSpPr>
          <p:spPr>
            <a:xfrm>
              <a:off x="2333625" y="4564260"/>
              <a:ext cx="8048625" cy="6703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>
                  <a:solidFill>
                    <a:srgbClr val="06B6D4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Flexible:</a:t>
              </a:r>
              <a:r>
                <a:rPr lang="en-US" sz="1650" b="0" i="0" u="none" strike="noStrike" cap="none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Array ထက်စာရင် ကြားထဲမှာ Data တွေ Insert လုပ်တာ၊ Delete လုပ်တာ ပိုပြီး လွယ်ကူမြန်ဆန်ပါတယ်။ Memory Space ကို ကြိုသတ်မှတ်စရာ မလိုပါဘူး။</a:t>
              </a:r>
              <a:endParaRPr/>
            </a:p>
          </p:txBody>
        </p:sp>
        <p:pic>
          <p:nvPicPr>
            <p:cNvPr id="222" name="Google Shape;222;p23" descr="image.png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1795387" y="4683377"/>
              <a:ext cx="247650" cy="2571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3" name="Google Shape;223;p23"/>
          <p:cNvSpPr txBox="1"/>
          <p:nvPr/>
        </p:nvSpPr>
        <p:spPr>
          <a:xfrm>
            <a:off x="581025" y="581025"/>
            <a:ext cx="11581447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Tree Data Structure ၏ အားသာချက်များ ✨</a:t>
            </a:r>
            <a:endParaRPr/>
          </a:p>
        </p:txBody>
      </p:sp>
      <p:sp>
        <p:nvSpPr>
          <p:cNvPr id="224" name="Google Shape;224;p23"/>
          <p:cNvSpPr/>
          <p:nvPr/>
        </p:nvSpPr>
        <p:spPr>
          <a:xfrm>
            <a:off x="581025" y="1600200"/>
            <a:ext cx="11029950" cy="9525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3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1.4|4.2|3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2.2|2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5|20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8|33.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3|12.9|1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8|40.3|23.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|14.1|13.3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1730</Words>
  <Application>Microsoft Macintosh PowerPoint</Application>
  <PresentationFormat>Widescreen</PresentationFormat>
  <Paragraphs>71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Noto Sans Myanmar</vt:lpstr>
      <vt:lpstr>Poppins</vt:lpstr>
      <vt:lpstr>Fira Code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SAI PONE KHA AUNG -</cp:lastModifiedBy>
  <cp:revision>6</cp:revision>
  <dcterms:modified xsi:type="dcterms:W3CDTF">2026-04-06T15:49:02Z</dcterms:modified>
</cp:coreProperties>
</file>