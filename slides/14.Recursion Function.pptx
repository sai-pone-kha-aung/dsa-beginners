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Fira Code" panose="020B0809050000020004" pitchFamily="49" charset="0"/>
      <p:regular r:id="rId14"/>
      <p:bold r:id="rId15"/>
    </p:embeddedFont>
    <p:embeddedFont>
      <p:font typeface="Lato" panose="020F0502020204030203" pitchFamily="34" charset="77"/>
      <p:regular r:id="rId16"/>
      <p:bold r:id="rId17"/>
      <p:italic r:id="rId18"/>
      <p:boldItalic r:id="rId19"/>
    </p:embeddedFont>
    <p:embeddedFont>
      <p:font typeface="Noto Sans Myanmar" panose="020B0502040504020204" pitchFamily="34" charset="0"/>
      <p:regular r:id="rId20"/>
      <p:bold r:id="rId21"/>
    </p:embeddedFont>
    <p:embeddedFont>
      <p:font typeface="Poppins" pitchFamily="2" charset="77"/>
      <p:regular r:id="rId22"/>
      <p:bold r:id="rId23"/>
      <p:italic r:id="rId24"/>
      <p:boldItalic r:id="rId25"/>
    </p:embeddedFont>
    <p:embeddedFont>
      <p:font typeface="Poppins SemiBold" pitchFamily="2" charset="77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9518BAC-FBC5-47B7-A9E9-4D600361B1C2}">
  <a:tblStyle styleId="{B9518BAC-FBC5-47B7-A9E9-4D600361B1C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/>
    <p:restoredTop sz="94670"/>
  </p:normalViewPr>
  <p:slideViewPr>
    <p:cSldViewPr snapToGrid="0">
      <p:cViewPr varScale="1">
        <p:scale>
          <a:sx n="117" d="100"/>
          <a:sy n="117" d="100"/>
        </p:scale>
        <p:origin x="94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E51DE497-DD66-08D2-D267-8E1F8735A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>
            <a:extLst>
              <a:ext uri="{FF2B5EF4-FFF2-40B4-BE49-F238E27FC236}">
                <a16:creationId xmlns:a16="http://schemas.microsoft.com/office/drawing/2014/main" id="{45C98E06-D6F9-C218-B560-22F7B78B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0:notes">
            <a:extLst>
              <a:ext uri="{FF2B5EF4-FFF2-40B4-BE49-F238E27FC236}">
                <a16:creationId xmlns:a16="http://schemas.microsoft.com/office/drawing/2014/main" id="{4BE4EB10-CB19-D415-063B-8A16AE684F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6592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1FDAA54B-B220-1CF7-4685-2B1170F6E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>
            <a:extLst>
              <a:ext uri="{FF2B5EF4-FFF2-40B4-BE49-F238E27FC236}">
                <a16:creationId xmlns:a16="http://schemas.microsoft.com/office/drawing/2014/main" id="{F73AFCAA-0E79-D9D0-1403-ED643FB63F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0:notes">
            <a:extLst>
              <a:ext uri="{FF2B5EF4-FFF2-40B4-BE49-F238E27FC236}">
                <a16:creationId xmlns:a16="http://schemas.microsoft.com/office/drawing/2014/main" id="{30BC62B5-3308-D618-CE95-F4247279E2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97648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7.jp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5" Type="http://schemas.openxmlformats.org/officeDocument/2006/relationships/image" Target="../media/image12.jp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660445" y="2318444"/>
            <a:ext cx="887110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25" b="1" i="0" u="none" strike="noStrike" cap="non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Recursion</a:t>
            </a:r>
            <a:r>
              <a:rPr lang="en-US" sz="5625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Algorithm</a:t>
            </a:r>
            <a:endParaRPr/>
          </a:p>
        </p:txBody>
      </p:sp>
      <p:sp>
        <p:nvSpPr>
          <p:cNvPr id="2" name="Google Shape;86;p13">
            <a:extLst>
              <a:ext uri="{FF2B5EF4-FFF2-40B4-BE49-F238E27FC236}">
                <a16:creationId xmlns:a16="http://schemas.microsoft.com/office/drawing/2014/main" id="{2D39407E-095F-BA2E-7FA6-10E2F1166A5A}"/>
              </a:ext>
            </a:extLst>
          </p:cNvPr>
          <p:cNvSpPr txBox="1"/>
          <p:nvPr/>
        </p:nvSpPr>
        <p:spPr>
          <a:xfrm>
            <a:off x="1809749" y="3952874"/>
            <a:ext cx="8572500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[ Y2K </a:t>
            </a:r>
            <a:r>
              <a:rPr lang="en-US" sz="1950" b="0" i="0" u="none" strike="noStrike" cap="none" dirty="0" err="1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DevHub</a:t>
            </a:r>
            <a:r>
              <a:rPr lang="en-US" sz="1950" b="0" i="0" u="none" strike="noStrike" cap="none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 : Beginner DSA Series - 14 ]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524500" y="2044154"/>
            <a:ext cx="1143000" cy="571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190511" y="2387054"/>
            <a:ext cx="7810976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Inception </a:t>
            </a:r>
            <a:r>
              <a:rPr lang="en-US" sz="48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ရုပ်ရှင်လိုပါပဲ</a:t>
            </a:r>
            <a:r>
              <a:rPr lang="en-US" sz="48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🌀</a:t>
            </a:r>
            <a:endParaRPr dirty="0"/>
          </a:p>
        </p:txBody>
      </p:sp>
      <p:sp>
        <p:nvSpPr>
          <p:cNvPr id="95" name="Google Shape;95;p14"/>
          <p:cNvSpPr txBox="1"/>
          <p:nvPr/>
        </p:nvSpPr>
        <p:spPr>
          <a:xfrm>
            <a:off x="2286000" y="3911054"/>
            <a:ext cx="7620000" cy="118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အိပ်မက်ထဲက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အိပ်မက်ထဲကို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ထပ်ဝင်သွားသလိုမျိုး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၊ Function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တစ်ခု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အလုပ်လုပ်နေရင်းကနေ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1" i="0" u="none" strike="noStrike" cap="none" dirty="0" err="1">
                <a:solidFill>
                  <a:srgbClr val="22D3E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တူညီတဲ</a:t>
            </a:r>
            <a:r>
              <a:rPr lang="en-US" sz="1950" b="1" i="0" u="none" strike="noStrike" cap="none" dirty="0">
                <a:solidFill>
                  <a:srgbClr val="22D3E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950" b="1" i="0" u="none" strike="noStrike" cap="none" dirty="0" err="1">
                <a:solidFill>
                  <a:srgbClr val="22D3E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နောက်ထပ</a:t>
            </a:r>
            <a:r>
              <a:rPr lang="en-US" sz="1950" b="1" i="0" u="none" strike="noStrike" cap="none" dirty="0">
                <a:solidFill>
                  <a:srgbClr val="22D3E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Function </a:t>
            </a:r>
            <a:r>
              <a:rPr lang="en-US" sz="1950" b="1" i="0" u="none" strike="noStrike" cap="none" dirty="0" err="1">
                <a:solidFill>
                  <a:srgbClr val="22D3E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ထဲကို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ထပ်ဆင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့်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ဝင်သွားတဲ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သဘောတရား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ဖြစ်ပါတယ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581025" y="1150578"/>
            <a:ext cx="52770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Recursion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ဆိုတာ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ြဿ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နာကြီးတစ်ခုကို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သေးငယ်တဲ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ြဿ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နာလေးတွေအဖြစ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ခွဲထုတ်ပြီး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1" i="0" u="none" strike="noStrike" cap="none" dirty="0" err="1">
                <a:solidFill>
                  <a:srgbClr val="22D3E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ကိုယ</a:t>
            </a:r>
            <a:r>
              <a:rPr lang="en-US" sz="1650" b="1" i="0" u="none" strike="noStrike" cap="none" dirty="0">
                <a:solidFill>
                  <a:srgbClr val="22D3E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့်</a:t>
            </a:r>
            <a:r>
              <a:rPr lang="en-US" sz="1650" b="1" i="0" u="none" strike="noStrike" cap="none" dirty="0" err="1">
                <a:solidFill>
                  <a:srgbClr val="22D3E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ကိုယ်ကို</a:t>
            </a:r>
            <a:r>
              <a:rPr lang="en-US" sz="1650" b="1" i="0" u="none" strike="noStrike" cap="none" dirty="0">
                <a:solidFill>
                  <a:srgbClr val="22D3E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1" i="0" u="none" strike="noStrike" cap="none" dirty="0" err="1">
                <a:solidFill>
                  <a:srgbClr val="22D3E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ပြန်ခေ</a:t>
            </a:r>
            <a:r>
              <a:rPr lang="en-US" sz="1650" b="1" i="0" u="none" strike="noStrike" cap="none" dirty="0">
                <a:solidFill>
                  <a:srgbClr val="22D3E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ါ် (Self-calling)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တဲ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နည်းလမ်းဖြစ်ပါတယ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  <p:grpSp>
        <p:nvGrpSpPr>
          <p:cNvPr id="102" name="Google Shape;102;p15"/>
          <p:cNvGrpSpPr/>
          <p:nvPr/>
        </p:nvGrpSpPr>
        <p:grpSpPr>
          <a:xfrm>
            <a:off x="581025" y="5130741"/>
            <a:ext cx="5276850" cy="1520430"/>
            <a:chOff x="581025" y="4990802"/>
            <a:chExt cx="5276850" cy="1520430"/>
          </a:xfrm>
        </p:grpSpPr>
        <p:pic>
          <p:nvPicPr>
            <p:cNvPr id="103" name="Google Shape;103;p15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4990802"/>
              <a:ext cx="5276850" cy="15204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" name="Google Shape;104;p15"/>
            <p:cNvSpPr txBox="1"/>
            <p:nvPr/>
          </p:nvSpPr>
          <p:spPr>
            <a:xfrm>
              <a:off x="857250" y="5181302"/>
              <a:ext cx="4762500" cy="106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Loop (           ,                )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တွေ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နေရာမှာ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အစားထိုး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အသုံးပြုနိုင်တဲ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ပိုမိုလှပတဲ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Code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ရေးနည်း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တစ်ခုဖြစ်ပါတယ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  <p:pic>
          <p:nvPicPr>
            <p:cNvPr id="105" name="Google Shape;105;p15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471613" y="5192188"/>
              <a:ext cx="552450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" name="Google Shape;106;p15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162175" y="5184024"/>
              <a:ext cx="781050" cy="342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" name="Google Shape;107;p15"/>
          <p:cNvGrpSpPr/>
          <p:nvPr/>
        </p:nvGrpSpPr>
        <p:grpSpPr>
          <a:xfrm>
            <a:off x="581025" y="2541079"/>
            <a:ext cx="5276775" cy="1066800"/>
            <a:chOff x="581025" y="2791450"/>
            <a:chExt cx="5276775" cy="1066800"/>
          </a:xfrm>
        </p:grpSpPr>
        <p:sp>
          <p:nvSpPr>
            <p:cNvPr id="108" name="Google Shape;108;p15"/>
            <p:cNvSpPr txBox="1"/>
            <p:nvPr/>
          </p:nvSpPr>
          <p:spPr>
            <a:xfrm>
              <a:off x="1104900" y="2791450"/>
              <a:ext cx="4752900" cy="106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ရုရှားအရုပ်လေးများ</a:t>
              </a:r>
              <a:r>
                <a:rPr lang="en-US" sz="1650" b="1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(Matryoshka dolls):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အရုပ်ကြီးတစ်ခုကို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ဖွင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လိုက်ရင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အထဲမှာ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ပုံစံတူ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အရုပ်အသေးလေး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ထွက်လာသလိုမျိုးပ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ါ။</a:t>
              </a:r>
              <a:endParaRPr dirty="0"/>
            </a:p>
          </p:txBody>
        </p:sp>
        <p:pic>
          <p:nvPicPr>
            <p:cNvPr id="109" name="Google Shape;109;p15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81025" y="2872085"/>
              <a:ext cx="247650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0" name="Google Shape;110;p15"/>
          <p:cNvGrpSpPr/>
          <p:nvPr/>
        </p:nvGrpSpPr>
        <p:grpSpPr>
          <a:xfrm>
            <a:off x="581025" y="3796998"/>
            <a:ext cx="5276775" cy="1066800"/>
            <a:chOff x="581025" y="4082355"/>
            <a:chExt cx="5276775" cy="1066800"/>
          </a:xfrm>
        </p:grpSpPr>
        <p:sp>
          <p:nvSpPr>
            <p:cNvPr id="111" name="Google Shape;111;p15"/>
            <p:cNvSpPr txBox="1"/>
            <p:nvPr/>
          </p:nvSpPr>
          <p:spPr>
            <a:xfrm>
              <a:off x="1104900" y="4082355"/>
              <a:ext cx="4752900" cy="106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မှန်နှစ်ချပ</a:t>
              </a:r>
              <a:r>
                <a:rPr lang="en-US" sz="1650" b="1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650" b="1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မျက်နှာချင်းဆိုင</a:t>
              </a:r>
              <a:r>
                <a:rPr lang="en-US" sz="1650" b="1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်: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မှန်တစ်ချပ်ထဲမှာ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နောက်မှန်တစ်ချပ်ရဲ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ပုံရိပ်က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အဆုံးမရှိ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ပေ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ါ်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နေသလိုမျိုးပါပဲ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။</a:t>
              </a:r>
              <a:endParaRPr dirty="0"/>
            </a:p>
          </p:txBody>
        </p:sp>
        <p:pic>
          <p:nvPicPr>
            <p:cNvPr id="112" name="Google Shape;112;p15" descr="image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81025" y="4209032"/>
              <a:ext cx="247650" cy="257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3" name="Google Shape;113;p15"/>
          <p:cNvSpPr txBox="1"/>
          <p:nvPr/>
        </p:nvSpPr>
        <p:spPr>
          <a:xfrm>
            <a:off x="581025" y="280689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Recursion ဆိုတာ ဘာလဲ?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51497" y="92648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1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734175" y="1442750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581025" y="1770629"/>
            <a:ext cx="11029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Recursion Code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တစ်ခု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ရေးတော့မယ်ဆိုရင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ဒီအပိုင်း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နှစ်ပိုင်း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သေချာပေါက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ပါရပါမယ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35EA60A-269B-0F6D-A645-AAAD45F0C44D}"/>
              </a:ext>
            </a:extLst>
          </p:cNvPr>
          <p:cNvGrpSpPr/>
          <p:nvPr/>
        </p:nvGrpSpPr>
        <p:grpSpPr>
          <a:xfrm>
            <a:off x="581025" y="2437804"/>
            <a:ext cx="5276850" cy="3870275"/>
            <a:chOff x="581025" y="2437804"/>
            <a:chExt cx="5276850" cy="3870275"/>
          </a:xfrm>
        </p:grpSpPr>
        <p:pic>
          <p:nvPicPr>
            <p:cNvPr id="121" name="Google Shape;121;p16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2437804"/>
              <a:ext cx="5276850" cy="3870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" name="Google Shape;124;p16"/>
            <p:cNvSpPr txBox="1"/>
            <p:nvPr/>
          </p:nvSpPr>
          <p:spPr>
            <a:xfrm>
              <a:off x="971550" y="2856904"/>
              <a:ext cx="4720590" cy="400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90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 dirty="0">
                  <a:solidFill>
                    <a:srgbClr val="F472B6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1. Base Case</a:t>
              </a:r>
              <a:endParaRPr dirty="0"/>
            </a:p>
          </p:txBody>
        </p:sp>
        <p:sp>
          <p:nvSpPr>
            <p:cNvPr id="125" name="Google Shape;125;p16"/>
            <p:cNvSpPr txBox="1"/>
            <p:nvPr/>
          </p:nvSpPr>
          <p:spPr>
            <a:xfrm>
              <a:off x="971550" y="3399829"/>
              <a:ext cx="4495800" cy="365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(</a:t>
              </a:r>
              <a:r>
                <a:rPr lang="en-US" sz="180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ရပ်မည</a:t>
              </a:r>
              <a:r>
                <a:rPr lang="en-US" sz="180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 </a:t>
              </a:r>
              <a:r>
                <a:rPr lang="en-US" sz="180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အခြေအနေ</a:t>
              </a:r>
              <a:r>
                <a:rPr lang="en-US" sz="180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)</a:t>
              </a:r>
              <a:endParaRPr dirty="0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49C4F79-FB92-0D0B-81E3-775F65546DCA}"/>
                </a:ext>
              </a:extLst>
            </p:cNvPr>
            <p:cNvGrpSpPr/>
            <p:nvPr/>
          </p:nvGrpSpPr>
          <p:grpSpPr>
            <a:xfrm>
              <a:off x="971550" y="3978399"/>
              <a:ext cx="4495800" cy="1913929"/>
              <a:chOff x="971550" y="3860750"/>
              <a:chExt cx="4495800" cy="1913929"/>
            </a:xfrm>
          </p:grpSpPr>
          <p:sp>
            <p:nvSpPr>
              <p:cNvPr id="126" name="Google Shape;126;p16"/>
              <p:cNvSpPr txBox="1"/>
              <p:nvPr/>
            </p:nvSpPr>
            <p:spPr>
              <a:xfrm>
                <a:off x="971550" y="3860750"/>
                <a:ext cx="4495800" cy="10054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Function </a:t>
                </a:r>
                <a:r>
                  <a:rPr lang="en-US" sz="1650" b="0" i="0" u="none" strike="noStrike" cap="none" dirty="0" err="1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သူ့ကိုယ်သူ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 </a:t>
                </a:r>
                <a:r>
                  <a:rPr lang="en-US" sz="1650" b="0" i="0" u="none" strike="noStrike" cap="none" dirty="0" err="1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ပြန်ခေ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ါ်</a:t>
                </a:r>
                <a:r>
                  <a:rPr lang="en-US" sz="1650" b="0" i="0" u="none" strike="noStrike" cap="none" dirty="0" err="1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နေတာကို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 </a:t>
                </a:r>
                <a:r>
                  <a:rPr lang="en-US" sz="1650" b="0" i="0" u="none" strike="noStrike" cap="none" dirty="0" err="1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ဘယ်အချိန်မှာ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 </a:t>
                </a:r>
                <a:r>
                  <a:rPr lang="en-US" sz="1650" b="1" i="0" u="none" strike="noStrike" cap="none" dirty="0" err="1">
                    <a:solidFill>
                      <a:srgbClr val="F472B6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ရပ်တန</a:t>
                </a:r>
                <a:r>
                  <a:rPr lang="en-US" sz="1650" b="1" i="0" u="none" strike="noStrike" cap="none" dirty="0">
                    <a:solidFill>
                      <a:srgbClr val="F472B6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့် (Stop) </a:t>
                </a:r>
                <a:r>
                  <a:rPr lang="en-US" sz="1650" b="1" i="0" u="none" strike="noStrike" cap="none" dirty="0" err="1">
                    <a:solidFill>
                      <a:srgbClr val="F472B6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မလဲ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 </a:t>
                </a:r>
                <a:r>
                  <a:rPr lang="en-US" sz="1650" b="0" i="0" u="none" strike="noStrike" cap="none" dirty="0" err="1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ဆိုတဲ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့ </a:t>
                </a:r>
                <a:r>
                  <a:rPr lang="en-US" sz="1650" b="0" i="0" u="none" strike="noStrike" cap="none" dirty="0" err="1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အခြေအနေပ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ါ။</a:t>
                </a:r>
                <a:endParaRPr dirty="0"/>
              </a:p>
            </p:txBody>
          </p:sp>
          <p:sp>
            <p:nvSpPr>
              <p:cNvPr id="127" name="Google Shape;127;p16"/>
              <p:cNvSpPr txBox="1"/>
              <p:nvPr/>
            </p:nvSpPr>
            <p:spPr>
              <a:xfrm>
                <a:off x="971550" y="5104358"/>
                <a:ext cx="4495800" cy="6703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>
                    <a:solidFill>
                      <a:srgbClr val="CBD5E1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Base case မပါရင် Infinite Loop လိုမျိုး အဆုံးမရှိ အလုပ်လုပ်နေပါလိမ့်မယ်။</a:t>
                </a:r>
                <a:endParaRPr/>
              </a:p>
            </p:txBody>
          </p:sp>
        </p:grpSp>
        <p:pic>
          <p:nvPicPr>
            <p:cNvPr id="130" name="Google Shape;130;p16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71550" y="2895135"/>
              <a:ext cx="200025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EF4F47C-AFD0-D909-ECD1-24AF78ED3723}"/>
              </a:ext>
            </a:extLst>
          </p:cNvPr>
          <p:cNvGrpSpPr/>
          <p:nvPr/>
        </p:nvGrpSpPr>
        <p:grpSpPr>
          <a:xfrm>
            <a:off x="6334125" y="2437804"/>
            <a:ext cx="5276850" cy="3870275"/>
            <a:chOff x="6334125" y="2437804"/>
            <a:chExt cx="5276850" cy="3870275"/>
          </a:xfrm>
        </p:grpSpPr>
        <p:pic>
          <p:nvPicPr>
            <p:cNvPr id="122" name="Google Shape;122;p16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334125" y="2437804"/>
              <a:ext cx="5276850" cy="3870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" name="Google Shape;128;p16"/>
            <p:cNvSpPr txBox="1"/>
            <p:nvPr/>
          </p:nvSpPr>
          <p:spPr>
            <a:xfrm>
              <a:off x="6724650" y="3399382"/>
              <a:ext cx="4495800" cy="365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(</a:t>
              </a:r>
              <a:r>
                <a:rPr lang="en-US" sz="180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ထပ်ခေ</a:t>
              </a:r>
              <a:r>
                <a:rPr lang="en-US" sz="180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ါ်</a:t>
              </a:r>
              <a:r>
                <a:rPr lang="en-US" sz="180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မည</a:t>
              </a:r>
              <a:r>
                <a:rPr lang="en-US" sz="180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 </a:t>
              </a:r>
              <a:r>
                <a:rPr lang="en-US" sz="180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အခြေအနေ</a:t>
              </a:r>
              <a:r>
                <a:rPr lang="en-US" sz="180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)</a:t>
              </a:r>
              <a:endParaRPr dirty="0"/>
            </a:p>
          </p:txBody>
        </p:sp>
        <p:sp>
          <p:nvSpPr>
            <p:cNvPr id="129" name="Google Shape;129;p16"/>
            <p:cNvSpPr txBox="1"/>
            <p:nvPr/>
          </p:nvSpPr>
          <p:spPr>
            <a:xfrm>
              <a:off x="6724650" y="3978399"/>
              <a:ext cx="4495800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ြဿ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နာကို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ပိုပို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သေးငယ်သွားအောင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(Base case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နဲ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နီးစပ်သွားအောင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်)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ပြောင်းလဲပြီး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 err="1">
                  <a:solidFill>
                    <a:srgbClr val="22D3EE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သူ့ကိုယ်သူ</a:t>
              </a:r>
              <a:r>
                <a:rPr lang="en-US" sz="1650" b="1" i="0" u="none" strike="noStrike" cap="none" dirty="0">
                  <a:solidFill>
                    <a:srgbClr val="22D3EE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 err="1">
                  <a:solidFill>
                    <a:srgbClr val="22D3EE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ပြန်ခေ</a:t>
              </a:r>
              <a:r>
                <a:rPr lang="en-US" sz="1650" b="1" i="0" u="none" strike="noStrike" cap="none" dirty="0">
                  <a:solidFill>
                    <a:srgbClr val="22D3EE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ါ်</a:t>
              </a:r>
              <a:r>
                <a:rPr lang="en-US" sz="1650" b="1" i="0" u="none" strike="noStrike" cap="none" dirty="0" err="1">
                  <a:solidFill>
                    <a:srgbClr val="22D3EE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တဲ</a:t>
              </a:r>
              <a:r>
                <a:rPr lang="en-US" sz="1650" b="1" i="0" u="none" strike="noStrike" cap="none" dirty="0">
                  <a:solidFill>
                    <a:srgbClr val="22D3EE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အပိုင်းပ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ါ။</a:t>
              </a:r>
              <a:endParaRPr dirty="0"/>
            </a:p>
          </p:txBody>
        </p:sp>
        <p:grpSp>
          <p:nvGrpSpPr>
            <p:cNvPr id="131" name="Google Shape;131;p16"/>
            <p:cNvGrpSpPr/>
            <p:nvPr/>
          </p:nvGrpSpPr>
          <p:grpSpPr>
            <a:xfrm>
              <a:off x="6724650" y="2856903"/>
              <a:ext cx="4720500" cy="323100"/>
              <a:chOff x="6724650" y="3311128"/>
              <a:chExt cx="4720500" cy="323100"/>
            </a:xfrm>
          </p:grpSpPr>
          <p:sp>
            <p:nvSpPr>
              <p:cNvPr id="132" name="Google Shape;132;p16"/>
              <p:cNvSpPr txBox="1"/>
              <p:nvPr/>
            </p:nvSpPr>
            <p:spPr>
              <a:xfrm>
                <a:off x="6724650" y="3311128"/>
                <a:ext cx="4720500" cy="32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09575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100" b="0" i="0" u="none" strike="noStrike" cap="none">
                    <a:solidFill>
                      <a:srgbClr val="22D3EE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2. Recursive Case</a:t>
                </a:r>
                <a:endParaRPr/>
              </a:p>
            </p:txBody>
          </p:sp>
          <p:pic>
            <p:nvPicPr>
              <p:cNvPr id="133" name="Google Shape;133;p16" descr="image.png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6724650" y="3320981"/>
                <a:ext cx="266700" cy="2667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34" name="Google Shape;134;p16"/>
          <p:cNvSpPr txBox="1"/>
          <p:nvPr/>
        </p:nvSpPr>
        <p:spPr>
          <a:xfrm>
            <a:off x="581025" y="550068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မပါမဖြစ် အဓိက စည်းကမ်းချက် (၂) ခု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581025" y="1569243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581025" y="581025"/>
            <a:ext cx="7563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Memory ထဲမှာ ဘယ်လိုအလုပ်လုပ်လဲ?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581025" y="1398139"/>
            <a:ext cx="5277000" cy="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581025" y="1683325"/>
            <a:ext cx="554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F472B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Call Stack (LIFO)</a:t>
            </a:r>
            <a:endParaRPr dirty="0"/>
          </a:p>
        </p:txBody>
      </p:sp>
      <p:sp>
        <p:nvSpPr>
          <p:cNvPr id="144" name="Google Shape;144;p17"/>
          <p:cNvSpPr txBox="1"/>
          <p:nvPr/>
        </p:nvSpPr>
        <p:spPr>
          <a:xfrm>
            <a:off x="581025" y="2273875"/>
            <a:ext cx="52770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Recursion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ရဲ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နောက်ကွယ်မှာ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ကွန်ပျူတာက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1" i="0" u="none" strike="noStrike" cap="none" dirty="0">
                <a:solidFill>
                  <a:srgbClr val="22D3E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Stack Data Structure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ကို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အသုံးပြုထားပါတယ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  <p:sp>
        <p:nvSpPr>
          <p:cNvPr id="145" name="Google Shape;145;p17"/>
          <p:cNvSpPr txBox="1"/>
          <p:nvPr/>
        </p:nvSpPr>
        <p:spPr>
          <a:xfrm>
            <a:off x="1105125" y="3201625"/>
            <a:ext cx="47529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Push: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Function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သူ့ကိုယ်သူ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ခေ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ါ်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လိုက်တိုင်း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Memory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ရဲ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Stack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အပေ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ါ်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ကို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တစ်ခုပြီးတစ်ခု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ထပ်တင်သွားပါတယ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  <p:sp>
        <p:nvSpPr>
          <p:cNvPr id="146" name="Google Shape;146;p17"/>
          <p:cNvSpPr txBox="1"/>
          <p:nvPr/>
        </p:nvSpPr>
        <p:spPr>
          <a:xfrm>
            <a:off x="1105125" y="4445233"/>
            <a:ext cx="47529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Base Case </a:t>
            </a:r>
            <a:r>
              <a:rPr lang="en-US" sz="1650" b="1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ရောက်မ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ှ: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ချက်ချင်း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အဖြေမထုတ်သေးဘဲ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အဆုံးထိ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သွားပါတယ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  <p:sp>
        <p:nvSpPr>
          <p:cNvPr id="147" name="Google Shape;147;p17"/>
          <p:cNvSpPr txBox="1"/>
          <p:nvPr/>
        </p:nvSpPr>
        <p:spPr>
          <a:xfrm>
            <a:off x="1105125" y="5353680"/>
            <a:ext cx="47529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Pop: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Base Case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ရောက်ပြီဆိုမ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ှ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အပေ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ါ်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ဆုံးကနေ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စပြီး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တစ်ခုချင်းစီ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အောက်ကို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အဖြေတွေ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ပြန်ပို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(Pop)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ပြီး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အလုပ်လုပ်သွားတာပ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ါ။</a:t>
            </a:r>
            <a:endParaRPr dirty="0"/>
          </a:p>
        </p:txBody>
      </p:sp>
      <p:pic>
        <p:nvPicPr>
          <p:cNvPr id="148" name="Google Shape;148;p17" descr="I want less tex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4325" y="1467175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" grpId="0"/>
      <p:bldP spid="146" grpId="0"/>
      <p:bldP spid="14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72133" y="4557712"/>
            <a:ext cx="198120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15950" y="3855851"/>
            <a:ext cx="5495024" cy="188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581024" y="2995017"/>
            <a:ext cx="4963417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0" b="1" i="0" u="none" strike="noStrike" cap="none" dirty="0">
                <a:solidFill>
                  <a:srgbClr val="F472B6"/>
                </a:solidFill>
                <a:latin typeface="Poppins"/>
                <a:ea typeface="Poppins"/>
                <a:cs typeface="Poppins"/>
                <a:sym typeface="Poppins"/>
              </a:rPr>
              <a:t>ERROR</a:t>
            </a:r>
            <a:endParaRPr dirty="0"/>
          </a:p>
        </p:txBody>
      </p:sp>
      <p:sp>
        <p:nvSpPr>
          <p:cNvPr id="157" name="Google Shape;157;p18"/>
          <p:cNvSpPr txBox="1"/>
          <p:nvPr/>
        </p:nvSpPr>
        <p:spPr>
          <a:xfrm>
            <a:off x="6115942" y="2452092"/>
            <a:ext cx="576978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Recursion Depth Exceeded</a:t>
            </a:r>
            <a:endParaRPr dirty="0"/>
          </a:p>
        </p:txBody>
      </p:sp>
      <p:sp>
        <p:nvSpPr>
          <p:cNvPr id="158" name="Google Shape;158;p18"/>
          <p:cNvSpPr txBox="1"/>
          <p:nvPr/>
        </p:nvSpPr>
        <p:spPr>
          <a:xfrm>
            <a:off x="6115942" y="2995017"/>
            <a:ext cx="5495032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အကယ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်၍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သင်က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1" i="0" u="none" strike="noStrike" cap="none" dirty="0">
                <a:solidFill>
                  <a:srgbClr val="F472B6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Base Case </a:t>
            </a:r>
            <a:r>
              <a:rPr lang="en-US" sz="1650" b="1" i="0" u="none" strike="noStrike" cap="none" dirty="0" err="1">
                <a:solidFill>
                  <a:srgbClr val="F472B6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ရေးဖို</a:t>
            </a:r>
            <a:r>
              <a:rPr lang="en-US" sz="1650" b="1" i="0" u="none" strike="noStrike" cap="none" dirty="0">
                <a:solidFill>
                  <a:srgbClr val="F472B6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1" i="0" u="none" strike="noStrike" cap="none" dirty="0" err="1">
                <a:solidFill>
                  <a:srgbClr val="F472B6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မေ့သွားရင</a:t>
            </a:r>
            <a:r>
              <a:rPr lang="en-US" sz="1650" b="1" i="0" u="none" strike="noStrike" cap="none" dirty="0">
                <a:solidFill>
                  <a:srgbClr val="F472B6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ဒါမှမဟုတ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Base Case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ကို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ဘယ်တော့မ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ှ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မရောက်နိုင်တဲ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ပုံစံရေးမိရင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်၊</a:t>
            </a:r>
            <a:endParaRPr dirty="0"/>
          </a:p>
        </p:txBody>
      </p:sp>
      <p:sp>
        <p:nvSpPr>
          <p:cNvPr id="159" name="Google Shape;159;p18"/>
          <p:cNvSpPr txBox="1"/>
          <p:nvPr/>
        </p:nvSpPr>
        <p:spPr>
          <a:xfrm>
            <a:off x="6392167" y="4046339"/>
            <a:ext cx="4980682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Function </a:t>
            </a:r>
            <a:r>
              <a:rPr lang="en-US" sz="1650" b="0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အဆုံးမရှိ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သူ့ကိုယ်သူ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ပြန်ခေ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ါ်</a:t>
            </a:r>
            <a:r>
              <a:rPr lang="en-US" sz="1650" b="0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နေပြီး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Memory (Call Stack) </a:t>
            </a:r>
            <a:r>
              <a:rPr lang="en-US" sz="1650" b="0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ပြည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့်</a:t>
            </a:r>
            <a:r>
              <a:rPr lang="en-US" sz="1650" b="0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သွားပါလိမ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့်</a:t>
            </a:r>
            <a:r>
              <a:rPr lang="en-US" sz="1650" b="0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မယ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 </a:t>
            </a:r>
            <a:r>
              <a:rPr lang="en-US" sz="1650" b="0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အဲ့ဒီအခ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ါ Program </a:t>
            </a:r>
            <a:r>
              <a:rPr lang="en-US" sz="1650" b="0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ကြီး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Crash </a:t>
            </a:r>
            <a:r>
              <a:rPr lang="en-US" sz="1650" b="0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သွားပြီး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Stack Overflow Error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တက်ပါလိမ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့်</a:t>
            </a:r>
            <a:r>
              <a:rPr lang="en-US" sz="1650" b="0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မယ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  <p:sp>
        <p:nvSpPr>
          <p:cNvPr id="160" name="Google Shape;160;p18"/>
          <p:cNvSpPr txBox="1"/>
          <p:nvPr/>
        </p:nvSpPr>
        <p:spPr>
          <a:xfrm>
            <a:off x="581025" y="581025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472B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အန္တရာယ်ရှိတဲ့ အမှား ⚠️</a:t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581025" y="160020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" grpId="0"/>
      <p:bldP spid="15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7" name="Google Shape;167;p19"/>
          <p:cNvGraphicFramePr/>
          <p:nvPr>
            <p:extLst>
              <p:ext uri="{D42A27DB-BD31-4B8C-83A1-F6EECF244321}">
                <p14:modId xmlns:p14="http://schemas.microsoft.com/office/powerpoint/2010/main" val="3959371705"/>
              </p:ext>
            </p:extLst>
          </p:nvPr>
        </p:nvGraphicFramePr>
        <p:xfrm>
          <a:off x="581025" y="1393812"/>
          <a:ext cx="11030100" cy="4410875"/>
        </p:xfrm>
        <a:graphic>
          <a:graphicData uri="http://schemas.openxmlformats.org/drawingml/2006/table">
            <a:tbl>
              <a:tblPr firstRow="1" bandRow="1">
                <a:noFill/>
                <a:tableStyleId>{B9518BAC-FBC5-47B7-A9E9-4D600361B1C2}</a:tableStyleId>
              </a:tblPr>
              <a:tblGrid>
                <a:gridCol w="2584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5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82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 err="1">
                          <a:solidFill>
                            <a:srgbClr val="22D3EE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အချက်အလက</a:t>
                      </a:r>
                      <a:r>
                        <a:rPr lang="en-US" sz="1650" b="1" i="0" u="none" strike="noStrike" cap="none" dirty="0">
                          <a:solidFill>
                            <a:srgbClr val="22D3EE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်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22D3EE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Recursion (ကိုယ့်ကိုယ်ကိုခေါ်ခြင်း)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A855F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Iteration (For/While Loop)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0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2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Code ရေးသားမှု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တိုတောင်းပြီး ဖတ်ရလွယ်ကူသည် (Clean Code)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ပိုရှည်နိုင်ပြီး Variable များစွာ လိုအပ်သည်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2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Memory (Space)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rgbClr val="FB7185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O(n)</a:t>
                      </a:r>
                      <a:endParaRPr sz="1650" dirty="0">
                        <a:solidFill>
                          <a:srgbClr val="FB7185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Stack Memory </a:t>
                      </a:r>
                      <a:r>
                        <a:rPr lang="en-US" sz="1650" b="0" i="0" u="none" strike="noStrike" cap="none" dirty="0" err="1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ပိုစားသည</a:t>
                      </a: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်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rgbClr val="34D399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O(1)</a:t>
                      </a:r>
                      <a:br>
                        <a:rPr lang="en-US" sz="1650" b="0" i="0" u="none" strike="noStrike" cap="none" dirty="0">
                          <a:solidFill>
                            <a:srgbClr val="34D399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</a:br>
                      <a:r>
                        <a:rPr lang="en-US" sz="1650" b="0" i="0" u="none" strike="noStrike" cap="none" dirty="0">
                          <a:solidFill>
                            <a:srgbClr val="CBD5E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b="0" i="0" u="none" strike="noStrike" cap="none" dirty="0" err="1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အပို</a:t>
                      </a: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Memory </a:t>
                      </a:r>
                      <a:r>
                        <a:rPr lang="en-US" sz="1650" b="0" i="0" u="none" strike="noStrike" cap="none" dirty="0" err="1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မလိုပ</a:t>
                      </a: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ါ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2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အမြန်နှုန်း (Speed)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Function call overhead ကြောင့် အနည်းငယ် နှေးနိုင်သည်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Function call မရှိ၍ ပိုမြန်လေ့ရှိသည်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2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အသုံးပြုရန် အကောင်းဆုံး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Tree, Graph နှင့် ရှုပ်ထွေးသော ပြဿနာများ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 err="1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ရိုးရှင်းသော</a:t>
                      </a: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b="0" i="0" u="none" strike="noStrike" cap="none" dirty="0" err="1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ထပ်တလဲလဲ</a:t>
                      </a: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b="0" i="0" u="none" strike="noStrike" cap="none" dirty="0" err="1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အလုပ်များ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8" name="Google Shape;168;p19"/>
          <p:cNvSpPr txBox="1"/>
          <p:nvPr/>
        </p:nvSpPr>
        <p:spPr>
          <a:xfrm>
            <a:off x="580950" y="309438"/>
            <a:ext cx="11581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Recursion </a:t>
            </a:r>
            <a:r>
              <a:rPr lang="en-US" sz="3150" b="0" i="0" u="none" strike="noStrike" cap="none" dirty="0" err="1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နှင</a:t>
            </a:r>
            <a:r>
              <a:rPr lang="en-US" sz="3150" b="0" i="0" u="none" strike="noStrike" cap="none" dirty="0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့် Loop </a:t>
            </a:r>
            <a:r>
              <a:rPr lang="en-US" sz="3150" b="0" i="0" u="none" strike="noStrike" cap="none" dirty="0" err="1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နှိုင်းယှဉ်ချက</a:t>
            </a:r>
            <a:r>
              <a:rPr lang="en-US" sz="3150" b="0" i="0" u="none" strike="noStrike" cap="none" dirty="0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်</a:t>
            </a:r>
            <a:endParaRPr dirty="0"/>
          </a:p>
        </p:txBody>
      </p:sp>
      <p:sp>
        <p:nvSpPr>
          <p:cNvPr id="169" name="Google Shape;169;p19"/>
          <p:cNvSpPr/>
          <p:nvPr/>
        </p:nvSpPr>
        <p:spPr>
          <a:xfrm>
            <a:off x="580950" y="1089237"/>
            <a:ext cx="11030100" cy="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4C4FCFE-6015-0EC1-B8A4-7D7BE05AE526}"/>
              </a:ext>
            </a:extLst>
          </p:cNvPr>
          <p:cNvGrpSpPr/>
          <p:nvPr/>
        </p:nvGrpSpPr>
        <p:grpSpPr>
          <a:xfrm>
            <a:off x="581025" y="2101453"/>
            <a:ext cx="5372100" cy="4017168"/>
            <a:chOff x="581025" y="2101453"/>
            <a:chExt cx="5372100" cy="4017168"/>
          </a:xfrm>
        </p:grpSpPr>
        <p:pic>
          <p:nvPicPr>
            <p:cNvPr id="175" name="Google Shape;175;p20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2101453"/>
              <a:ext cx="5372100" cy="40171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20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76300" y="2520553"/>
              <a:ext cx="7620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" name="Google Shape;178;p20"/>
            <p:cNvSpPr txBox="1"/>
            <p:nvPr/>
          </p:nvSpPr>
          <p:spPr>
            <a:xfrm>
              <a:off x="876300" y="3520678"/>
              <a:ext cx="2490311" cy="581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22D3EE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Pros (အားသာချက်)</a:t>
              </a:r>
              <a:endParaRPr/>
            </a:p>
          </p:txBody>
        </p:sp>
        <p:sp>
          <p:nvSpPr>
            <p:cNvPr id="179" name="Google Shape;179;p20"/>
            <p:cNvSpPr txBox="1"/>
            <p:nvPr/>
          </p:nvSpPr>
          <p:spPr>
            <a:xfrm>
              <a:off x="876300" y="4244578"/>
              <a:ext cx="4781550" cy="1340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ရှုပ်ထွေးတဲ့ ပြဿနာတွေကို </a:t>
              </a:r>
              <a:r>
                <a:rPr lang="en-US" sz="1650" b="1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Code အနည်းငယ် (Elegant &amp; Clean)</a:t>
              </a:r>
              <a:r>
                <a:rPr lang="en-US" sz="16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ဖြင့် ဖြေရှင်းနိုင်ပါတယ်။ သချာင်္ဆိုင်ရာ ဖော်မြူလာတွေကို ပုံစံမပျက် ရေးသားနိုင်ပါတယ်။</a:t>
              </a:r>
              <a:endParaRPr/>
            </a:p>
          </p:txBody>
        </p:sp>
        <p:pic>
          <p:nvPicPr>
            <p:cNvPr id="183" name="Google Shape;183;p20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009650" y="2682478"/>
              <a:ext cx="495300" cy="4381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9BE2B26-159C-4FE4-1100-196AE8529D33}"/>
              </a:ext>
            </a:extLst>
          </p:cNvPr>
          <p:cNvGrpSpPr/>
          <p:nvPr/>
        </p:nvGrpSpPr>
        <p:grpSpPr>
          <a:xfrm>
            <a:off x="6238875" y="2101453"/>
            <a:ext cx="5372100" cy="4017168"/>
            <a:chOff x="6238875" y="2101453"/>
            <a:chExt cx="5372100" cy="4017168"/>
          </a:xfrm>
        </p:grpSpPr>
        <p:pic>
          <p:nvPicPr>
            <p:cNvPr id="176" name="Google Shape;176;p20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238875" y="2101453"/>
              <a:ext cx="5372100" cy="40171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20" descr="image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6534150" y="2520553"/>
              <a:ext cx="7620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" name="Google Shape;181;p20"/>
            <p:cNvSpPr txBox="1"/>
            <p:nvPr/>
          </p:nvSpPr>
          <p:spPr>
            <a:xfrm>
              <a:off x="6534150" y="3520678"/>
              <a:ext cx="2750343" cy="581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F472B6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Cons (အားနည်းချက်)</a:t>
              </a:r>
              <a:endParaRPr/>
            </a:p>
          </p:txBody>
        </p:sp>
        <p:sp>
          <p:nvSpPr>
            <p:cNvPr id="182" name="Google Shape;182;p20"/>
            <p:cNvSpPr txBox="1"/>
            <p:nvPr/>
          </p:nvSpPr>
          <p:spPr>
            <a:xfrm>
              <a:off x="6534150" y="4244578"/>
              <a:ext cx="4781550" cy="1340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Function ခေါ်တိုင်း Memory ထဲမှာ နေရာယူတဲ့အတွက် </a:t>
              </a:r>
              <a:r>
                <a:rPr lang="en-US" sz="1650" b="1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Space Complexity</a:t>
              </a:r>
              <a:r>
                <a:rPr lang="en-US" sz="16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မြင့်ပါတယ်။ Beginner တွေအတွက် နားလည်ဖို့နဲ့ Debug လုပ်ဖို့ ခက်ခဲပါတယ်။</a:t>
              </a:r>
              <a:endParaRPr/>
            </a:p>
          </p:txBody>
        </p:sp>
        <p:pic>
          <p:nvPicPr>
            <p:cNvPr id="184" name="Google Shape;184;p20" descr="image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6667500" y="2682478"/>
              <a:ext cx="495300" cy="4381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5" name="Google Shape;185;p20"/>
          <p:cNvSpPr txBox="1"/>
          <p:nvPr/>
        </p:nvSpPr>
        <p:spPr>
          <a:xfrm>
            <a:off x="581025" y="581025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 err="1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အားသာချက</a:t>
            </a:r>
            <a:r>
              <a:rPr lang="en-US" sz="3150" b="0" i="0" u="none" strike="noStrike" cap="none" dirty="0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် </a:t>
            </a:r>
            <a:r>
              <a:rPr lang="en-US" sz="3150" b="0" i="0" u="none" strike="noStrike" cap="none" dirty="0" err="1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နှင</a:t>
            </a:r>
            <a:r>
              <a:rPr lang="en-US" sz="3150" b="0" i="0" u="none" strike="noStrike" cap="none" dirty="0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့် </a:t>
            </a:r>
            <a:r>
              <a:rPr lang="en-US" sz="3150" b="0" i="0" u="none" strike="noStrike" cap="none" dirty="0" err="1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အားနည်းချက်များ</a:t>
            </a:r>
            <a:endParaRPr dirty="0"/>
          </a:p>
        </p:txBody>
      </p:sp>
      <p:sp>
        <p:nvSpPr>
          <p:cNvPr id="186" name="Google Shape;186;p20"/>
          <p:cNvSpPr/>
          <p:nvPr/>
        </p:nvSpPr>
        <p:spPr>
          <a:xfrm>
            <a:off x="581025" y="160020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B9E52334-6919-DDAB-A103-A163E76CC923}"/>
              </a:ext>
            </a:extLst>
          </p:cNvPr>
          <p:cNvGrpSpPr/>
          <p:nvPr/>
        </p:nvGrpSpPr>
        <p:grpSpPr>
          <a:xfrm>
            <a:off x="581025" y="2709698"/>
            <a:ext cx="3486150" cy="2209150"/>
            <a:chOff x="581025" y="2709698"/>
            <a:chExt cx="3486150" cy="2209150"/>
          </a:xfrm>
        </p:grpSpPr>
        <p:pic>
          <p:nvPicPr>
            <p:cNvPr id="192" name="Google Shape;192;p21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2709698"/>
              <a:ext cx="3486150" cy="2209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" name="Google Shape;195;p21"/>
            <p:cNvSpPr txBox="1"/>
            <p:nvPr/>
          </p:nvSpPr>
          <p:spPr>
            <a:xfrm>
              <a:off x="753903" y="2981573"/>
              <a:ext cx="31404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22D3EE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Trees &amp; Graphs</a:t>
              </a:r>
              <a:endParaRPr dirty="0"/>
            </a:p>
          </p:txBody>
        </p:sp>
        <p:sp>
          <p:nvSpPr>
            <p:cNvPr id="196" name="Google Shape;196;p21"/>
            <p:cNvSpPr txBox="1"/>
            <p:nvPr/>
          </p:nvSpPr>
          <p:spPr>
            <a:xfrm>
              <a:off x="828675" y="3391148"/>
              <a:ext cx="2991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HTML DOM တွေ (သို့) File System ဖိုင်တွဲတွေကို ရှာဖွေတဲ့အခါ Recursion မပါရင် Code က အရမ်းရှုပ်သွားပါလိမ့်မယ်။</a:t>
              </a:r>
              <a:endParaRPr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6A42A02-F87A-D039-81F9-E349CCBEF64A}"/>
              </a:ext>
            </a:extLst>
          </p:cNvPr>
          <p:cNvGrpSpPr/>
          <p:nvPr/>
        </p:nvGrpSpPr>
        <p:grpSpPr>
          <a:xfrm>
            <a:off x="4352925" y="2709698"/>
            <a:ext cx="3486150" cy="2209150"/>
            <a:chOff x="4352925" y="2709698"/>
            <a:chExt cx="3486150" cy="2209150"/>
          </a:xfrm>
        </p:grpSpPr>
        <p:pic>
          <p:nvPicPr>
            <p:cNvPr id="193" name="Google Shape;193;p21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352925" y="2709698"/>
              <a:ext cx="3486150" cy="2209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" name="Google Shape;197;p21"/>
            <p:cNvSpPr txBox="1"/>
            <p:nvPr/>
          </p:nvSpPr>
          <p:spPr>
            <a:xfrm>
              <a:off x="4525803" y="2981573"/>
              <a:ext cx="31404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472B6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Advanced Sorting</a:t>
              </a:r>
              <a:endParaRPr dirty="0"/>
            </a:p>
          </p:txBody>
        </p:sp>
        <p:sp>
          <p:nvSpPr>
            <p:cNvPr id="198" name="Google Shape;198;p21"/>
            <p:cNvSpPr txBox="1"/>
            <p:nvPr/>
          </p:nvSpPr>
          <p:spPr>
            <a:xfrm>
              <a:off x="4600575" y="3391148"/>
              <a:ext cx="2991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Bubble Sort ထက် အများကြီး ပိုမြန်တဲ့ </a:t>
              </a:r>
              <a:r>
                <a:rPr lang="en-US" sz="1350" b="1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Merge Sort</a:t>
              </a:r>
              <a:r>
                <a:rPr lang="en-US" sz="13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နဲ့ </a:t>
              </a:r>
              <a:r>
                <a:rPr lang="en-US" sz="1350" b="1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Quick Sort</a:t>
              </a:r>
              <a:r>
                <a:rPr lang="en-US" sz="13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လို Algorithm တွေဟာ Recursion ကို အခြေခံထားတာပါ။</a:t>
              </a:r>
              <a:endParaRPr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C469D27-94C1-97C9-19A5-BF4C6505AB07}"/>
              </a:ext>
            </a:extLst>
          </p:cNvPr>
          <p:cNvGrpSpPr/>
          <p:nvPr/>
        </p:nvGrpSpPr>
        <p:grpSpPr>
          <a:xfrm>
            <a:off x="8124825" y="2709698"/>
            <a:ext cx="3486150" cy="2209150"/>
            <a:chOff x="8124825" y="2709698"/>
            <a:chExt cx="3486150" cy="2209150"/>
          </a:xfrm>
        </p:grpSpPr>
        <p:pic>
          <p:nvPicPr>
            <p:cNvPr id="194" name="Google Shape;194;p21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124825" y="2709698"/>
              <a:ext cx="3486150" cy="2209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" name="Google Shape;199;p21"/>
            <p:cNvSpPr txBox="1"/>
            <p:nvPr/>
          </p:nvSpPr>
          <p:spPr>
            <a:xfrm>
              <a:off x="8297703" y="2981573"/>
              <a:ext cx="31404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A855F7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Pathfinding</a:t>
              </a:r>
              <a:endParaRPr dirty="0"/>
            </a:p>
          </p:txBody>
        </p:sp>
        <p:sp>
          <p:nvSpPr>
            <p:cNvPr id="200" name="Google Shape;200;p21"/>
            <p:cNvSpPr txBox="1"/>
            <p:nvPr/>
          </p:nvSpPr>
          <p:spPr>
            <a:xfrm>
              <a:off x="8372475" y="3391148"/>
              <a:ext cx="29910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ဝင်္ကပါ (Maze) ထဲမှာ လမ်းရှာတာမျိုးတွေ၊ ဂိမ်းတွေထဲက AI ရဲ့ ဆုံးဖြတ်ချက် (Backtracking) တွေမှာ အသုံးပြုပါတယ်။</a:t>
              </a:r>
              <a:endParaRPr/>
            </a:p>
          </p:txBody>
        </p:sp>
      </p:grpSp>
      <p:sp>
        <p:nvSpPr>
          <p:cNvPr id="201" name="Google Shape;201;p21"/>
          <p:cNvSpPr txBox="1"/>
          <p:nvPr/>
        </p:nvSpPr>
        <p:spPr>
          <a:xfrm>
            <a:off x="581025" y="581025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ဘယ်နေရာတွေမှာ မပါမဖြစ် သုံးလဲ?</a:t>
            </a:r>
            <a:endParaRPr/>
          </a:p>
        </p:txBody>
      </p:sp>
      <p:sp>
        <p:nvSpPr>
          <p:cNvPr id="202" name="Google Shape;202;p21"/>
          <p:cNvSpPr/>
          <p:nvPr/>
        </p:nvSpPr>
        <p:spPr>
          <a:xfrm>
            <a:off x="581025" y="160020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0">
          <a:extLst>
            <a:ext uri="{FF2B5EF4-FFF2-40B4-BE49-F238E27FC236}">
              <a16:creationId xmlns:a16="http://schemas.microsoft.com/office/drawing/2014/main" id="{FDDA29FC-47C2-9DAE-936B-BCBB258BD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1" descr="image.png">
            <a:extLst>
              <a:ext uri="{FF2B5EF4-FFF2-40B4-BE49-F238E27FC236}">
                <a16:creationId xmlns:a16="http://schemas.microsoft.com/office/drawing/2014/main" id="{162768CB-841C-D9A3-9725-50330B1A838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>
            <a:extLst>
              <a:ext uri="{FF2B5EF4-FFF2-40B4-BE49-F238E27FC236}">
                <a16:creationId xmlns:a16="http://schemas.microsoft.com/office/drawing/2014/main" id="{8B417E64-C498-17BD-D8AA-68F864B1DE8F}"/>
              </a:ext>
            </a:extLst>
          </p:cNvPr>
          <p:cNvSpPr txBox="1"/>
          <p:nvPr/>
        </p:nvSpPr>
        <p:spPr>
          <a:xfrm>
            <a:off x="526596" y="283245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Problem: Calculate Fibonacci Number</a:t>
            </a:r>
            <a:endParaRPr dirty="0"/>
          </a:p>
        </p:txBody>
      </p:sp>
      <p:sp>
        <p:nvSpPr>
          <p:cNvPr id="202" name="Google Shape;202;p21">
            <a:extLst>
              <a:ext uri="{FF2B5EF4-FFF2-40B4-BE49-F238E27FC236}">
                <a16:creationId xmlns:a16="http://schemas.microsoft.com/office/drawing/2014/main" id="{4E945160-5449-14C7-EF48-95AE05E83F8C}"/>
              </a:ext>
            </a:extLst>
          </p:cNvPr>
          <p:cNvSpPr/>
          <p:nvPr/>
        </p:nvSpPr>
        <p:spPr>
          <a:xfrm>
            <a:off x="526596" y="1014703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A37E6B-C4B5-0E6F-4A08-B2D9FEF5F9C8}"/>
              </a:ext>
            </a:extLst>
          </p:cNvPr>
          <p:cNvSpPr txBox="1"/>
          <p:nvPr/>
        </p:nvSpPr>
        <p:spPr>
          <a:xfrm>
            <a:off x="526596" y="1051238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The Fibonacci sequence is a famous, beautiful mathematical sequence where every </a:t>
            </a:r>
          </a:p>
          <a:p>
            <a:pPr>
              <a:buNone/>
            </a:pPr>
            <a:r>
              <a:rPr lang="en-US" sz="18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single number is simply the sum of the two numbers immediately before it. </a:t>
            </a:r>
          </a:p>
          <a:p>
            <a:pPr>
              <a:buNone/>
            </a:pPr>
            <a:r>
              <a:rPr lang="en-US" sz="18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It looks like this: 0, 1, 1, 2, 3, 5, 8, 13, 21...</a:t>
            </a:r>
            <a:br>
              <a:rPr lang="en-US" sz="18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</a:br>
            <a:endParaRPr lang="en-US" sz="1800" b="0" dirty="0">
              <a:solidFill>
                <a:schemeClr val="bg1"/>
              </a:solidFill>
              <a:effectLst/>
              <a:latin typeface="Lato" panose="020F0502020204030203" pitchFamily="34" charset="77"/>
            </a:endParaRPr>
          </a:p>
          <a:p>
            <a:pPr>
              <a:buNone/>
            </a:pPr>
            <a:r>
              <a:rPr lang="en-US" sz="18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We mathematically legally define it as:</a:t>
            </a:r>
          </a:p>
          <a:p>
            <a:pPr>
              <a:buNone/>
            </a:pPr>
            <a:r>
              <a:rPr lang="en-US" sz="18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F(0) = 0</a:t>
            </a:r>
          </a:p>
          <a:p>
            <a:pPr>
              <a:buNone/>
            </a:pPr>
            <a:r>
              <a:rPr lang="en-US" sz="18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F(1) = 1</a:t>
            </a:r>
          </a:p>
          <a:p>
            <a:pPr>
              <a:buNone/>
            </a:pPr>
            <a:r>
              <a:rPr lang="en-US" sz="18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F(n) = F(n-1) + F(n-2) (for any n &gt; 1)</a:t>
            </a:r>
            <a:br>
              <a:rPr lang="en-US" sz="18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</a:br>
            <a:endParaRPr lang="en-US" sz="1800" b="0" dirty="0">
              <a:solidFill>
                <a:schemeClr val="bg1"/>
              </a:solidFill>
              <a:effectLst/>
              <a:latin typeface="Lato" panose="020F0502020204030203" pitchFamily="34" charset="77"/>
            </a:endParaRPr>
          </a:p>
          <a:p>
            <a:pPr>
              <a:buNone/>
            </a:pPr>
            <a:r>
              <a:rPr lang="en-US" sz="18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Your job is to write a strictly recursive function `</a:t>
            </a:r>
            <a:r>
              <a:rPr lang="en-US" sz="1800" b="0" dirty="0" err="1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fibonacci</a:t>
            </a:r>
            <a:r>
              <a:rPr lang="en-US" sz="18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(n)` that vividly </a:t>
            </a:r>
          </a:p>
          <a:p>
            <a:pPr>
              <a:buNone/>
            </a:pPr>
            <a:r>
              <a:rPr lang="en-US" sz="18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returns the exact n-</a:t>
            </a:r>
            <a:r>
              <a:rPr lang="en-US" sz="1800" b="0" dirty="0" err="1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th</a:t>
            </a:r>
            <a:r>
              <a:rPr lang="en-US" sz="18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 Fibonacci number.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60A5C5-5D8E-743A-EB76-32301D6F3396}"/>
              </a:ext>
            </a:extLst>
          </p:cNvPr>
          <p:cNvSpPr txBox="1"/>
          <p:nvPr/>
        </p:nvSpPr>
        <p:spPr>
          <a:xfrm>
            <a:off x="6622596" y="1613118"/>
            <a:ext cx="493395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Example 1:</a:t>
            </a:r>
          </a:p>
          <a:p>
            <a:pPr>
              <a:buNone/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Input: n = 2</a:t>
            </a:r>
          </a:p>
          <a:p>
            <a:pPr>
              <a:buNone/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Output: 1 (Because natively F(1) + F(0) = 1 + 0 = 1)</a:t>
            </a:r>
          </a:p>
          <a:p>
            <a:pPr>
              <a:buNone/>
            </a:pPr>
            <a:endParaRPr lang="en-US" sz="1600" b="0" dirty="0">
              <a:solidFill>
                <a:schemeClr val="bg1"/>
              </a:solidFill>
              <a:effectLst/>
              <a:latin typeface="Lato" panose="020F0502020204030203" pitchFamily="34" charset="77"/>
            </a:endParaRP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Example 2: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Input: n = 4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Output: 3 (Because natively F(3) + F(2) = 2 + 1 = 3)</a:t>
            </a:r>
          </a:p>
        </p:txBody>
      </p:sp>
    </p:spTree>
    <p:extLst>
      <p:ext uri="{BB962C8B-B14F-4D97-AF65-F5344CB8AC3E}">
        <p14:creationId xmlns:p14="http://schemas.microsoft.com/office/powerpoint/2010/main" val="940654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0">
          <a:extLst>
            <a:ext uri="{FF2B5EF4-FFF2-40B4-BE49-F238E27FC236}">
              <a16:creationId xmlns:a16="http://schemas.microsoft.com/office/drawing/2014/main" id="{C2EF7633-E91F-F59B-0008-CDE6E3D30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1" descr="image.png">
            <a:extLst>
              <a:ext uri="{FF2B5EF4-FFF2-40B4-BE49-F238E27FC236}">
                <a16:creationId xmlns:a16="http://schemas.microsoft.com/office/drawing/2014/main" id="{3B8CE2A5-3008-108D-0F31-78BD1BAA10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>
            <a:extLst>
              <a:ext uri="{FF2B5EF4-FFF2-40B4-BE49-F238E27FC236}">
                <a16:creationId xmlns:a16="http://schemas.microsoft.com/office/drawing/2014/main" id="{D2B60D6F-4446-7E14-B7A7-F5E876BDD666}"/>
              </a:ext>
            </a:extLst>
          </p:cNvPr>
          <p:cNvSpPr txBox="1"/>
          <p:nvPr/>
        </p:nvSpPr>
        <p:spPr>
          <a:xfrm>
            <a:off x="526596" y="283245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Problem: Calculate Fibonacci Number</a:t>
            </a:r>
            <a:endParaRPr dirty="0"/>
          </a:p>
        </p:txBody>
      </p:sp>
      <p:sp>
        <p:nvSpPr>
          <p:cNvPr id="202" name="Google Shape;202;p21">
            <a:extLst>
              <a:ext uri="{FF2B5EF4-FFF2-40B4-BE49-F238E27FC236}">
                <a16:creationId xmlns:a16="http://schemas.microsoft.com/office/drawing/2014/main" id="{BB390E68-D16A-90B2-CA44-CCFC87365524}"/>
              </a:ext>
            </a:extLst>
          </p:cNvPr>
          <p:cNvSpPr/>
          <p:nvPr/>
        </p:nvSpPr>
        <p:spPr>
          <a:xfrm>
            <a:off x="526596" y="1014703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F415E9-D51B-55BE-35F3-255BA4CD6F66}"/>
              </a:ext>
            </a:extLst>
          </p:cNvPr>
          <p:cNvSpPr txBox="1"/>
          <p:nvPr/>
        </p:nvSpPr>
        <p:spPr>
          <a:xfrm>
            <a:off x="526596" y="1217291"/>
            <a:ext cx="493395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Example 1:</a:t>
            </a:r>
          </a:p>
          <a:p>
            <a:pPr>
              <a:buNone/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Input: n = 2</a:t>
            </a:r>
          </a:p>
          <a:p>
            <a:pPr>
              <a:buNone/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Output: 1 (Because natively F(1) + F(0) = 1 + 0 = 1)</a:t>
            </a:r>
          </a:p>
          <a:p>
            <a:pPr>
              <a:buNone/>
            </a:pPr>
            <a:endParaRPr lang="en-US" sz="1600" b="0" dirty="0">
              <a:solidFill>
                <a:schemeClr val="bg1"/>
              </a:solidFill>
              <a:effectLst/>
              <a:latin typeface="Lato" panose="020F0502020204030203" pitchFamily="34" charset="77"/>
            </a:endParaRP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Example 2: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Input: n = 4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Output: 3 (Because natively F(3) + F(2) = 2 + 1 = 3)</a:t>
            </a:r>
          </a:p>
        </p:txBody>
      </p:sp>
    </p:spTree>
    <p:extLst>
      <p:ext uri="{BB962C8B-B14F-4D97-AF65-F5344CB8AC3E}">
        <p14:creationId xmlns:p14="http://schemas.microsoft.com/office/powerpoint/2010/main" val="37203670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8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.9|1.4|1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6|45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0.7|3.7|15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8|6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7|24.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9|12.2|20.2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1507</Words>
  <Application>Microsoft Macintosh PowerPoint</Application>
  <PresentationFormat>Widescreen</PresentationFormat>
  <Paragraphs>83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Noto Sans Myanmar</vt:lpstr>
      <vt:lpstr>Poppins</vt:lpstr>
      <vt:lpstr>Fira Code</vt:lpstr>
      <vt:lpstr>Poppins SemiBold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 PONE KHA AUNG -</cp:lastModifiedBy>
  <cp:revision>6</cp:revision>
  <cp:lastPrinted>2026-03-29T08:02:43Z</cp:lastPrinted>
  <dcterms:modified xsi:type="dcterms:W3CDTF">2026-04-06T15:48:54Z</dcterms:modified>
</cp:coreProperties>
</file>