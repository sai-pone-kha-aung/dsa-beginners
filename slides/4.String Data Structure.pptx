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Lato" panose="020F0502020204030203" pitchFamily="34" charset="77"/>
      <p:regular r:id="rId16"/>
      <p:bold r:id="rId17"/>
      <p:italic r:id="rId18"/>
      <p:boldItalic r:id="rId19"/>
    </p:embeddedFont>
    <p:embeddedFont>
      <p:font typeface="Poppins" pitchFamily="2" charset="77"/>
      <p:regular r:id="rId20"/>
      <p:bold r:id="rId21"/>
      <p:italic r:id="rId22"/>
      <p:boldItalic r:id="rId23"/>
    </p:embeddedFont>
    <p:embeddedFont>
      <p:font typeface="Poppins SemiBold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1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131C57-C752-468E-A7FB-CFA51B31B639}">
  <a:tblStyle styleId="{F5131C57-C752-468E-A7FB-CFA51B31B63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14"/>
    <p:restoredTop sz="94670"/>
  </p:normalViewPr>
  <p:slideViewPr>
    <p:cSldViewPr snapToGrid="0">
      <p:cViewPr varScale="1">
        <p:scale>
          <a:sx n="117" d="100"/>
          <a:sy n="117" d="100"/>
        </p:scale>
        <p:origin x="11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1A496913-4C84-5DC8-2A9C-D0FB1CF63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>
            <a:extLst>
              <a:ext uri="{FF2B5EF4-FFF2-40B4-BE49-F238E27FC236}">
                <a16:creationId xmlns:a16="http://schemas.microsoft.com/office/drawing/2014/main" id="{4EBB964B-BB52-EFAD-43ED-8AB5921721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>
            <a:extLst>
              <a:ext uri="{FF2B5EF4-FFF2-40B4-BE49-F238E27FC236}">
                <a16:creationId xmlns:a16="http://schemas.microsoft.com/office/drawing/2014/main" id="{51285B5C-C442-7019-72AD-F93447E462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851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3.png"/><Relationship Id="rId1" Type="http://schemas.openxmlformats.org/officeDocument/2006/relationships/tags" Target="../tags/tag6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35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36.jp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2262633"/>
            <a:ext cx="11581447" cy="890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>
                <a:solidFill>
                  <a:srgbClr val="F4F4F5"/>
                </a:solidFill>
                <a:latin typeface="Poppins"/>
                <a:ea typeface="Poppins"/>
                <a:cs typeface="Poppins"/>
                <a:sym typeface="Poppins"/>
              </a:rPr>
              <a:t>String </a:t>
            </a:r>
            <a:r>
              <a:rPr lang="en-US" sz="6375" b="1" i="0" u="none" strike="noStrike" cap="none">
                <a:solidFill>
                  <a:srgbClr val="C084FC"/>
                </a:solidFill>
                <a:latin typeface="Poppins"/>
                <a:ea typeface="Poppins"/>
                <a:cs typeface="Poppins"/>
                <a:sym typeface="Poppins"/>
              </a:rPr>
              <a:t>Data Structure</a:t>
            </a:r>
            <a:endParaRPr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8F0CC4C7-AA6F-7CB9-1C94-0B1E902D4737}"/>
              </a:ext>
            </a:extLst>
          </p:cNvPr>
          <p:cNvSpPr txBox="1"/>
          <p:nvPr/>
        </p:nvSpPr>
        <p:spPr>
          <a:xfrm>
            <a:off x="1809749" y="3556350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- 4 ]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263229"/>
            <a:ext cx="952500" cy="47625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706201" y="2577675"/>
            <a:ext cx="10779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4F4F5"/>
                </a:solidFill>
                <a:latin typeface="Poppins"/>
                <a:ea typeface="Poppins"/>
                <a:cs typeface="Poppins"/>
                <a:sym typeface="Poppins"/>
              </a:rPr>
              <a:t>Strings </a:t>
            </a:r>
            <a:r>
              <a:rPr lang="en-US" sz="4800" b="1" i="0" u="none" strike="noStrike" cap="none" dirty="0" err="1">
                <a:solidFill>
                  <a:srgbClr val="F4F4F5"/>
                </a:solidFill>
                <a:latin typeface="Poppins"/>
                <a:ea typeface="Poppins"/>
                <a:cs typeface="Poppins"/>
                <a:sym typeface="Poppins"/>
              </a:rPr>
              <a:t>တွေက</a:t>
            </a:r>
            <a:r>
              <a:rPr lang="en-US" sz="4800" b="1" i="0" u="none" strike="noStrike" cap="none" dirty="0">
                <a:solidFill>
                  <a:srgbClr val="F4F4F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F4F4F5"/>
                </a:solidFill>
                <a:latin typeface="Poppins"/>
                <a:ea typeface="Poppins"/>
                <a:cs typeface="Poppins"/>
                <a:sym typeface="Poppins"/>
              </a:rPr>
              <a:t>နေရာတိုင်းမှာ</a:t>
            </a:r>
            <a:r>
              <a:rPr lang="en-US" sz="4800" b="1" i="0" u="none" strike="noStrike" cap="none" dirty="0">
                <a:solidFill>
                  <a:srgbClr val="F4F4F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F4F4F5"/>
                </a:solidFill>
                <a:latin typeface="Poppins"/>
                <a:ea typeface="Poppins"/>
                <a:cs typeface="Poppins"/>
                <a:sym typeface="Poppins"/>
              </a:rPr>
              <a:t>ရှိပါတယ</a:t>
            </a:r>
            <a:r>
              <a:rPr lang="en-US" sz="4800" b="1" i="0" u="none" strike="noStrike" cap="none" dirty="0">
                <a:solidFill>
                  <a:srgbClr val="F4F4F5"/>
                </a:solidFill>
                <a:latin typeface="Poppins"/>
                <a:ea typeface="Poppins"/>
                <a:cs typeface="Poppins"/>
                <a:sym typeface="Poppins"/>
              </a:rPr>
              <a:t>်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4297379"/>
            <a:ext cx="76200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Passwords </a:t>
            </a:r>
            <a:r>
              <a:rPr lang="en-US" sz="1950" b="0" i="0" u="none" strike="noStrike" cap="none" dirty="0" err="1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တွေ</a:t>
            </a:r>
            <a:r>
              <a:rPr lang="en-US" sz="1950" b="0" i="0" u="none" strike="noStrike" cap="none" dirty="0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စစ်ဆေးတာကနေစပြီး</a:t>
            </a:r>
            <a:r>
              <a:rPr lang="en-US" sz="1950" b="0" i="0" u="none" strike="noStrike" cap="none" dirty="0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 Google </a:t>
            </a:r>
            <a:r>
              <a:rPr lang="en-US" sz="1950" b="0" i="0" u="none" strike="noStrike" cap="none" dirty="0" err="1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မှာ</a:t>
            </a:r>
            <a:r>
              <a:rPr lang="en-US" sz="1950" b="0" i="0" u="none" strike="noStrike" cap="none" dirty="0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စာလုံးလိုက်ရှာတာ</a:t>
            </a:r>
            <a:r>
              <a:rPr lang="en-US" sz="1950" b="0" i="0" u="none" strike="noStrike" cap="none" dirty="0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၊ Website </a:t>
            </a:r>
            <a:r>
              <a:rPr lang="en-US" sz="1950" b="0" i="0" u="none" strike="noStrike" cap="none" dirty="0" err="1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တွေပေ</a:t>
            </a:r>
            <a:r>
              <a:rPr lang="en-US" sz="1950" b="0" i="0" u="none" strike="noStrike" cap="none" dirty="0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ါ်</a:t>
            </a:r>
            <a:r>
              <a:rPr lang="en-US" sz="1950" b="0" i="0" u="none" strike="noStrike" cap="none" dirty="0" err="1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က</a:t>
            </a:r>
            <a:r>
              <a:rPr lang="en-US" sz="1950" b="0" i="0" u="none" strike="noStrike" cap="none" dirty="0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သတင်းဖတ်တာတွေအထိ</a:t>
            </a:r>
            <a:r>
              <a:rPr lang="en-US" sz="1950" b="0" i="0" u="none" strike="noStrike" cap="none" dirty="0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အရာအားလုံးဟာ</a:t>
            </a:r>
            <a:r>
              <a:rPr lang="en-US" sz="1950" b="0" i="0" u="none" strike="noStrike" cap="none" dirty="0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1" i="0" u="none" strike="noStrike" cap="none" dirty="0">
                <a:solidFill>
                  <a:srgbClr val="C084FC"/>
                </a:solidFill>
                <a:latin typeface="Lato"/>
                <a:ea typeface="Lato"/>
                <a:cs typeface="Lato"/>
                <a:sym typeface="Lato"/>
              </a:rPr>
              <a:t>String Data Structure</a:t>
            </a:r>
            <a:r>
              <a:rPr lang="en-US" sz="1950" b="0" i="0" u="none" strike="noStrike" cap="none" dirty="0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ပေ</a:t>
            </a:r>
            <a:r>
              <a:rPr lang="en-US" sz="1950" b="0" i="0" u="none" strike="noStrike" cap="none" dirty="0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ါ်</a:t>
            </a:r>
            <a:r>
              <a:rPr lang="en-US" sz="1950" b="0" i="0" u="none" strike="noStrike" cap="none" dirty="0" err="1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မှာ</a:t>
            </a:r>
            <a:r>
              <a:rPr lang="en-US" sz="1950" b="0" i="0" u="none" strike="noStrike" cap="none" dirty="0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အခြေခံ</a:t>
            </a:r>
            <a:r>
              <a:rPr lang="en-US" sz="1950" b="0" i="0" u="none" strike="noStrike" cap="none" dirty="0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အလုပ်လုပ်နေတာ</a:t>
            </a:r>
            <a:r>
              <a:rPr lang="en-US" sz="1950" b="0" i="0" u="none" strike="noStrike" cap="none" dirty="0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ဖြစ်ပါတယ</a:t>
            </a:r>
            <a:r>
              <a:rPr lang="en-US" sz="1950" b="0" i="0" u="none" strike="noStrike" cap="none" dirty="0">
                <a:solidFill>
                  <a:srgbClr val="D4D4D8"/>
                </a:solidFill>
                <a:latin typeface="Lato"/>
                <a:ea typeface="Lato"/>
                <a:cs typeface="Lato"/>
                <a:sym typeface="Lato"/>
              </a:rPr>
              <a:t>်။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96678"/>
            <a:ext cx="5276850" cy="3845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996678"/>
            <a:ext cx="5276850" cy="384571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71550" y="2387203"/>
            <a:ext cx="472059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C084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Array of Characters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2506265"/>
            <a:ext cx="472059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Quotes (အမှတ်အသား)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09C2A8D-9D98-DC79-614A-4E555CDA2B1A}"/>
              </a:ext>
            </a:extLst>
          </p:cNvPr>
          <p:cNvGrpSpPr/>
          <p:nvPr/>
        </p:nvGrpSpPr>
        <p:grpSpPr>
          <a:xfrm>
            <a:off x="971550" y="2968228"/>
            <a:ext cx="4495800" cy="2453285"/>
            <a:chOff x="971550" y="2968228"/>
            <a:chExt cx="4495800" cy="2453285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971550" y="2968228"/>
              <a:ext cx="4495800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String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ဆိုတာ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အခြေခံအားဖြင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့် </a:t>
              </a:r>
              <a:r>
                <a:rPr lang="en-US" sz="1650" b="1" i="0" u="none" strike="noStrike" cap="none" dirty="0">
                  <a:solidFill>
                    <a:srgbClr val="F4F4F5"/>
                  </a:solidFill>
                  <a:latin typeface="Lato"/>
                  <a:ea typeface="Lato"/>
                  <a:cs typeface="Lato"/>
                  <a:sym typeface="Lato"/>
                </a:rPr>
                <a:t>Character (</a:t>
              </a:r>
              <a:r>
                <a:rPr lang="en-US" sz="1650" b="1" i="0" u="none" strike="noStrike" cap="none" dirty="0" err="1">
                  <a:solidFill>
                    <a:srgbClr val="F4F4F5"/>
                  </a:solidFill>
                  <a:latin typeface="Lato"/>
                  <a:ea typeface="Lato"/>
                  <a:cs typeface="Lato"/>
                  <a:sym typeface="Lato"/>
                </a:rPr>
                <a:t>စာလုံးလေးတွေ</a:t>
              </a:r>
              <a:r>
                <a:rPr lang="en-US" sz="1650" b="1" i="0" u="none" strike="noStrike" cap="none" dirty="0">
                  <a:solidFill>
                    <a:srgbClr val="F4F4F5"/>
                  </a:solidFill>
                  <a:latin typeface="Lato"/>
                  <a:ea typeface="Lato"/>
                  <a:cs typeface="Lato"/>
                  <a:sym typeface="Lato"/>
                </a:rPr>
                <a:t>)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စုပေါင်းပြီး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သိမ်းထားတဲ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့ Array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တစ်ခုပါပဲ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။</a:t>
              </a:r>
              <a:endParaRPr dirty="0"/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971550" y="4761213"/>
              <a:ext cx="44958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စာလုံးတွေကို အစဉ်လိုက် စီထားတဲ့ Collection လို့ မြင်ကြည့်လို့ ရပါတယ်။</a:t>
              </a:r>
              <a:endParaRPr/>
            </a:p>
          </p:txBody>
        </p:sp>
        <p:pic>
          <p:nvPicPr>
            <p:cNvPr id="108" name="Google Shape;108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71550" y="4170571"/>
              <a:ext cx="476250" cy="47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5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571625" y="4170571"/>
              <a:ext cx="476250" cy="47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5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171700" y="4170571"/>
              <a:ext cx="476250" cy="47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5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771775" y="4170571"/>
              <a:ext cx="476250" cy="47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5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371850" y="4170571"/>
              <a:ext cx="476250" cy="476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240BDBC-D296-815B-4F74-D7D80DEE238E}"/>
              </a:ext>
            </a:extLst>
          </p:cNvPr>
          <p:cNvGrpSpPr/>
          <p:nvPr/>
        </p:nvGrpSpPr>
        <p:grpSpPr>
          <a:xfrm>
            <a:off x="6724650" y="3087290"/>
            <a:ext cx="4685211" cy="2472133"/>
            <a:chOff x="6724650" y="3087290"/>
            <a:chExt cx="4685211" cy="2472133"/>
          </a:xfrm>
        </p:grpSpPr>
        <p:pic>
          <p:nvPicPr>
            <p:cNvPr id="102" name="Google Shape;102;p15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6724650" y="4843263"/>
              <a:ext cx="4495800" cy="7161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15"/>
            <p:cNvSpPr txBox="1"/>
            <p:nvPr/>
          </p:nvSpPr>
          <p:spPr>
            <a:xfrm>
              <a:off x="6724650" y="3087290"/>
              <a:ext cx="4495800" cy="147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Programming Languages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တော်တော်များများမှာ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String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တွေကို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သတ်မှတ်ဖို့အတွက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် Single Quote      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သို့မဟုတ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် Double Quote                      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တွေကို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အသုံးပြုကြပါတယ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  <p:pic>
          <p:nvPicPr>
            <p:cNvPr id="113" name="Google Shape;113;p15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0857411" y="3505200"/>
              <a:ext cx="552450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5" descr="image.png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8991600" y="3919537"/>
              <a:ext cx="552450" cy="34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15"/>
            <p:cNvSpPr txBox="1"/>
            <p:nvPr/>
          </p:nvSpPr>
          <p:spPr>
            <a:xfrm>
              <a:off x="7048500" y="4967783"/>
              <a:ext cx="38862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4F4F5"/>
                  </a:solidFill>
                  <a:latin typeface="Lato"/>
                  <a:ea typeface="Lato"/>
                  <a:cs typeface="Lato"/>
                  <a:sym typeface="Lato"/>
                </a:rPr>
                <a:t>name = "Aung Aung"</a:t>
              </a:r>
              <a:endParaRPr dirty="0"/>
            </a:p>
          </p:txBody>
        </p:sp>
      </p:grpSp>
      <p:sp>
        <p:nvSpPr>
          <p:cNvPr id="116" name="Google Shape;116;p15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084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String ဆိုတာ ဘာလဲ?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81025" y="581025"/>
            <a:ext cx="69582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084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Memory ထဲမှာ ဘယ်လိုသိမ်းလဲ?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5181590-FB7C-BF4A-028A-94EB8EECF3A7}"/>
              </a:ext>
            </a:extLst>
          </p:cNvPr>
          <p:cNvGrpSpPr/>
          <p:nvPr/>
        </p:nvGrpSpPr>
        <p:grpSpPr>
          <a:xfrm>
            <a:off x="581025" y="1878806"/>
            <a:ext cx="5277000" cy="3889176"/>
            <a:chOff x="581025" y="1878806"/>
            <a:chExt cx="5277000" cy="3889176"/>
          </a:xfrm>
        </p:grpSpPr>
        <p:pic>
          <p:nvPicPr>
            <p:cNvPr id="122" name="Google Shape;122;p16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882503"/>
              <a:ext cx="5276850" cy="105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16"/>
            <p:cNvSpPr txBox="1"/>
            <p:nvPr/>
          </p:nvSpPr>
          <p:spPr>
            <a:xfrm>
              <a:off x="581025" y="1878806"/>
              <a:ext cx="5276850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ကွန်ပျူတာက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စာသား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(Text)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တွေကို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တိုက်ရိုက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နားမလည်ပါဘူး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။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သူနားလည်တာ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0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နဲ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့ 1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ပဲ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ရှိပါတယ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581025" y="4124325"/>
              <a:ext cx="5276850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ဒီလို ပြောင်းလဲဖို့အတွက် </a:t>
              </a:r>
              <a:r>
                <a:rPr lang="en-US" sz="1650" b="1" i="0" u="none" strike="noStrike" cap="none">
                  <a:solidFill>
                    <a:srgbClr val="C084FC"/>
                  </a:solidFill>
                  <a:latin typeface="Lato"/>
                  <a:ea typeface="Lato"/>
                  <a:cs typeface="Lato"/>
                  <a:sym typeface="Lato"/>
                </a:rPr>
                <a:t>ASCII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နဲ့ </a:t>
              </a:r>
              <a:r>
                <a:rPr lang="en-US" sz="1650" b="1" i="0" u="none" strike="noStrike" cap="none">
                  <a:solidFill>
                    <a:srgbClr val="2DD4BF"/>
                  </a:solidFill>
                  <a:latin typeface="Lato"/>
                  <a:ea typeface="Lato"/>
                  <a:cs typeface="Lato"/>
                  <a:sym typeface="Lato"/>
                </a:rPr>
                <a:t>Unicode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လို စံနှုန်းတွေကို သုံးပါတယ်။</a:t>
              </a: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904875" y="3073003"/>
              <a:ext cx="4667250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ဒါကြောင့် စာလုံးတိုင်းကို </a:t>
              </a:r>
              <a:r>
                <a:rPr lang="en-US" sz="1650" b="1" i="0" u="none" strike="noStrike" cap="none">
                  <a:solidFill>
                    <a:srgbClr val="F4F4F5"/>
                  </a:solidFill>
                  <a:latin typeface="Lato"/>
                  <a:ea typeface="Lato"/>
                  <a:cs typeface="Lato"/>
                  <a:sym typeface="Lato"/>
                </a:rPr>
                <a:t>ဂဏန်း (Numbers)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တွေအဖြစ် အရင် ပြောင်းလဲပြီးမှ သိမ်းဆည်းပါတယ်။</a:t>
              </a: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647700" y="5081349"/>
              <a:ext cx="123825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endParaRPr/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771525" y="5080396"/>
              <a:ext cx="50865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3825" tIns="0" rIns="0" bIns="0" anchor="t" anchorCtr="0">
              <a:spAutoFit/>
            </a:bodyPr>
            <a:lstStyle/>
            <a:p>
              <a:pPr marL="0" marR="0" lvl="0" indent="45720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ကို </a:t>
              </a:r>
              <a:r>
                <a:rPr lang="en-US" sz="1650" b="1" i="0" u="none" strike="noStrike" cap="none">
                  <a:solidFill>
                    <a:srgbClr val="2DD4BF"/>
                  </a:solidFill>
                  <a:latin typeface="Lato"/>
                  <a:ea typeface="Lato"/>
                  <a:cs typeface="Lato"/>
                  <a:sym typeface="Lato"/>
                </a:rPr>
                <a:t>65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အဖြစ် သိမ်းပါတယ်။</a:t>
              </a:r>
              <a:endParaRPr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647700" y="5416510"/>
              <a:ext cx="123825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771525" y="5415557"/>
              <a:ext cx="50865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3825" tIns="0" rIns="0" bIns="0" anchor="t" anchorCtr="0">
              <a:spAutoFit/>
            </a:bodyPr>
            <a:lstStyle/>
            <a:p>
              <a:pPr marL="0" marR="0" lvl="0" indent="45720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ကို </a:t>
              </a:r>
              <a:r>
                <a:rPr lang="en-US" sz="1650" b="1" i="0" u="none" strike="noStrike" cap="none">
                  <a:solidFill>
                    <a:srgbClr val="2DD4BF"/>
                  </a:solidFill>
                  <a:latin typeface="Lato"/>
                  <a:ea typeface="Lato"/>
                  <a:cs typeface="Lato"/>
                  <a:sym typeface="Lato"/>
                </a:rPr>
                <a:t>97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အဖြစ် သိမ်းပါတယ်။</a:t>
              </a:r>
              <a:endParaRPr/>
            </a:p>
          </p:txBody>
        </p:sp>
        <p:pic>
          <p:nvPicPr>
            <p:cNvPr id="131" name="Google Shape;131;p16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71525" y="5089921"/>
              <a:ext cx="552450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6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71525" y="5425082"/>
              <a:ext cx="552450" cy="342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3" name="Google Shape;133;p16" descr="Memory ထဲမှာ ဘယ်လိုသိမ်းလဲ?&#10;ကွန်ပျူတာက စာသား (Text) တွေကို တိုက်ရိုက် နားမလည်ပါဘူး။ သူနားလည်တာ 0 နဲ့ 1 ပဲ ရှိပါတယ်။&#10;ဒါကြောင့် စာလုံးတိုင်းကို ဂဏန်း (Numbers) တွေအဖြစ် အရင် ပြောင်းလဲပြီးမှ သိမ်းဆည်းပါတယ်။&#10;ဒီလို ပြောင်းလဲဖို့အတွက် ASCII နဲ့ Unicode လို စံနှုန်းတွေကို သုံးပါတယ်။&#10;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42675" y="1104100"/>
            <a:ext cx="4876800" cy="4876800"/>
          </a:xfrm>
          <a:prstGeom prst="roundRect">
            <a:avLst>
              <a:gd name="adj" fmla="val 7241"/>
            </a:avLst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2955" y="4586138"/>
            <a:ext cx="3048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499" y="2521690"/>
            <a:ext cx="441186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1" i="0" u="none" strike="noStrike" cap="none" dirty="0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5564385" y="2081361"/>
            <a:ext cx="6348918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F4F4F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Array </a:t>
            </a:r>
            <a:r>
              <a:rPr lang="en-US" sz="2250" b="0" i="0" u="none" strike="noStrike" cap="none" dirty="0" err="1">
                <a:solidFill>
                  <a:srgbClr val="F4F4F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လိုပဲ</a:t>
            </a:r>
            <a:r>
              <a:rPr lang="en-US" sz="2250" b="0" i="0" u="none" strike="noStrike" cap="none" dirty="0">
                <a:solidFill>
                  <a:srgbClr val="F4F4F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250" b="0" i="0" u="none" strike="noStrike" cap="none" dirty="0" err="1">
                <a:solidFill>
                  <a:srgbClr val="F4F4F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ရေတွက်ပါတယ</a:t>
            </a:r>
            <a:r>
              <a:rPr lang="en-US" sz="2250" b="0" i="0" u="none" strike="noStrike" cap="none" dirty="0">
                <a:solidFill>
                  <a:srgbClr val="F4F4F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D4CEBD-3417-61A5-3711-C7C157D8C947}"/>
              </a:ext>
            </a:extLst>
          </p:cNvPr>
          <p:cNvGrpSpPr/>
          <p:nvPr/>
        </p:nvGrpSpPr>
        <p:grpSpPr>
          <a:xfrm>
            <a:off x="5564385" y="2662386"/>
            <a:ext cx="6046589" cy="3012628"/>
            <a:chOff x="5564385" y="2662386"/>
            <a:chExt cx="6046589" cy="3012628"/>
          </a:xfrm>
        </p:grpSpPr>
        <p:pic>
          <p:nvPicPr>
            <p:cNvPr id="140" name="Google Shape;140;p17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564385" y="3570833"/>
              <a:ext cx="6046589" cy="14705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17"/>
            <p:cNvSpPr txBox="1"/>
            <p:nvPr/>
          </p:nvSpPr>
          <p:spPr>
            <a:xfrm>
              <a:off x="5564385" y="2662386"/>
              <a:ext cx="6046589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String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ဟာ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Character Array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ဖြစ်တဲ့အတွက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အခန်းနံပါတ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် (Index)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က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1" i="0" u="none" strike="noStrike" cap="none" dirty="0">
                  <a:solidFill>
                    <a:srgbClr val="F4F4F5"/>
                  </a:solidFill>
                  <a:latin typeface="Lato"/>
                  <a:ea typeface="Lato"/>
                  <a:cs typeface="Lato"/>
                  <a:sym typeface="Lato"/>
                </a:rPr>
                <a:t>1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ကနေ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မစဘဲ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1" i="0" u="none" strike="noStrike" cap="none" dirty="0">
                  <a:solidFill>
                    <a:srgbClr val="C084FC"/>
                  </a:solidFill>
                  <a:latin typeface="Lato"/>
                  <a:ea typeface="Lato"/>
                  <a:cs typeface="Lato"/>
                  <a:sym typeface="Lato"/>
                </a:rPr>
                <a:t>0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ကနေ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စပါတယ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5564385" y="5279528"/>
              <a:ext cx="60465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နောက်ဆုံးစာလုံးကို လိုချင်ရင် ကို                                     အသုံးပြုရပါတယ်။</a:t>
              </a:r>
              <a:endParaRPr/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5764410" y="3770858"/>
              <a:ext cx="5646539" cy="365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2DD4BF"/>
                  </a:solidFill>
                  <a:latin typeface="Fira Code"/>
                  <a:ea typeface="Fira Code"/>
                  <a:cs typeface="Fira Code"/>
                  <a:sym typeface="Fira Code"/>
                </a:rPr>
                <a:t>text = "PYTHON"</a:t>
              </a:r>
              <a:endParaRPr/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5764410" y="4231778"/>
              <a:ext cx="5646539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D4D4D8"/>
                  </a:solidFill>
                  <a:latin typeface="Fira Code"/>
                  <a:ea typeface="Fira Code"/>
                  <a:cs typeface="Fira Code"/>
                  <a:sym typeface="Fira Code"/>
                </a:rPr>
                <a:t>text[0] → 'P' 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500" b="0" i="0" u="none" strike="noStrike" cap="none">
                  <a:solidFill>
                    <a:srgbClr val="D4D4D8"/>
                  </a:solidFill>
                  <a:latin typeface="Fira Code"/>
                  <a:ea typeface="Fira Code"/>
                  <a:cs typeface="Fira Code"/>
                  <a:sym typeface="Fira Code"/>
                </a:rPr>
                <a:t> text[5] → 'N'</a:t>
              </a:r>
              <a:endParaRPr/>
            </a:p>
          </p:txBody>
        </p:sp>
        <p:pic>
          <p:nvPicPr>
            <p:cNvPr id="147" name="Google Shape;147;p17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267146" y="5332114"/>
              <a:ext cx="1352550" cy="342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p17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084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Indexing &amp; Slicing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>
            <a:off x="1333500" y="2868066"/>
            <a:ext cx="9525000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1333500" y="4380458"/>
            <a:ext cx="9525000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1333500" y="5892849"/>
            <a:ext cx="9525000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6BA420-4900-E8E9-CCC6-1D991A833E63}"/>
              </a:ext>
            </a:extLst>
          </p:cNvPr>
          <p:cNvGrpSpPr/>
          <p:nvPr/>
        </p:nvGrpSpPr>
        <p:grpSpPr>
          <a:xfrm>
            <a:off x="1333500" y="1650950"/>
            <a:ext cx="9525000" cy="1226641"/>
            <a:chOff x="1333500" y="1650950"/>
            <a:chExt cx="9525000" cy="1226641"/>
          </a:xfrm>
        </p:grpSpPr>
        <p:sp>
          <p:nvSpPr>
            <p:cNvPr id="154" name="Google Shape;154;p18"/>
            <p:cNvSpPr/>
            <p:nvPr/>
          </p:nvSpPr>
          <p:spPr>
            <a:xfrm>
              <a:off x="1333500" y="1650950"/>
              <a:ext cx="9525000" cy="1226641"/>
            </a:xfrm>
            <a:prstGeom prst="roundRect">
              <a:avLst>
                <a:gd name="adj" fmla="val 9318"/>
              </a:avLst>
            </a:prstGeom>
            <a:solidFill>
              <a:srgbClr val="27272A"/>
            </a:solidFill>
            <a:ln w="9525" cap="flat" cmpd="sng">
              <a:solidFill>
                <a:srgbClr val="3F3F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1905000" y="1889075"/>
              <a:ext cx="8715375" cy="750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 err="1">
                  <a:solidFill>
                    <a:srgbClr val="F472B6"/>
                  </a:solidFill>
                  <a:latin typeface="Lato"/>
                  <a:ea typeface="Lato"/>
                  <a:cs typeface="Lato"/>
                  <a:sym typeface="Lato"/>
                </a:rPr>
                <a:t>ပြင်လို့မရတဲ</a:t>
              </a:r>
              <a:r>
                <a:rPr lang="en-US" sz="1800" b="1" i="0" u="none" strike="noStrike" cap="none" dirty="0">
                  <a:solidFill>
                    <a:srgbClr val="F472B6"/>
                  </a:solidFill>
                  <a:latin typeface="Lato"/>
                  <a:ea typeface="Lato"/>
                  <a:cs typeface="Lato"/>
                  <a:sym typeface="Lato"/>
                </a:rPr>
                <a:t>့ </a:t>
              </a:r>
              <a:r>
                <a:rPr lang="en-US" sz="1800" b="1" i="0" u="none" strike="noStrike" cap="none" dirty="0" err="1">
                  <a:solidFill>
                    <a:srgbClr val="F472B6"/>
                  </a:solidFill>
                  <a:latin typeface="Lato"/>
                  <a:ea typeface="Lato"/>
                  <a:cs typeface="Lato"/>
                  <a:sym typeface="Lato"/>
                </a:rPr>
                <a:t>သဘောတရား</a:t>
              </a:r>
              <a:r>
                <a:rPr lang="en-US" sz="1800" b="1" i="0" u="none" strike="noStrike" cap="none" dirty="0">
                  <a:solidFill>
                    <a:srgbClr val="F472B6"/>
                  </a:solidFill>
                  <a:latin typeface="Lato"/>
                  <a:ea typeface="Lato"/>
                  <a:cs typeface="Lato"/>
                  <a:sym typeface="Lato"/>
                </a:rPr>
                <a:t>: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Programming Language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တော်တော်များများ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(Python, Java, JavaScript)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တွေမှာ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String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တစ်ခု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ဖန်တီးပြီးရင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်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အထဲက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စာလုံးတွေကို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ပြန်ပြင်လို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့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မရပါဘူး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။</a:t>
              </a:r>
              <a:endParaRPr dirty="0"/>
            </a:p>
          </p:txBody>
        </p:sp>
        <p:pic>
          <p:nvPicPr>
            <p:cNvPr id="163" name="Google Shape;163;p18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533525" y="1960512"/>
              <a:ext cx="247650" cy="2952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6676417-A48E-1AF1-682C-5A24F8217251}"/>
              </a:ext>
            </a:extLst>
          </p:cNvPr>
          <p:cNvGrpSpPr/>
          <p:nvPr/>
        </p:nvGrpSpPr>
        <p:grpSpPr>
          <a:xfrm>
            <a:off x="1333500" y="3163341"/>
            <a:ext cx="9525000" cy="1226641"/>
            <a:chOff x="1333500" y="3163341"/>
            <a:chExt cx="9525000" cy="1226641"/>
          </a:xfrm>
        </p:grpSpPr>
        <p:sp>
          <p:nvSpPr>
            <p:cNvPr id="156" name="Google Shape;156;p18"/>
            <p:cNvSpPr/>
            <p:nvPr/>
          </p:nvSpPr>
          <p:spPr>
            <a:xfrm>
              <a:off x="1333500" y="3163341"/>
              <a:ext cx="9525000" cy="1226641"/>
            </a:xfrm>
            <a:prstGeom prst="roundRect">
              <a:avLst>
                <a:gd name="adj" fmla="val 9318"/>
              </a:avLst>
            </a:prstGeom>
            <a:solidFill>
              <a:srgbClr val="27272A"/>
            </a:solidFill>
            <a:ln w="9525" cap="flat" cmpd="sng">
              <a:solidFill>
                <a:srgbClr val="3F3F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1905000" y="3401466"/>
              <a:ext cx="8715375" cy="750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2DD4BF"/>
                  </a:solidFill>
                  <a:latin typeface="Lato"/>
                  <a:ea typeface="Lato"/>
                  <a:cs typeface="Lato"/>
                  <a:sym typeface="Lato"/>
                </a:rPr>
                <a:t>Memory </a:t>
              </a:r>
              <a:r>
                <a:rPr lang="en-US" sz="1800" b="1" i="0" u="none" strike="noStrike" cap="none" dirty="0" err="1">
                  <a:solidFill>
                    <a:srgbClr val="2DD4BF"/>
                  </a:solidFill>
                  <a:latin typeface="Lato"/>
                  <a:ea typeface="Lato"/>
                  <a:cs typeface="Lato"/>
                  <a:sym typeface="Lato"/>
                </a:rPr>
                <a:t>အလုပ်လုပ်ပုံ</a:t>
              </a:r>
              <a:r>
                <a:rPr lang="en-US" sz="1800" b="1" i="0" u="none" strike="noStrike" cap="none" dirty="0">
                  <a:solidFill>
                    <a:srgbClr val="2DD4BF"/>
                  </a:solidFill>
                  <a:latin typeface="Lato"/>
                  <a:ea typeface="Lato"/>
                  <a:cs typeface="Lato"/>
                  <a:sym typeface="Lato"/>
                </a:rPr>
                <a:t>: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ဥပမာ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"Hello"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ကို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"Jello"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ပြောင်းချင်ရင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် H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နေရာမှာ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J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အစားထိုးလို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့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မရဘဲ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Memory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ထဲမှာ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"Jello"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ဆိုတဲ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့ </a:t>
              </a:r>
              <a:r>
                <a:rPr lang="en-US" sz="1800" b="1" i="0" u="none" strike="noStrike" cap="none" dirty="0">
                  <a:solidFill>
                    <a:srgbClr val="F4F4F5"/>
                  </a:solidFill>
                  <a:latin typeface="Lato"/>
                  <a:ea typeface="Lato"/>
                  <a:cs typeface="Lato"/>
                  <a:sym typeface="Lato"/>
                </a:rPr>
                <a:t>String </a:t>
              </a:r>
              <a:r>
                <a:rPr lang="en-US" sz="1800" b="1" i="0" u="none" strike="noStrike" cap="none" dirty="0" err="1">
                  <a:solidFill>
                    <a:srgbClr val="F4F4F5"/>
                  </a:solidFill>
                  <a:latin typeface="Lato"/>
                  <a:ea typeface="Lato"/>
                  <a:cs typeface="Lato"/>
                  <a:sym typeface="Lato"/>
                </a:rPr>
                <a:t>အသစ</a:t>
              </a:r>
              <a:r>
                <a:rPr lang="en-US" sz="1800" b="1" i="0" u="none" strike="noStrike" cap="none" dirty="0">
                  <a:solidFill>
                    <a:srgbClr val="F4F4F5"/>
                  </a:solidFill>
                  <a:latin typeface="Lato"/>
                  <a:ea typeface="Lato"/>
                  <a:cs typeface="Lato"/>
                  <a:sym typeface="Lato"/>
                </a:rPr>
                <a:t>်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တစ်ခု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ထပ်ဆောက်သွားတာပ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ါ။</a:t>
              </a:r>
              <a:endParaRPr dirty="0"/>
            </a:p>
          </p:txBody>
        </p:sp>
        <p:pic>
          <p:nvPicPr>
            <p:cNvPr id="164" name="Google Shape;164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533525" y="3472904"/>
              <a:ext cx="323850" cy="2952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91CCF4A-4002-D2FC-2A59-D5796F20A8D0}"/>
              </a:ext>
            </a:extLst>
          </p:cNvPr>
          <p:cNvGrpSpPr/>
          <p:nvPr/>
        </p:nvGrpSpPr>
        <p:grpSpPr>
          <a:xfrm>
            <a:off x="1333500" y="4675733"/>
            <a:ext cx="9525000" cy="1226641"/>
            <a:chOff x="1333500" y="4675733"/>
            <a:chExt cx="9525000" cy="1226641"/>
          </a:xfrm>
        </p:grpSpPr>
        <p:sp>
          <p:nvSpPr>
            <p:cNvPr id="158" name="Google Shape;158;p18"/>
            <p:cNvSpPr/>
            <p:nvPr/>
          </p:nvSpPr>
          <p:spPr>
            <a:xfrm>
              <a:off x="1333500" y="4675733"/>
              <a:ext cx="9525000" cy="1226641"/>
            </a:xfrm>
            <a:prstGeom prst="roundRect">
              <a:avLst>
                <a:gd name="adj" fmla="val 9318"/>
              </a:avLst>
            </a:prstGeom>
            <a:solidFill>
              <a:srgbClr val="27272A"/>
            </a:solidFill>
            <a:ln w="9525" cap="flat" cmpd="sng">
              <a:solidFill>
                <a:srgbClr val="3F3F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8"/>
            <p:cNvSpPr txBox="1"/>
            <p:nvPr/>
          </p:nvSpPr>
          <p:spPr>
            <a:xfrm>
              <a:off x="1905000" y="4892086"/>
              <a:ext cx="8715375" cy="750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 err="1">
                  <a:solidFill>
                    <a:srgbClr val="C084FC"/>
                  </a:solidFill>
                  <a:latin typeface="Lato"/>
                  <a:ea typeface="Lato"/>
                  <a:cs typeface="Lato"/>
                  <a:sym typeface="Lato"/>
                </a:rPr>
                <a:t>အားသာချက</a:t>
              </a:r>
              <a:r>
                <a:rPr lang="en-US" sz="1800" b="1" i="0" u="none" strike="noStrike" cap="none" dirty="0">
                  <a:solidFill>
                    <a:srgbClr val="C084FC"/>
                  </a:solidFill>
                  <a:latin typeface="Lato"/>
                  <a:ea typeface="Lato"/>
                  <a:cs typeface="Lato"/>
                  <a:sym typeface="Lato"/>
                </a:rPr>
                <a:t>်: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ဒီလို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ပြင်လို့မရတဲ့အတွက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် Security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ပိုင်းမှာ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ပိုလုံခြုံပြီး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Multi-threading (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အလုပ်တွေ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ပြိုင်တူလုပ်တဲ့အခ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ါ) Error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တက်နိုင်ချေ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နည်းသွားပါတယ</a:t>
              </a:r>
              <a:r>
                <a:rPr lang="en-US" sz="1800" b="0" i="0" u="none" strike="noStrike" cap="none" dirty="0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  <p:pic>
          <p:nvPicPr>
            <p:cNvPr id="165" name="Google Shape;165;p18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533525" y="4963523"/>
              <a:ext cx="247650" cy="2952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18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084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Strings are Immutable ⚠️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F215C5B-647D-AD40-D00C-5F119E33C374}"/>
              </a:ext>
            </a:extLst>
          </p:cNvPr>
          <p:cNvGrpSpPr/>
          <p:nvPr/>
        </p:nvGrpSpPr>
        <p:grpSpPr>
          <a:xfrm>
            <a:off x="581025" y="1790104"/>
            <a:ext cx="3486150" cy="4258865"/>
            <a:chOff x="581025" y="1790104"/>
            <a:chExt cx="3486150" cy="425886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742B171-5B31-2255-2D9A-1462DD1C83B9}"/>
                </a:ext>
              </a:extLst>
            </p:cNvPr>
            <p:cNvGrpSpPr/>
            <p:nvPr/>
          </p:nvGrpSpPr>
          <p:grpSpPr>
            <a:xfrm>
              <a:off x="581025" y="1790104"/>
              <a:ext cx="3486150" cy="4258865"/>
              <a:chOff x="581025" y="1790104"/>
              <a:chExt cx="3486150" cy="4258865"/>
            </a:xfrm>
          </p:grpSpPr>
          <p:pic>
            <p:nvPicPr>
              <p:cNvPr id="172" name="Google Shape;172;p19" descr="image.p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81025" y="1790104"/>
                <a:ext cx="3486150" cy="425886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5" name="Google Shape;175;p19" descr="image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876300" y="2133004"/>
                <a:ext cx="666750" cy="6667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6" name="Google Shape;176;p19"/>
              <p:cNvSpPr txBox="1"/>
              <p:nvPr/>
            </p:nvSpPr>
            <p:spPr>
              <a:xfrm>
                <a:off x="876300" y="3037879"/>
                <a:ext cx="910113" cy="371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950" b="0" i="0" u="none" strike="noStrike" cap="none" dirty="0">
                    <a:solidFill>
                      <a:srgbClr val="F4F4F5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Length</a:t>
                </a:r>
                <a:endParaRPr dirty="0"/>
              </a:p>
            </p:txBody>
          </p:sp>
          <p:sp>
            <p:nvSpPr>
              <p:cNvPr id="177" name="Google Shape;177;p19"/>
              <p:cNvSpPr txBox="1"/>
              <p:nvPr/>
            </p:nvSpPr>
            <p:spPr>
              <a:xfrm>
                <a:off x="876300" y="3552229"/>
                <a:ext cx="2895600" cy="16758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4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D4D4D8"/>
                    </a:solidFill>
                    <a:latin typeface="Lato"/>
                    <a:ea typeface="Lato"/>
                    <a:cs typeface="Lato"/>
                    <a:sym typeface="Lato"/>
                  </a:rPr>
                  <a:t>String </a:t>
                </a:r>
                <a:r>
                  <a:rPr lang="en-US" sz="1650" b="0" i="0" u="none" strike="noStrike" cap="none" dirty="0" err="1">
                    <a:solidFill>
                      <a:srgbClr val="D4D4D8"/>
                    </a:solidFill>
                    <a:latin typeface="Lato"/>
                    <a:ea typeface="Lato"/>
                    <a:cs typeface="Lato"/>
                    <a:sym typeface="Lato"/>
                  </a:rPr>
                  <a:t>ရဲ</a:t>
                </a:r>
                <a:r>
                  <a:rPr lang="en-US" sz="1650" b="0" i="0" u="none" strike="noStrike" cap="none" dirty="0">
                    <a:solidFill>
                      <a:srgbClr val="D4D4D8"/>
                    </a:solidFill>
                    <a:latin typeface="Lato"/>
                    <a:ea typeface="Lato"/>
                    <a:cs typeface="Lato"/>
                    <a:sym typeface="Lato"/>
                  </a:rPr>
                  <a:t>့ </a:t>
                </a:r>
                <a:r>
                  <a:rPr lang="en-US" sz="1650" b="0" i="0" u="none" strike="noStrike" cap="none" dirty="0" err="1">
                    <a:solidFill>
                      <a:srgbClr val="D4D4D8"/>
                    </a:solidFill>
                    <a:latin typeface="Lato"/>
                    <a:ea typeface="Lato"/>
                    <a:cs typeface="Lato"/>
                    <a:sym typeface="Lato"/>
                  </a:rPr>
                  <a:t>အရှည်ကို</a:t>
                </a:r>
                <a:r>
                  <a:rPr lang="en-US" sz="1650" b="0" i="0" u="none" strike="noStrike" cap="none" dirty="0">
                    <a:solidFill>
                      <a:srgbClr val="D4D4D8"/>
                    </a:solidFill>
                    <a:latin typeface="Lato"/>
                    <a:ea typeface="Lato"/>
                    <a:cs typeface="Lato"/>
                    <a:sym typeface="Lato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D4D4D8"/>
                    </a:solidFill>
                    <a:latin typeface="Lato"/>
                    <a:ea typeface="Lato"/>
                    <a:cs typeface="Lato"/>
                    <a:sym typeface="Lato"/>
                  </a:rPr>
                  <a:t>တိုင်းတာပ</a:t>
                </a:r>
                <a:r>
                  <a:rPr lang="en-US" sz="1650" b="0" i="0" u="none" strike="noStrike" cap="none" dirty="0">
                    <a:solidFill>
                      <a:srgbClr val="D4D4D8"/>
                    </a:solidFill>
                    <a:latin typeface="Lato"/>
                    <a:ea typeface="Lato"/>
                    <a:cs typeface="Lato"/>
                    <a:sym typeface="Lato"/>
                  </a:rPr>
                  <a:t>ါ။ </a:t>
                </a:r>
                <a:r>
                  <a:rPr lang="en-US" sz="1650" b="0" i="0" u="none" strike="noStrike" cap="none" dirty="0" err="1">
                    <a:solidFill>
                      <a:srgbClr val="D4D4D8"/>
                    </a:solidFill>
                    <a:latin typeface="Lato"/>
                    <a:ea typeface="Lato"/>
                    <a:cs typeface="Lato"/>
                    <a:sym typeface="Lato"/>
                  </a:rPr>
                  <a:t>စာလုံး</a:t>
                </a:r>
                <a:r>
                  <a:rPr lang="en-US" sz="1650" b="0" i="0" u="none" strike="noStrike" cap="none" dirty="0">
                    <a:solidFill>
                      <a:srgbClr val="D4D4D8"/>
                    </a:solidFill>
                    <a:latin typeface="Lato"/>
                    <a:ea typeface="Lato"/>
                    <a:cs typeface="Lato"/>
                    <a:sym typeface="Lato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D4D4D8"/>
                    </a:solidFill>
                    <a:latin typeface="Lato"/>
                    <a:ea typeface="Lato"/>
                    <a:cs typeface="Lato"/>
                    <a:sym typeface="Lato"/>
                  </a:rPr>
                  <a:t>ဘယ်နှလုံး</a:t>
                </a:r>
                <a:r>
                  <a:rPr lang="en-US" sz="1650" b="0" i="0" u="none" strike="noStrike" cap="none" dirty="0">
                    <a:solidFill>
                      <a:srgbClr val="D4D4D8"/>
                    </a:solidFill>
                    <a:latin typeface="Lato"/>
                    <a:ea typeface="Lato"/>
                    <a:cs typeface="Lato"/>
                    <a:sym typeface="Lato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D4D4D8"/>
                    </a:solidFill>
                    <a:latin typeface="Lato"/>
                    <a:ea typeface="Lato"/>
                    <a:cs typeface="Lato"/>
                    <a:sym typeface="Lato"/>
                  </a:rPr>
                  <a:t>ပါလဲဆိုတာကို</a:t>
                </a:r>
                <a:r>
                  <a:rPr lang="en-US" sz="1650" b="0" i="0" u="none" strike="noStrike" cap="none" dirty="0">
                    <a:solidFill>
                      <a:srgbClr val="D4D4D8"/>
                    </a:solidFill>
                    <a:latin typeface="Lato"/>
                    <a:ea typeface="Lato"/>
                    <a:cs typeface="Lato"/>
                    <a:sym typeface="Lato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D4D4D8"/>
                    </a:solidFill>
                    <a:latin typeface="Lato"/>
                    <a:ea typeface="Lato"/>
                    <a:cs typeface="Lato"/>
                    <a:sym typeface="Lato"/>
                  </a:rPr>
                  <a:t>ရှာပေးပါတယ</a:t>
                </a:r>
                <a:r>
                  <a:rPr lang="en-US" sz="1650" b="0" i="0" u="none" strike="noStrike" cap="none" dirty="0">
                    <a:solidFill>
                      <a:srgbClr val="D4D4D8"/>
                    </a:solidFill>
                    <a:latin typeface="Lato"/>
                    <a:ea typeface="Lato"/>
                    <a:cs typeface="Lato"/>
                    <a:sym typeface="Lato"/>
                  </a:rPr>
                  <a:t>်။ </a:t>
                </a:r>
                <a:br>
                  <a:rPr lang="en-US"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US"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endParaRPr dirty="0"/>
              </a:p>
            </p:txBody>
          </p:sp>
          <p:pic>
            <p:nvPicPr>
              <p:cNvPr id="184" name="Google Shape;184;p19" descr="image.png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947737" y="2256829"/>
                <a:ext cx="523875" cy="419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85" name="Google Shape;185;p19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76300" y="4902398"/>
              <a:ext cx="2000250" cy="342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EF4E9F7-32A8-D09E-8C96-BA42348910C0}"/>
              </a:ext>
            </a:extLst>
          </p:cNvPr>
          <p:cNvGrpSpPr/>
          <p:nvPr/>
        </p:nvGrpSpPr>
        <p:grpSpPr>
          <a:xfrm>
            <a:off x="4352925" y="1790104"/>
            <a:ext cx="3486150" cy="4258865"/>
            <a:chOff x="4352925" y="1790104"/>
            <a:chExt cx="3486150" cy="4258865"/>
          </a:xfrm>
        </p:grpSpPr>
        <p:pic>
          <p:nvPicPr>
            <p:cNvPr id="173" name="Google Shape;173;p19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352925" y="1790104"/>
              <a:ext cx="3486150" cy="4258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19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648200" y="2133004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9"/>
            <p:cNvSpPr txBox="1"/>
            <p:nvPr/>
          </p:nvSpPr>
          <p:spPr>
            <a:xfrm>
              <a:off x="4648200" y="3037879"/>
              <a:ext cx="2010251" cy="371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>
                  <a:solidFill>
                    <a:srgbClr val="F4F4F5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Concatenation</a:t>
              </a:r>
              <a:endParaRPr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4648200" y="3552229"/>
              <a:ext cx="2895600" cy="167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String နှစ်ခု သို့မဟုတ် အများကြီးကို တစ်ဆက်တည်း ဖြစ်အောင် ဆက်ပေးတာပါ။ 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/>
            </a:p>
          </p:txBody>
        </p:sp>
        <p:pic>
          <p:nvPicPr>
            <p:cNvPr id="186" name="Google Shape;186;p19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719637" y="2256829"/>
              <a:ext cx="523875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9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648200" y="4902398"/>
              <a:ext cx="2343150" cy="342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9F842FA-C6C1-C08D-3790-1C4DD5F7B234}"/>
              </a:ext>
            </a:extLst>
          </p:cNvPr>
          <p:cNvGrpSpPr/>
          <p:nvPr/>
        </p:nvGrpSpPr>
        <p:grpSpPr>
          <a:xfrm>
            <a:off x="8124825" y="1790104"/>
            <a:ext cx="3486150" cy="4258865"/>
            <a:chOff x="8124825" y="1790104"/>
            <a:chExt cx="3486150" cy="4258865"/>
          </a:xfrm>
        </p:grpSpPr>
        <p:pic>
          <p:nvPicPr>
            <p:cNvPr id="174" name="Google Shape;174;p19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8124825" y="1790104"/>
              <a:ext cx="3486150" cy="4258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19" descr="image.png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8420100" y="2133004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19"/>
            <p:cNvSpPr txBox="1"/>
            <p:nvPr/>
          </p:nvSpPr>
          <p:spPr>
            <a:xfrm>
              <a:off x="8420100" y="3037879"/>
              <a:ext cx="1290161" cy="371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>
                  <a:solidFill>
                    <a:srgbClr val="F4F4F5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Substring</a:t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8420100" y="3552229"/>
              <a:ext cx="2895600" cy="2010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String အရှည်ကြီးထဲကနေ ကိုယ်လိုချင်တဲ့ အပိုင်းလေးကိုပဲ ဖြတ်ယူတာပါ။ 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/>
            </a:p>
          </p:txBody>
        </p:sp>
        <p:pic>
          <p:nvPicPr>
            <p:cNvPr id="188" name="Google Shape;188;p19" descr="image.png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8543925" y="2256829"/>
              <a:ext cx="4191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9" descr="image.png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8420100" y="4902398"/>
              <a:ext cx="2352675" cy="6780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19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084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အသုံးအများဆုံး လုပ်ဆောင်ချက်များ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143125"/>
            <a:ext cx="1102995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084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Operation Time Complexity (Big O)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185987"/>
            <a:ext cx="11029950" cy="3467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p21"/>
          <p:cNvGraphicFramePr/>
          <p:nvPr>
            <p:extLst>
              <p:ext uri="{D42A27DB-BD31-4B8C-83A1-F6EECF244321}">
                <p14:modId xmlns:p14="http://schemas.microsoft.com/office/powerpoint/2010/main" val="862580368"/>
              </p:ext>
            </p:extLst>
          </p:nvPr>
        </p:nvGraphicFramePr>
        <p:xfrm>
          <a:off x="590550" y="2195512"/>
          <a:ext cx="11010900" cy="3448000"/>
        </p:xfrm>
        <a:graphic>
          <a:graphicData uri="http://schemas.openxmlformats.org/drawingml/2006/table">
            <a:tbl>
              <a:tblPr firstRow="1" bandRow="1">
                <a:noFill/>
                <a:tableStyleId>{F5131C57-C752-468E-A7FB-CFA51B31B639}</a:tableStyleId>
              </a:tblPr>
              <a:tblGrid>
                <a:gridCol w="251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C084FC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Method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C084FC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လုပ်ဆောင်ချက်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C084FC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ဥပမာ ရလဒ်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toUpperCase()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စာလုံးအကြီး ပြောင်းပေးခြင်း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"APPLE"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split(",")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သတ်မှတ်ထားသော စာလုံးဖြင့် ဖြတ်တောက်ခြင်း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['a', 'b', 'c']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replace("a","b")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စာလုံးတစ်ခုကို နောက်တစ်ခုနှင့် အစားထိုးခြင်း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"Hello" -&gt; "Jello"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trim()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ရှေ့နှင့် နောက်မှ Space အလွတ်များကို ဖျက်ခြင်း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 Hi " -&gt; "Hi"</a:t>
                      </a:r>
                      <a:endParaRPr dirty="0">
                        <a:solidFill>
                          <a:schemeClr val="accen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7" name="Google Shape;207;p21"/>
          <p:cNvSpPr/>
          <p:nvPr/>
        </p:nvSpPr>
        <p:spPr>
          <a:xfrm>
            <a:off x="590550" y="2886075"/>
            <a:ext cx="2514153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3104703" y="2886075"/>
            <a:ext cx="5746849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8851552" y="2886075"/>
            <a:ext cx="2749897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90550" y="3571875"/>
            <a:ext cx="2514153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3104703" y="3571875"/>
            <a:ext cx="5746849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8851552" y="3571875"/>
            <a:ext cx="2749897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90550" y="4257675"/>
            <a:ext cx="2514153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3104703" y="4257675"/>
            <a:ext cx="5746849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8851552" y="4257675"/>
            <a:ext cx="2749897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90550" y="4943475"/>
            <a:ext cx="2514153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3104703" y="4943475"/>
            <a:ext cx="5746849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8851552" y="4943475"/>
            <a:ext cx="2749897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90550" y="5629275"/>
            <a:ext cx="2514153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084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Common String Methods (Built-in)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FF5A11F-1587-E122-E26B-DA34CE201761}"/>
              </a:ext>
            </a:extLst>
          </p:cNvPr>
          <p:cNvGrpSpPr/>
          <p:nvPr/>
        </p:nvGrpSpPr>
        <p:grpSpPr>
          <a:xfrm>
            <a:off x="6334125" y="2023467"/>
            <a:ext cx="5540692" cy="1634132"/>
            <a:chOff x="6334125" y="2023467"/>
            <a:chExt cx="5540692" cy="1634132"/>
          </a:xfrm>
        </p:grpSpPr>
        <p:sp>
          <p:nvSpPr>
            <p:cNvPr id="226" name="Google Shape;226;p22"/>
            <p:cNvSpPr txBox="1"/>
            <p:nvPr/>
          </p:nvSpPr>
          <p:spPr>
            <a:xfrm>
              <a:off x="6334125" y="2023467"/>
              <a:ext cx="5540692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 dirty="0">
                  <a:solidFill>
                    <a:srgbClr val="2DD4B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1. Palindrome</a:t>
              </a:r>
              <a:endParaRPr dirty="0"/>
            </a:p>
          </p:txBody>
        </p:sp>
        <p:sp>
          <p:nvSpPr>
            <p:cNvPr id="227" name="Google Shape;227;p22"/>
            <p:cNvSpPr txBox="1"/>
            <p:nvPr/>
          </p:nvSpPr>
          <p:spPr>
            <a:xfrm>
              <a:off x="6334125" y="2652117"/>
              <a:ext cx="527685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ရှေ့ကနေ ဖတ်ဖတ်၊ နောက်ကနေ ဖတ်ဖတ် စာလုံးပေါင်း အတူတူပဲဖြစ်နေတဲ့ စာသားတွေကို ခေါ်ပါတယ်။ (ဥပမာ - </a:t>
              </a:r>
              <a:r>
                <a:rPr lang="en-US" sz="1650" b="1" i="0" u="none" strike="noStrike" cap="none">
                  <a:solidFill>
                    <a:srgbClr val="C084FC"/>
                  </a:solidFill>
                  <a:latin typeface="Lato"/>
                  <a:ea typeface="Lato"/>
                  <a:cs typeface="Lato"/>
                  <a:sym typeface="Lato"/>
                </a:rPr>
                <a:t>"racecar"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, </a:t>
              </a:r>
              <a:r>
                <a:rPr lang="en-US" sz="1650" b="1" i="0" u="none" strike="noStrike" cap="none">
                  <a:solidFill>
                    <a:srgbClr val="C084FC"/>
                  </a:solidFill>
                  <a:latin typeface="Lato"/>
                  <a:ea typeface="Lato"/>
                  <a:cs typeface="Lato"/>
                  <a:sym typeface="Lato"/>
                </a:rPr>
                <a:t>"madam"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)</a:t>
              </a: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AE8C78E-780A-04F3-5A5D-474290E2B7BB}"/>
              </a:ext>
            </a:extLst>
          </p:cNvPr>
          <p:cNvGrpSpPr/>
          <p:nvPr/>
        </p:nvGrpSpPr>
        <p:grpSpPr>
          <a:xfrm>
            <a:off x="6334125" y="4038600"/>
            <a:ext cx="5540692" cy="1634132"/>
            <a:chOff x="6334125" y="4038600"/>
            <a:chExt cx="5540692" cy="1634132"/>
          </a:xfrm>
        </p:grpSpPr>
        <p:sp>
          <p:nvSpPr>
            <p:cNvPr id="228" name="Google Shape;228;p22"/>
            <p:cNvSpPr txBox="1"/>
            <p:nvPr/>
          </p:nvSpPr>
          <p:spPr>
            <a:xfrm>
              <a:off x="6334125" y="4038600"/>
              <a:ext cx="5540692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 dirty="0">
                  <a:solidFill>
                    <a:srgbClr val="F472B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2. Anagram</a:t>
              </a:r>
              <a:endParaRPr dirty="0"/>
            </a:p>
          </p:txBody>
        </p:sp>
        <p:sp>
          <p:nvSpPr>
            <p:cNvPr id="229" name="Google Shape;229;p22"/>
            <p:cNvSpPr txBox="1"/>
            <p:nvPr/>
          </p:nvSpPr>
          <p:spPr>
            <a:xfrm>
              <a:off x="6334125" y="4667250"/>
              <a:ext cx="527685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စာလုံးတွေကို နေရာရွှေ့ပြီး အဓိပ္ပာယ်ရှိတဲ့ စာလုံးအသစ် ပြောင်းရေးတာကို ခေါ်ပါတယ်။ (ဥပမာ - </a:t>
              </a:r>
              <a:r>
                <a:rPr lang="en-US" sz="1650" b="1" i="0" u="none" strike="noStrike" cap="none">
                  <a:solidFill>
                    <a:srgbClr val="C084FC"/>
                  </a:solidFill>
                  <a:latin typeface="Lato"/>
                  <a:ea typeface="Lato"/>
                  <a:cs typeface="Lato"/>
                  <a:sym typeface="Lato"/>
                </a:rPr>
                <a:t>"listen"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ကို နေရာရွှေ့ရင် </a:t>
              </a:r>
              <a:r>
                <a:rPr lang="en-US" sz="1650" b="1" i="0" u="none" strike="noStrike" cap="none">
                  <a:solidFill>
                    <a:srgbClr val="C084FC"/>
                  </a:solidFill>
                  <a:latin typeface="Lato"/>
                  <a:ea typeface="Lato"/>
                  <a:cs typeface="Lato"/>
                  <a:sym typeface="Lato"/>
                </a:rPr>
                <a:t>"silent"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Lato"/>
                  <a:ea typeface="Lato"/>
                  <a:cs typeface="Lato"/>
                  <a:sym typeface="Lato"/>
                </a:rPr>
                <a:t> ရပါတယ်။)</a:t>
              </a:r>
              <a:endParaRPr/>
            </a:p>
          </p:txBody>
        </p:sp>
      </p:grpSp>
      <p:sp>
        <p:nvSpPr>
          <p:cNvPr id="230" name="Google Shape;230;p22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084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နာမည်ကြီး String ပြဿနာများ (Algorithms)</a:t>
            </a:r>
            <a:endParaRPr/>
          </a:p>
        </p:txBody>
      </p:sp>
      <p:pic>
        <p:nvPicPr>
          <p:cNvPr id="231" name="Google Shape;231;p22" descr="နာမည်ကြီး String ပြဿနာများ (Algorithms)&#10;1. Palindrome&#10;2. Anagram 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175" y="1473000"/>
            <a:ext cx="4876800" cy="4876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Shape 224">
          <a:extLst>
            <a:ext uri="{FF2B5EF4-FFF2-40B4-BE49-F238E27FC236}">
              <a16:creationId xmlns:a16="http://schemas.microsoft.com/office/drawing/2014/main" id="{F72C0149-D401-719D-05C0-5073D648C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>
            <a:extLst>
              <a:ext uri="{FF2B5EF4-FFF2-40B4-BE49-F238E27FC236}">
                <a16:creationId xmlns:a16="http://schemas.microsoft.com/office/drawing/2014/main" id="{AB8D5EA1-F22A-4DE1-93F5-EE7CCD59CF7C}"/>
              </a:ext>
            </a:extLst>
          </p:cNvPr>
          <p:cNvSpPr txBox="1"/>
          <p:nvPr/>
        </p:nvSpPr>
        <p:spPr>
          <a:xfrm>
            <a:off x="581025" y="1344856"/>
            <a:ext cx="11046683" cy="493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Description: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Lato"/>
                <a:sym typeface="Lato"/>
              </a:rPr>
              <a:t>Write a function that takes a string as input and returns the string reversed. For example, if the input is “hello”, the output should be “</a:t>
            </a:r>
            <a:r>
              <a:rPr lang="en-US" sz="1600" dirty="0" err="1">
                <a:solidFill>
                  <a:schemeClr val="bg1"/>
                </a:solidFill>
                <a:latin typeface="Lato"/>
                <a:sym typeface="Lato"/>
              </a:rPr>
              <a:t>olleh</a:t>
            </a:r>
            <a:r>
              <a:rPr lang="en-US" sz="1600" dirty="0">
                <a:solidFill>
                  <a:schemeClr val="bg1"/>
                </a:solidFill>
                <a:latin typeface="Lato"/>
                <a:sym typeface="Lato"/>
              </a:rPr>
              <a:t>”.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50" dirty="0">
              <a:solidFill>
                <a:schemeClr val="bg1"/>
              </a:solidFill>
              <a:latin typeface="Lato"/>
              <a:sym typeface="Lato"/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Important Constraints:</a:t>
            </a:r>
          </a:p>
          <a:p>
            <a:r>
              <a:rPr lang="en-US" sz="1600" dirty="0">
                <a:solidFill>
                  <a:schemeClr val="bg1"/>
                </a:solidFill>
              </a:rPr>
              <a:t>- Do NOT use Python's built-in string slicing trick (like `s[::-1]`).</a:t>
            </a:r>
          </a:p>
          <a:p>
            <a:r>
              <a:rPr lang="en-US" sz="1600" dirty="0">
                <a:solidFill>
                  <a:schemeClr val="bg1"/>
                </a:solidFill>
              </a:rPr>
              <a:t>- Do NOT use the built-in `reversed()` function.</a:t>
            </a:r>
          </a:p>
          <a:p>
            <a:r>
              <a:rPr lang="en-US" sz="1600" dirty="0">
                <a:solidFill>
                  <a:schemeClr val="bg1"/>
                </a:solidFill>
              </a:rPr>
              <a:t>- Try to iterate through the string and build the reversed string manually!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Example 1:</a:t>
            </a:r>
          </a:p>
          <a:p>
            <a:r>
              <a:rPr lang="en-US" sz="1600" dirty="0">
                <a:solidFill>
                  <a:schemeClr val="bg1"/>
                </a:solidFill>
              </a:rPr>
              <a:t>Input: "hello"</a:t>
            </a:r>
          </a:p>
          <a:p>
            <a:r>
              <a:rPr lang="en-US" sz="1600" dirty="0">
                <a:solidFill>
                  <a:schemeClr val="bg1"/>
                </a:solidFill>
              </a:rPr>
              <a:t>Output: "</a:t>
            </a:r>
            <a:r>
              <a:rPr lang="en-US" sz="1600" dirty="0" err="1">
                <a:solidFill>
                  <a:schemeClr val="bg1"/>
                </a:solidFill>
              </a:rPr>
              <a:t>olleh</a:t>
            </a:r>
            <a:r>
              <a:rPr lang="en-US" sz="1600" dirty="0">
                <a:solidFill>
                  <a:schemeClr val="bg1"/>
                </a:solidFill>
              </a:rPr>
              <a:t>"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Example 2:</a:t>
            </a:r>
          </a:p>
          <a:p>
            <a:r>
              <a:rPr lang="en-US" sz="1600" dirty="0">
                <a:solidFill>
                  <a:schemeClr val="bg1"/>
                </a:solidFill>
              </a:rPr>
              <a:t>Input: "Data Structures"</a:t>
            </a:r>
          </a:p>
          <a:p>
            <a:r>
              <a:rPr lang="en-US" sz="1600" dirty="0">
                <a:solidFill>
                  <a:schemeClr val="bg1"/>
                </a:solidFill>
              </a:rPr>
              <a:t>Output: "</a:t>
            </a:r>
            <a:r>
              <a:rPr lang="en-US" sz="1600" dirty="0" err="1">
                <a:solidFill>
                  <a:schemeClr val="bg1"/>
                </a:solidFill>
              </a:rPr>
              <a:t>serutcurtS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ataD</a:t>
            </a:r>
            <a:r>
              <a:rPr lang="en-US" sz="1600" dirty="0">
                <a:solidFill>
                  <a:schemeClr val="bg1"/>
                </a:solidFill>
              </a:rPr>
              <a:t>"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Example 3:</a:t>
            </a:r>
          </a:p>
          <a:p>
            <a:r>
              <a:rPr lang="en-US" sz="1600" dirty="0">
                <a:solidFill>
                  <a:schemeClr val="bg1"/>
                </a:solidFill>
              </a:rPr>
              <a:t>Input: "racecar"</a:t>
            </a:r>
          </a:p>
          <a:p>
            <a:r>
              <a:rPr lang="en-US" sz="1600" dirty="0">
                <a:solidFill>
                  <a:schemeClr val="bg1"/>
                </a:solidFill>
              </a:rPr>
              <a:t>Output: "racecar"</a:t>
            </a:r>
          </a:p>
        </p:txBody>
      </p:sp>
      <p:sp>
        <p:nvSpPr>
          <p:cNvPr id="230" name="Google Shape;230;p22">
            <a:extLst>
              <a:ext uri="{FF2B5EF4-FFF2-40B4-BE49-F238E27FC236}">
                <a16:creationId xmlns:a16="http://schemas.microsoft.com/office/drawing/2014/main" id="{2464FFA5-1ED1-505D-F455-3A186535019B}"/>
              </a:ext>
            </a:extLst>
          </p:cNvPr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C084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Reverse a String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4957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7|30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28.3|26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18.2|25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24.2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1130</Words>
  <Application>Microsoft Macintosh PowerPoint</Application>
  <PresentationFormat>Widescreen</PresentationFormat>
  <Paragraphs>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Poppins</vt:lpstr>
      <vt:lpstr>Fira Code</vt:lpstr>
      <vt:lpstr>Lato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5</cp:revision>
  <dcterms:modified xsi:type="dcterms:W3CDTF">2026-04-06T15:46:27Z</dcterms:modified>
</cp:coreProperties>
</file>