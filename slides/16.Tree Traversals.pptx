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8" r:id="rId12"/>
    <p:sldId id="264" r:id="rId13"/>
    <p:sldId id="265" r:id="rId14"/>
  </p:sldIdLst>
  <p:sldSz cx="12192000" cy="6858000"/>
  <p:notesSz cx="6858000" cy="9144000"/>
  <p:embeddedFontLst>
    <p:embeddedFont>
      <p:font typeface="Fira Code" panose="020B0809050000020004" pitchFamily="49" charset="0"/>
      <p:regular r:id="rId16"/>
      <p:bold r:id="rId17"/>
    </p:embeddedFont>
    <p:embeddedFont>
      <p:font typeface="Noto Sans Myanmar" panose="020B0502040504020204" pitchFamily="34" charset="0"/>
      <p:regular r:id="rId18"/>
      <p:bold r:id="rId19"/>
    </p:embeddedFont>
    <p:embeddedFont>
      <p:font typeface="Poppins" pitchFamily="2" charset="77"/>
      <p:regular r:id="rId20"/>
      <p:bold r:id="rId21"/>
      <p:italic r:id="rId22"/>
      <p:boldItalic r:id="rId23"/>
    </p:embeddedFont>
    <p:embeddedFont>
      <p:font typeface="Poppins SemiBold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1C15F4-F767-4498-8302-2EB9A20009FD}">
  <a:tblStyle styleId="{9E1C15F4-F767-4498-8302-2EB9A20009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/>
    <p:restoredTop sz="94670"/>
  </p:normalViewPr>
  <p:slideViewPr>
    <p:cSldViewPr snapToGrid="0">
      <p:cViewPr varScale="1">
        <p:scale>
          <a:sx n="117" d="100"/>
          <a:sy n="117" d="100"/>
        </p:scale>
        <p:origin x="96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0C28C202-7BB5-D0FD-E0A5-C8F1C436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9B91FADE-D928-2204-4250-B690AFF88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>
            <a:extLst>
              <a:ext uri="{FF2B5EF4-FFF2-40B4-BE49-F238E27FC236}">
                <a16:creationId xmlns:a16="http://schemas.microsoft.com/office/drawing/2014/main" id="{958D50CC-EF7E-E2CD-6525-13CFD24E1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1430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34AEEB81-0EC2-B776-6F82-0ED980CC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E5131487-A676-8973-856B-17BD95A7CD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FEC07F49-3EAC-3B0F-27E2-822C3A6D3D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6003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A09C1FD2-B376-1AA5-8974-64090B92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>
            <a:extLst>
              <a:ext uri="{FF2B5EF4-FFF2-40B4-BE49-F238E27FC236}">
                <a16:creationId xmlns:a16="http://schemas.microsoft.com/office/drawing/2014/main" id="{B72EC1AA-7FC1-1965-C9E1-44D57FD35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>
            <a:extLst>
              <a:ext uri="{FF2B5EF4-FFF2-40B4-BE49-F238E27FC236}">
                <a16:creationId xmlns:a16="http://schemas.microsoft.com/office/drawing/2014/main" id="{20A44905-40C2-6D3F-4AD2-E0C26A19D8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0880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31.png"/><Relationship Id="rId5" Type="http://schemas.openxmlformats.org/officeDocument/2006/relationships/image" Target="../media/image19.png"/><Relationship Id="rId4" Type="http://schemas.openxmlformats.org/officeDocument/2006/relationships/image" Target="../media/image26.png"/><Relationship Id="rId9" Type="http://schemas.openxmlformats.org/officeDocument/2006/relationships/image" Target="../media/image3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8.png"/><Relationship Id="rId5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image" Target="../media/image3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70446" y="1889819"/>
            <a:ext cx="8851106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Tree ကို ဘယ်လို ဖတ်မလဲ?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2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(Tree Traversals)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81187" y="3870494"/>
            <a:ext cx="8429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[ Inorder | Preorder | Postorder ]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442480B5-802D-4E22-0B36-6EA382DB07E4}"/>
              </a:ext>
            </a:extLst>
          </p:cNvPr>
          <p:cNvSpPr txBox="1"/>
          <p:nvPr/>
        </p:nvSpPr>
        <p:spPr>
          <a:xfrm>
            <a:off x="1809749" y="4467790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- 16 ]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04415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525553" y="2387054"/>
            <a:ext cx="7140892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Traversal ဆိုတာ ဘာလဲ?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911054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Tree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ထဲမှာရှိတဲ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Node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 err="1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အားလုံးဆီကို</a:t>
            </a:r>
            <a:r>
              <a:rPr lang="en-US" sz="1950" b="1" i="0" u="none" strike="noStrike" cap="none" dirty="0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 err="1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စည်းကမ်းတက</a:t>
            </a:r>
            <a:r>
              <a:rPr lang="en-US" sz="1950" b="1" i="0" u="none" strike="noStrike" cap="none" dirty="0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ျ </a:t>
            </a:r>
            <a:r>
              <a:rPr lang="en-US" sz="1950" b="1" i="0" u="none" strike="noStrike" cap="none" dirty="0" err="1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လိုက်လည</a:t>
            </a:r>
            <a:r>
              <a:rPr lang="en-US" sz="1950" b="1" i="0" u="none" strike="noStrike" cap="none" dirty="0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(Visit)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ပြီး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တစ်ခုမကျန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ထုတ်ယူတဲ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လုပ်ငန်းစဉ်ကို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ခေ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ပါတယ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1885951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Array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မှာဆိုရင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Data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တစ်တန်းတည်း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ရှိနေလို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Index 0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ကနေ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အဆုံးထိ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For loop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လေး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ပတ်ပြီး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လွယ်လွယ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ဖတ်လို့ရပါတယ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25DB59-8EB4-84CB-B7D1-47B2FDBAB8E0}"/>
              </a:ext>
            </a:extLst>
          </p:cNvPr>
          <p:cNvGrpSpPr/>
          <p:nvPr/>
        </p:nvGrpSpPr>
        <p:grpSpPr>
          <a:xfrm>
            <a:off x="581024" y="3364408"/>
            <a:ext cx="5276851" cy="670321"/>
            <a:chOff x="581024" y="3364408"/>
            <a:chExt cx="5276851" cy="670321"/>
          </a:xfrm>
        </p:grpSpPr>
        <p:sp>
          <p:nvSpPr>
            <p:cNvPr id="102" name="Google Shape;102;p15"/>
            <p:cNvSpPr txBox="1"/>
            <p:nvPr/>
          </p:nvSpPr>
          <p:spPr>
            <a:xfrm>
              <a:off x="1104900" y="3364408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Tree တွေမှာက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အထက်အောက် (Hierarchical)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ဖွဲ့စည်းထားတာပါ။</a:t>
              </a:r>
              <a:endParaRPr/>
            </a:p>
          </p:txBody>
        </p:sp>
        <p:pic>
          <p:nvPicPr>
            <p:cNvPr id="105" name="Google Shape;105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4" y="3470225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81C89D9-AC38-90ED-EA7E-6542035953DC}"/>
              </a:ext>
            </a:extLst>
          </p:cNvPr>
          <p:cNvGrpSpPr/>
          <p:nvPr/>
        </p:nvGrpSpPr>
        <p:grpSpPr>
          <a:xfrm>
            <a:off x="581024" y="4272855"/>
            <a:ext cx="5276851" cy="670321"/>
            <a:chOff x="581024" y="4272855"/>
            <a:chExt cx="5276851" cy="670321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1104900" y="4272855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Node တစ်ခုရောက်တိုင်း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လမ်းခွဲ (၂) ခု (Left နဲ့ Right)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ထပ်ထွက်နေပါတယ်။</a:t>
              </a:r>
              <a:endParaRPr/>
            </a:p>
          </p:txBody>
        </p:sp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4" y="4378672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0979A6D-7FF6-6AC7-D345-23F4BA89EC78}"/>
              </a:ext>
            </a:extLst>
          </p:cNvPr>
          <p:cNvGrpSpPr/>
          <p:nvPr/>
        </p:nvGrpSpPr>
        <p:grpSpPr>
          <a:xfrm>
            <a:off x="581024" y="5181302"/>
            <a:ext cx="5276851" cy="670321"/>
            <a:chOff x="581024" y="5181302"/>
            <a:chExt cx="5276851" cy="670321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5181302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ဒါကြောင့် ဘယ်လမ်းကို အရင်သွားမလဲဆိုတဲ့ </a:t>
              </a:r>
              <a:r>
                <a:rPr lang="en-US" sz="1650" b="1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စည်းမျဉ်း (Rules)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တွေ သတ်မှတ်ပေးရပါတယ်။</a:t>
              </a:r>
              <a:endParaRPr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4" y="5292625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5"/>
          <p:cNvSpPr txBox="1"/>
          <p:nvPr/>
        </p:nvSpPr>
        <p:spPr>
          <a:xfrm>
            <a:off x="581025" y="581025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လို ဖတ်လို့ မရဘူးလား? 🤔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1025" y="1638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&#10;Array လို ဖတ်လို့ မရဘူးလား? 🤔&#10;&#10;Array မှာဆိုရင် Data တွေက တစ်တန်းတည်း ရှိနေလို့ Index 0 ကနေ အဆုံးထိ For loop လေး ပတ်ပြီး လွယ်လွယ် ဖတ်လို့ရပါတယ်။&#10;&#10;Tree တွေမှာက အထက်အောက် (Hierarchical) ဖွဲ့စည်းထားတာပါ။&#10;&#10;Node တစ်ခုရောက်တိုင်း လမ်းခွဲ (၂) ခု (Left နဲ့ Right) ထပ်ထွက်နေပါတယ်။&#10;&#10;ဒါကြောင့် ဘယ်လမ်းကို အရင်သွားမလဲဆိုတဲ့ စည်းမျဉ်း (Rules) တွေ သတ်မှတ်ပေးရပါတယ်။&#10;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5925" y="132167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99F0B53-0325-C3F7-4778-06EC4EB4B809}"/>
              </a:ext>
            </a:extLst>
          </p:cNvPr>
          <p:cNvGrpSpPr/>
          <p:nvPr/>
        </p:nvGrpSpPr>
        <p:grpSpPr>
          <a:xfrm>
            <a:off x="581013" y="2770875"/>
            <a:ext cx="4963500" cy="2001150"/>
            <a:chOff x="581013" y="2770875"/>
            <a:chExt cx="4963500" cy="2001150"/>
          </a:xfrm>
        </p:grpSpPr>
        <p:pic>
          <p:nvPicPr>
            <p:cNvPr id="116" name="Google Shape;116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43508" y="4238625"/>
              <a:ext cx="283845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6"/>
            <p:cNvSpPr txBox="1"/>
            <p:nvPr/>
          </p:nvSpPr>
          <p:spPr>
            <a:xfrm>
              <a:off x="581013" y="2770875"/>
              <a:ext cx="4963500" cy="115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0" b="1" i="0" u="none" strike="noStrike" cap="none" dirty="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ROOT</a:t>
              </a:r>
              <a:endParaRPr dirty="0"/>
            </a:p>
          </p:txBody>
        </p:sp>
      </p:grpSp>
      <p:sp>
        <p:nvSpPr>
          <p:cNvPr id="118" name="Google Shape;118;p16"/>
          <p:cNvSpPr txBox="1"/>
          <p:nvPr/>
        </p:nvSpPr>
        <p:spPr>
          <a:xfrm>
            <a:off x="6115942" y="1993999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နာမည်ပေးထားပုံ လျှို့ဝှက်ချက်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125526" y="2575024"/>
            <a:ext cx="5495032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Traversal (၃)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မျိုးရဲ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နာမည်တွေဟာ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ကိုယ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ကိုယ်ကို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(Root/Parent)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ဘယ်အချိန်မှာ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ဖတ်မလဲ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?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ဆိုတာကို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အခြေခံပြီး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ပေးထားတာပ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354F38-1158-D169-DC1D-9EC931B70BB1}"/>
              </a:ext>
            </a:extLst>
          </p:cNvPr>
          <p:cNvGrpSpPr/>
          <p:nvPr/>
        </p:nvGrpSpPr>
        <p:grpSpPr>
          <a:xfrm>
            <a:off x="6115942" y="3913882"/>
            <a:ext cx="5495032" cy="335160"/>
            <a:chOff x="6115942" y="3913882"/>
            <a:chExt cx="5495032" cy="335160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6639817" y="3913882"/>
              <a:ext cx="4971157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In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-order: Root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အလယ်မှာ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(In)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ဖတ်မယ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23" name="Google Shape;123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15942" y="3979877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487F857-6924-6A49-E813-AA86764B0BC0}"/>
              </a:ext>
            </a:extLst>
          </p:cNvPr>
          <p:cNvGrpSpPr/>
          <p:nvPr/>
        </p:nvGrpSpPr>
        <p:grpSpPr>
          <a:xfrm>
            <a:off x="6115942" y="4487167"/>
            <a:ext cx="5495032" cy="670321"/>
            <a:chOff x="6115942" y="4487167"/>
            <a:chExt cx="5495032" cy="670321"/>
          </a:xfrm>
        </p:grpSpPr>
        <p:sp>
          <p:nvSpPr>
            <p:cNvPr id="121" name="Google Shape;121;p16"/>
            <p:cNvSpPr txBox="1"/>
            <p:nvPr/>
          </p:nvSpPr>
          <p:spPr>
            <a:xfrm>
              <a:off x="6639817" y="4487167"/>
              <a:ext cx="4971157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A855F7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Pre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-order: Root ကို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အစောဆုံး/ရှေ့ဆုံး (Pre)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မှာ ဖတ်မယ်။</a:t>
              </a:r>
              <a:endParaRPr/>
            </a:p>
          </p:txBody>
        </p:sp>
        <p:pic>
          <p:nvPicPr>
            <p:cNvPr id="124" name="Google Shape;124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115942" y="4564049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FFD57CC-4661-3648-BC79-F0FC8DA6C11D}"/>
              </a:ext>
            </a:extLst>
          </p:cNvPr>
          <p:cNvGrpSpPr/>
          <p:nvPr/>
        </p:nvGrpSpPr>
        <p:grpSpPr>
          <a:xfrm>
            <a:off x="6115942" y="5395614"/>
            <a:ext cx="5495032" cy="355829"/>
            <a:chOff x="6115942" y="5395614"/>
            <a:chExt cx="5495032" cy="355829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6639817" y="5395614"/>
              <a:ext cx="4971157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59E0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Post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-order: Root ကို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နောက်ဆုံး (Post)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မှ ဖတ်မယ်။</a:t>
              </a:r>
              <a:endParaRPr/>
            </a:p>
          </p:txBody>
        </p:sp>
        <p:pic>
          <p:nvPicPr>
            <p:cNvPr id="125" name="Google Shape;125;p1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115942" y="5494268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6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Root is the Key 🔑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81025" y="1343025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81025" y="581025"/>
            <a:ext cx="11581447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Depth-First Search (DFS) (</a:t>
            </a:r>
            <a:r>
              <a:rPr lang="en-US" sz="3300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r>
              <a:rPr lang="en-US" sz="330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) </a:t>
            </a:r>
            <a:r>
              <a:rPr lang="en-US" sz="3300" b="0" i="0" u="none" strike="noStrike" cap="none" dirty="0" err="1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မျိုး</a:t>
            </a:r>
            <a:endParaRPr dirty="0"/>
          </a:p>
        </p:txBody>
      </p:sp>
      <p:sp>
        <p:nvSpPr>
          <p:cNvPr id="158" name="Google Shape;158;p17"/>
          <p:cNvSpPr/>
          <p:nvPr/>
        </p:nvSpPr>
        <p:spPr>
          <a:xfrm>
            <a:off x="581025" y="1638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383C0D-390F-2C3E-CFB0-29D393CF2898}"/>
              </a:ext>
            </a:extLst>
          </p:cNvPr>
          <p:cNvGrpSpPr/>
          <p:nvPr/>
        </p:nvGrpSpPr>
        <p:grpSpPr>
          <a:xfrm>
            <a:off x="581025" y="2121396"/>
            <a:ext cx="3486150" cy="4015382"/>
            <a:chOff x="581025" y="2121396"/>
            <a:chExt cx="3486150" cy="401538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82E52EE-1FD4-4FCE-7B78-D090286A7DD6}"/>
                </a:ext>
              </a:extLst>
            </p:cNvPr>
            <p:cNvGrpSpPr/>
            <p:nvPr/>
          </p:nvGrpSpPr>
          <p:grpSpPr>
            <a:xfrm>
              <a:off x="581025" y="2121396"/>
              <a:ext cx="3486150" cy="4015382"/>
              <a:chOff x="581025" y="2121396"/>
              <a:chExt cx="3486150" cy="4015382"/>
            </a:xfrm>
          </p:grpSpPr>
          <p:pic>
            <p:nvPicPr>
              <p:cNvPr id="133" name="Google Shape;133;p17" descr="image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1025" y="2121396"/>
                <a:ext cx="3486150" cy="40153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6" name="Google Shape;136;p17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876300" y="2540496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" name="Google Shape;137;p17"/>
              <p:cNvSpPr txBox="1"/>
              <p:nvPr/>
            </p:nvSpPr>
            <p:spPr>
              <a:xfrm>
                <a:off x="876300" y="3540621"/>
                <a:ext cx="1270158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>
                    <a:solidFill>
                      <a:srgbClr val="10B98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1. Inorder</a:t>
                </a:r>
                <a:endParaRPr/>
              </a:p>
            </p:txBody>
          </p:sp>
          <p:sp>
            <p:nvSpPr>
              <p:cNvPr id="138" name="Google Shape;138;p17"/>
              <p:cNvSpPr txBox="1"/>
              <p:nvPr/>
            </p:nvSpPr>
            <p:spPr>
              <a:xfrm>
                <a:off x="876300" y="4597896"/>
                <a:ext cx="2895600" cy="1218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ဘယ်ဘက်သွား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၊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ကိုယ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့်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ကိုဖတ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်၊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ညာဘက်သွား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။ (Left → </a:t>
                </a:r>
                <a:r>
                  <a:rPr lang="en-US" sz="1650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Root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→ Right)</a:t>
                </a:r>
                <a:endParaRPr dirty="0"/>
              </a:p>
            </p:txBody>
          </p:sp>
          <p:pic>
            <p:nvPicPr>
              <p:cNvPr id="145" name="Google Shape;145;p17" descr="image.png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009650" y="2702421"/>
                <a:ext cx="49530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6" name="Google Shape;146;p17" descr="image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76300" y="4083546"/>
                <a:ext cx="333375" cy="3619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" name="Google Shape;148;p17" descr="image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124075" y="4083546"/>
                <a:ext cx="333375" cy="361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4" name="Google Shape;166;p18" descr="image.png">
              <a:extLst>
                <a:ext uri="{FF2B5EF4-FFF2-40B4-BE49-F238E27FC236}">
                  <a16:creationId xmlns:a16="http://schemas.microsoft.com/office/drawing/2014/main" id="{EF053091-D689-4DD5-23F5-9CD07902F3BA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343025" y="4083546"/>
              <a:ext cx="647700" cy="3524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A4A9C3-3831-DD6A-0171-E4B98D296D26}"/>
              </a:ext>
            </a:extLst>
          </p:cNvPr>
          <p:cNvGrpSpPr/>
          <p:nvPr/>
        </p:nvGrpSpPr>
        <p:grpSpPr>
          <a:xfrm>
            <a:off x="4352925" y="2121396"/>
            <a:ext cx="3486150" cy="4015382"/>
            <a:chOff x="4352925" y="2121396"/>
            <a:chExt cx="3486150" cy="401538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F559DF5-3645-7422-83F2-9FAA7744E9FF}"/>
                </a:ext>
              </a:extLst>
            </p:cNvPr>
            <p:cNvGrpSpPr/>
            <p:nvPr/>
          </p:nvGrpSpPr>
          <p:grpSpPr>
            <a:xfrm>
              <a:off x="4352925" y="2121396"/>
              <a:ext cx="3486150" cy="4015382"/>
              <a:chOff x="4352925" y="2121396"/>
              <a:chExt cx="3486150" cy="4015382"/>
            </a:xfrm>
          </p:grpSpPr>
          <p:pic>
            <p:nvPicPr>
              <p:cNvPr id="134" name="Google Shape;134;p17" descr="image.png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4352925" y="2121396"/>
                <a:ext cx="3486150" cy="40153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" name="Google Shape;139;p17" descr="image.png"/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4648200" y="2540496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0" name="Google Shape;140;p17"/>
              <p:cNvSpPr txBox="1"/>
              <p:nvPr/>
            </p:nvSpPr>
            <p:spPr>
              <a:xfrm>
                <a:off x="4648200" y="3540621"/>
                <a:ext cx="1510188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>
                    <a:solidFill>
                      <a:srgbClr val="A855F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2. Preorder</a:t>
                </a:r>
                <a:endParaRPr/>
              </a:p>
            </p:txBody>
          </p:sp>
          <p:sp>
            <p:nvSpPr>
              <p:cNvPr id="141" name="Google Shape;141;p17"/>
              <p:cNvSpPr txBox="1"/>
              <p:nvPr/>
            </p:nvSpPr>
            <p:spPr>
              <a:xfrm>
                <a:off x="4648200" y="4597896"/>
                <a:ext cx="2895600" cy="1218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ကိုယ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့်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ကိုအရင်ဖတ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်၊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ဘယ်ဘက်သွား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၊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ညာဘက်သွား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။ (</a:t>
                </a:r>
                <a:r>
                  <a:rPr lang="en-US" sz="1650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Root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→ Left → Right)</a:t>
                </a:r>
                <a:endParaRPr dirty="0"/>
              </a:p>
            </p:txBody>
          </p:sp>
          <p:pic>
            <p:nvPicPr>
              <p:cNvPr id="149" name="Google Shape;149;p17" descr="image.png"/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4838700" y="2702421"/>
                <a:ext cx="38100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1" name="Google Shape;151;p17" descr="image.png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>
                <a:off x="5429250" y="4083546"/>
                <a:ext cx="333375" cy="3619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17" descr="image.png"/>
              <p:cNvPicPr preferRelativeResize="0"/>
              <p:nvPr/>
            </p:nvPicPr>
            <p:blipFill rotWithShape="1">
              <a:blip r:embed="rId15">
                <a:alphaModFix/>
              </a:blip>
              <a:srcRect/>
              <a:stretch/>
            </p:blipFill>
            <p:spPr>
              <a:xfrm>
                <a:off x="5895975" y="4083546"/>
                <a:ext cx="333375" cy="361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83;p19" descr="image.png">
              <a:extLst>
                <a:ext uri="{FF2B5EF4-FFF2-40B4-BE49-F238E27FC236}">
                  <a16:creationId xmlns:a16="http://schemas.microsoft.com/office/drawing/2014/main" id="{1E93D9A6-C85F-ACEA-C94A-FBF75F0574E6}"/>
                </a:ext>
              </a:extLst>
            </p:cNvPr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648200" y="4093071"/>
              <a:ext cx="647700" cy="361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A546B-532E-DCFC-3E26-F158ADFB755F}"/>
              </a:ext>
            </a:extLst>
          </p:cNvPr>
          <p:cNvGrpSpPr/>
          <p:nvPr/>
        </p:nvGrpSpPr>
        <p:grpSpPr>
          <a:xfrm>
            <a:off x="8124825" y="2121396"/>
            <a:ext cx="3486150" cy="4015382"/>
            <a:chOff x="8124825" y="2121396"/>
            <a:chExt cx="3486150" cy="401538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5C547C0-FDB2-B13A-1832-F6A08A49E650}"/>
                </a:ext>
              </a:extLst>
            </p:cNvPr>
            <p:cNvGrpSpPr/>
            <p:nvPr/>
          </p:nvGrpSpPr>
          <p:grpSpPr>
            <a:xfrm>
              <a:off x="8124825" y="2121396"/>
              <a:ext cx="3486150" cy="4015382"/>
              <a:chOff x="8124825" y="2121396"/>
              <a:chExt cx="3486150" cy="4015382"/>
            </a:xfrm>
          </p:grpSpPr>
          <p:pic>
            <p:nvPicPr>
              <p:cNvPr id="135" name="Google Shape;135;p17" descr="image.png"/>
              <p:cNvPicPr preferRelativeResize="0"/>
              <p:nvPr/>
            </p:nvPicPr>
            <p:blipFill rotWithShape="1">
              <a:blip r:embed="rId17">
                <a:alphaModFix/>
              </a:blip>
              <a:srcRect/>
              <a:stretch/>
            </p:blipFill>
            <p:spPr>
              <a:xfrm>
                <a:off x="8124825" y="2121396"/>
                <a:ext cx="3486150" cy="40153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2" name="Google Shape;142;p17" descr="image.png"/>
              <p:cNvPicPr preferRelativeResize="0"/>
              <p:nvPr/>
            </p:nvPicPr>
            <p:blipFill rotWithShape="1">
              <a:blip r:embed="rId18">
                <a:alphaModFix/>
              </a:blip>
              <a:srcRect/>
              <a:stretch/>
            </p:blipFill>
            <p:spPr>
              <a:xfrm>
                <a:off x="8420100" y="2540496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" name="Google Shape;143;p17"/>
              <p:cNvSpPr txBox="1"/>
              <p:nvPr/>
            </p:nvSpPr>
            <p:spPr>
              <a:xfrm>
                <a:off x="8420100" y="3540621"/>
                <a:ext cx="1690211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>
                    <a:solidFill>
                      <a:srgbClr val="F59E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3. Postorder</a:t>
                </a:r>
                <a:endParaRPr/>
              </a:p>
            </p:txBody>
          </p:sp>
          <p:sp>
            <p:nvSpPr>
              <p:cNvPr id="144" name="Google Shape;144;p17"/>
              <p:cNvSpPr txBox="1"/>
              <p:nvPr/>
            </p:nvSpPr>
            <p:spPr>
              <a:xfrm>
                <a:off x="8420100" y="4597896"/>
                <a:ext cx="2895600" cy="1218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ဘယ်ဘက်သွား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၊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ညာဘက်သွား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၊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နောက်ဆုံးမ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ှ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ကိုယ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့်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ကိုဖတ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်။ (Left → Right → </a:t>
                </a:r>
                <a:r>
                  <a:rPr lang="en-US" sz="1650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Root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)</a:t>
                </a:r>
                <a:endParaRPr dirty="0"/>
              </a:p>
            </p:txBody>
          </p:sp>
          <p:pic>
            <p:nvPicPr>
              <p:cNvPr id="153" name="Google Shape;153;p17" descr="image.png"/>
              <p:cNvPicPr preferRelativeResize="0"/>
              <p:nvPr/>
            </p:nvPicPr>
            <p:blipFill rotWithShape="1">
              <a:blip r:embed="rId19">
                <a:alphaModFix/>
              </a:blip>
              <a:srcRect/>
              <a:stretch/>
            </p:blipFill>
            <p:spPr>
              <a:xfrm>
                <a:off x="8610600" y="2702421"/>
                <a:ext cx="38100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" name="Google Shape;154;p17" descr="image.png"/>
              <p:cNvPicPr preferRelativeResize="0"/>
              <p:nvPr/>
            </p:nvPicPr>
            <p:blipFill rotWithShape="1">
              <a:blip r:embed="rId20">
                <a:alphaModFix/>
              </a:blip>
              <a:srcRect/>
              <a:stretch/>
            </p:blipFill>
            <p:spPr>
              <a:xfrm>
                <a:off x="8420100" y="4083546"/>
                <a:ext cx="333375" cy="3619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" name="Google Shape;155;p17" descr="image.png"/>
              <p:cNvPicPr preferRelativeResize="0"/>
              <p:nvPr/>
            </p:nvPicPr>
            <p:blipFill rotWithShape="1">
              <a:blip r:embed="rId21">
                <a:alphaModFix/>
              </a:blip>
              <a:srcRect/>
              <a:stretch/>
            </p:blipFill>
            <p:spPr>
              <a:xfrm>
                <a:off x="8886825" y="4083546"/>
                <a:ext cx="333375" cy="361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" name="Google Shape;197;p20" descr="image.png">
              <a:extLst>
                <a:ext uri="{FF2B5EF4-FFF2-40B4-BE49-F238E27FC236}">
                  <a16:creationId xmlns:a16="http://schemas.microsoft.com/office/drawing/2014/main" id="{2C88062B-2B42-9ADC-03D6-D06AF418E5F2}"/>
                </a:ext>
              </a:extLst>
            </p:cNvPr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9353550" y="4093071"/>
              <a:ext cx="676275" cy="3524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731168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66875" y="1731168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2725" y="1731168"/>
            <a:ext cx="1085850" cy="53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F66E13C-F260-38E1-DE40-214D9B390193}"/>
              </a:ext>
            </a:extLst>
          </p:cNvPr>
          <p:cNvGrpSpPr/>
          <p:nvPr/>
        </p:nvGrpSpPr>
        <p:grpSpPr>
          <a:xfrm>
            <a:off x="581025" y="4319587"/>
            <a:ext cx="5276850" cy="1957388"/>
            <a:chOff x="581025" y="4319587"/>
            <a:chExt cx="5276850" cy="1957388"/>
          </a:xfrm>
        </p:grpSpPr>
        <p:pic>
          <p:nvPicPr>
            <p:cNvPr id="164" name="Google Shape;164;p18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81025" y="4319587"/>
              <a:ext cx="5276850" cy="1957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8"/>
            <p:cNvSpPr txBox="1"/>
            <p:nvPr/>
          </p:nvSpPr>
          <p:spPr>
            <a:xfrm>
              <a:off x="857250" y="4477429"/>
              <a:ext cx="476250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အဓိက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အားသာချက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Binary Search Tree (BST)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Inorder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ဖတ်လိုက်ရင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ဂဏန်းတွေက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အငယ်မှအကြီး</a:t>
              </a: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အလိုအလျောက</a:t>
              </a: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စီပြီးသား</a:t>
              </a: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(Sorted)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ထွက်လာပါတယ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9B56441-BD4D-5A35-29A0-E764C90A53C9}"/>
              </a:ext>
            </a:extLst>
          </p:cNvPr>
          <p:cNvGrpSpPr/>
          <p:nvPr/>
        </p:nvGrpSpPr>
        <p:grpSpPr>
          <a:xfrm>
            <a:off x="1104900" y="2502693"/>
            <a:ext cx="4752975" cy="1578768"/>
            <a:chOff x="1104900" y="2502693"/>
            <a:chExt cx="4752975" cy="1578768"/>
          </a:xfrm>
        </p:grpSpPr>
        <p:sp>
          <p:nvSpPr>
            <p:cNvPr id="169" name="Google Shape;169;p18"/>
            <p:cNvSpPr txBox="1"/>
            <p:nvPr/>
          </p:nvSpPr>
          <p:spPr>
            <a:xfrm>
              <a:off x="1104900" y="2502693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အောက်ဆုံး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ဘယ်ဘက်အစွန်ဆုံး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)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ရောက်တဲ့အထိ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အရင်ဆင်းသွားပါတယ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1104900" y="3411140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အဲ့ဒီကနေမှ Data တွေကို ယူပြီး ဖြည်းဖြည်းချင်း အပေါ်ပြန်တက်လာပါတယ်။</a:t>
              </a:r>
              <a:endParaRPr/>
            </a:p>
          </p:txBody>
        </p:sp>
      </p:grpSp>
      <p:sp>
        <p:nvSpPr>
          <p:cNvPr id="171" name="Google Shape;171;p18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Inorder Traversal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81025" y="1343025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8" descr="&#10;1. Inorder Traversal&#10;&#10;အောက်ဆုံး (ဘယ်ဘက်အစွန်ဆုံး) ကို ရောက်တဲ့အထိ အရင်ဆင်းသွားပါတယ်။&#10;&#10;အဲ့ဒီကနေမှ Data တွေကို ယူပြီး ဖြည်းဖြည်းချင်း အပေါ်ပြန်တက်လာပါတယ်။&#10;&#10;အဓိက အားသာချက်: Binary Search Tree (BST) မှာ Inorder နဲ့ ဖတ်လိုက်ရင်၊ ဂဏန်းတွေက အငယ်မှအကြီး အလိုအလျောက် စီပြီးသား (Sorted) ထွက်လာပါတယ်။&#10;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34175" y="15240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558CBBFC-2C6C-6BF5-C927-ED24B830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A0B4D243-BCF4-F21E-C52F-BC58278465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>
            <a:extLst>
              <a:ext uri="{FF2B5EF4-FFF2-40B4-BE49-F238E27FC236}">
                <a16:creationId xmlns:a16="http://schemas.microsoft.com/office/drawing/2014/main" id="{137CACCD-F281-E166-7D98-D0B9004225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31168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65FC6D22-E1B0-B947-1405-A50FA89ED1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6875" y="1731168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>
            <a:extLst>
              <a:ext uri="{FF2B5EF4-FFF2-40B4-BE49-F238E27FC236}">
                <a16:creationId xmlns:a16="http://schemas.microsoft.com/office/drawing/2014/main" id="{49EF27B3-63F7-9873-4A30-501A5AE768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2725" y="1731168"/>
            <a:ext cx="10858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>
            <a:extLst>
              <a:ext uri="{FF2B5EF4-FFF2-40B4-BE49-F238E27FC236}">
                <a16:creationId xmlns:a16="http://schemas.microsoft.com/office/drawing/2014/main" id="{2F6751E4-8757-14FE-35CA-C5A9DB0FFF30}"/>
              </a:ext>
            </a:extLst>
          </p:cNvPr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Inorder Traversal</a:t>
            </a:r>
            <a:endParaRPr/>
          </a:p>
        </p:txBody>
      </p:sp>
      <p:sp>
        <p:nvSpPr>
          <p:cNvPr id="172" name="Google Shape;172;p18">
            <a:extLst>
              <a:ext uri="{FF2B5EF4-FFF2-40B4-BE49-F238E27FC236}">
                <a16:creationId xmlns:a16="http://schemas.microsoft.com/office/drawing/2014/main" id="{839DEE5D-3B11-BD4A-4C6F-E7066B8BC515}"/>
              </a:ext>
            </a:extLst>
          </p:cNvPr>
          <p:cNvSpPr/>
          <p:nvPr/>
        </p:nvSpPr>
        <p:spPr>
          <a:xfrm>
            <a:off x="581025" y="1343025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B45BDE2-1947-D10C-F6CB-1ADBD0FC7454}"/>
              </a:ext>
            </a:extLst>
          </p:cNvPr>
          <p:cNvGrpSpPr/>
          <p:nvPr/>
        </p:nvGrpSpPr>
        <p:grpSpPr>
          <a:xfrm>
            <a:off x="5763637" y="2278089"/>
            <a:ext cx="5990561" cy="3654372"/>
            <a:chOff x="5894614" y="1583019"/>
            <a:chExt cx="5990561" cy="365437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9E2084F-6207-A476-C80E-A5B4729D1068}"/>
                </a:ext>
              </a:extLst>
            </p:cNvPr>
            <p:cNvSpPr/>
            <p:nvPr/>
          </p:nvSpPr>
          <p:spPr>
            <a:xfrm>
              <a:off x="8353427" y="1583019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4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A6CAA67-796D-1D16-E169-3FD61AA4BCA2}"/>
                </a:ext>
              </a:extLst>
            </p:cNvPr>
            <p:cNvSpPr/>
            <p:nvPr/>
          </p:nvSpPr>
          <p:spPr>
            <a:xfrm>
              <a:off x="6730303" y="2926384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1E34C7-04B1-65DD-7E3F-A24658CC6CFC}"/>
                </a:ext>
              </a:extLst>
            </p:cNvPr>
            <p:cNvSpPr/>
            <p:nvPr/>
          </p:nvSpPr>
          <p:spPr>
            <a:xfrm>
              <a:off x="10112828" y="2926384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691DEE1-C65B-619B-AD4B-2B09E44B46AC}"/>
                </a:ext>
              </a:extLst>
            </p:cNvPr>
            <p:cNvSpPr/>
            <p:nvPr/>
          </p:nvSpPr>
          <p:spPr>
            <a:xfrm>
              <a:off x="5894614" y="4309040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5DF163-D3BA-D50A-EC67-02891EB5EEE9}"/>
                </a:ext>
              </a:extLst>
            </p:cNvPr>
            <p:cNvSpPr/>
            <p:nvPr/>
          </p:nvSpPr>
          <p:spPr>
            <a:xfrm>
              <a:off x="7527471" y="4298155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D3A39F8-853F-113D-5F36-84CD196F81C2}"/>
                </a:ext>
              </a:extLst>
            </p:cNvPr>
            <p:cNvSpPr/>
            <p:nvPr/>
          </p:nvSpPr>
          <p:spPr>
            <a:xfrm>
              <a:off x="9160328" y="4330813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007A810-E235-9ED0-3D17-13CFD5932F58}"/>
                </a:ext>
              </a:extLst>
            </p:cNvPr>
            <p:cNvSpPr/>
            <p:nvPr/>
          </p:nvSpPr>
          <p:spPr>
            <a:xfrm>
              <a:off x="10932675" y="4330813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7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D2C580-1F6A-32FD-CE89-EEA635D275A7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7412336" y="3051902"/>
            <a:ext cx="949604" cy="7023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612B60-8A5F-9B13-5550-634BFCE2911D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6239887" y="4395267"/>
            <a:ext cx="498929" cy="6088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FB8504-C58D-E33A-5B9B-6464BEE313A5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9035460" y="3051902"/>
            <a:ext cx="1085881" cy="7023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14B81B-E830-7B12-F599-1AB037802840}"/>
              </a:ext>
            </a:extLst>
          </p:cNvPr>
          <p:cNvCxnSpPr>
            <a:stCxn id="6" idx="5"/>
            <a:endCxn id="10" idx="0"/>
          </p:cNvCxnSpPr>
          <p:nvPr/>
        </p:nvCxnSpPr>
        <p:spPr>
          <a:xfrm>
            <a:off x="10794861" y="4395267"/>
            <a:ext cx="483087" cy="6306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C174B0-0B57-1832-B3D3-6283680CA6CF}"/>
              </a:ext>
            </a:extLst>
          </p:cNvPr>
          <p:cNvCxnSpPr>
            <a:stCxn id="6" idx="3"/>
            <a:endCxn id="9" idx="0"/>
          </p:cNvCxnSpPr>
          <p:nvPr/>
        </p:nvCxnSpPr>
        <p:spPr>
          <a:xfrm flipH="1">
            <a:off x="9505601" y="4395267"/>
            <a:ext cx="615740" cy="6306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E5C89A5-4F52-0C41-8CC1-3635C06CECD9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7412336" y="4395267"/>
            <a:ext cx="460408" cy="5979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439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81025" y="581025"/>
            <a:ext cx="554069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Preorder Traversal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81025" y="1343025"/>
            <a:ext cx="52768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81025" y="3029247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Node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ရောက်တာနဲ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ချက်ချင်း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ယူ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(Print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ထုတ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်)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ပါတယ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ပြီးမ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ှ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ကလေးတွေဆီ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ဆက်သွားပါတယ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257722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66875" y="2257722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2725" y="2257722"/>
            <a:ext cx="1085850" cy="53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815F02B-9828-0A79-FBD4-168FA920E5B6}"/>
              </a:ext>
            </a:extLst>
          </p:cNvPr>
          <p:cNvGrpSpPr/>
          <p:nvPr/>
        </p:nvGrpSpPr>
        <p:grpSpPr>
          <a:xfrm>
            <a:off x="581025" y="4226809"/>
            <a:ext cx="5276850" cy="1386482"/>
            <a:chOff x="581025" y="4226809"/>
            <a:chExt cx="5276850" cy="1386482"/>
          </a:xfrm>
        </p:grpSpPr>
        <p:pic>
          <p:nvPicPr>
            <p:cNvPr id="179" name="Google Shape;179;p19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81025" y="4226809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19"/>
            <p:cNvSpPr txBox="1"/>
            <p:nvPr/>
          </p:nvSpPr>
          <p:spPr>
            <a:xfrm>
              <a:off x="857250" y="4318694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အဓိက</a:t>
              </a:r>
              <a:r>
                <a:rPr lang="en-US" sz="1650" b="1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အားသာချက</a:t>
              </a:r>
              <a:r>
                <a:rPr lang="en-US" sz="1650" b="1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သစ်ပင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(Tree)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ကြီး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တစ်ခုလုံးကို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ပုံစံမပျက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>
                  <a:solidFill>
                    <a:srgbClr val="A855F7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Copy (</a:t>
              </a:r>
              <a:r>
                <a:rPr lang="en-US" sz="1650" b="1" i="0" u="none" strike="noStrike" cap="none" dirty="0" err="1">
                  <a:solidFill>
                    <a:srgbClr val="A855F7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ပွား</a:t>
              </a:r>
              <a:r>
                <a:rPr lang="en-US" sz="1650" b="1" i="0" u="none" strike="noStrike" cap="none" dirty="0">
                  <a:solidFill>
                    <a:srgbClr val="A855F7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) </a:t>
              </a:r>
              <a:r>
                <a:rPr lang="en-US" sz="1650" b="1" i="0" u="none" strike="noStrike" cap="none" dirty="0" err="1">
                  <a:solidFill>
                    <a:srgbClr val="A855F7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ကူးချင်တဲ့အခ</a:t>
              </a:r>
              <a:r>
                <a:rPr lang="en-US" sz="1650" b="1" i="0" u="none" strike="noStrike" cap="none" dirty="0">
                  <a:solidFill>
                    <a:srgbClr val="A855F7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သုံးပါတယ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(Root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စဆောက်မ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ှ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အဆင်ပြေလို့ပ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ါ)</a:t>
              </a:r>
              <a:endParaRPr dirty="0"/>
            </a:p>
          </p:txBody>
        </p:sp>
      </p:grpSp>
      <p:pic>
        <p:nvPicPr>
          <p:cNvPr id="187" name="Google Shape;187;p19" descr="Image should be less text.&#10;2. Preorder Traversal&#10;&#10;Node တစ်ခုကို ရောက်တာနဲ့ ချက်ချင်း Data ကို ယူ (Print ထုတ်) ပါတယ်။ ပြီးမှ ကလေးတွေဆီ ဆက်သွားပါတယ်။&#10;&#10;အဓိက အားသာချက်: သစ်ပင် (Tree) ကြီး တစ်ခုလုံးကို ပုံစံမပျက် Copy (ပွား) ကူးချင်တဲ့အခါ သုံးပါတယ်။ (Root ကနေ စဆောက်မှ အဆင်ပြေလို့ပါ)&#10;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35925" y="128382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>
          <a:extLst>
            <a:ext uri="{FF2B5EF4-FFF2-40B4-BE49-F238E27FC236}">
              <a16:creationId xmlns:a16="http://schemas.microsoft.com/office/drawing/2014/main" id="{F6224859-EE17-E07B-94FD-ECECD8F89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>
            <a:extLst>
              <a:ext uri="{FF2B5EF4-FFF2-40B4-BE49-F238E27FC236}">
                <a16:creationId xmlns:a16="http://schemas.microsoft.com/office/drawing/2014/main" id="{BB8B16FC-7C17-D998-EE64-E9B12A2A49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>
            <a:extLst>
              <a:ext uri="{FF2B5EF4-FFF2-40B4-BE49-F238E27FC236}">
                <a16:creationId xmlns:a16="http://schemas.microsoft.com/office/drawing/2014/main" id="{69A34632-4B2C-90F4-2419-160099C7DF6B}"/>
              </a:ext>
            </a:extLst>
          </p:cNvPr>
          <p:cNvSpPr txBox="1"/>
          <p:nvPr/>
        </p:nvSpPr>
        <p:spPr>
          <a:xfrm>
            <a:off x="581025" y="581025"/>
            <a:ext cx="554069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Preorder Traversal</a:t>
            </a:r>
            <a:endParaRPr/>
          </a:p>
        </p:txBody>
      </p:sp>
      <p:sp>
        <p:nvSpPr>
          <p:cNvPr id="181" name="Google Shape;181;p19">
            <a:extLst>
              <a:ext uri="{FF2B5EF4-FFF2-40B4-BE49-F238E27FC236}">
                <a16:creationId xmlns:a16="http://schemas.microsoft.com/office/drawing/2014/main" id="{AB6028C5-14A9-BFFB-C0D2-EE99765FDABC}"/>
              </a:ext>
            </a:extLst>
          </p:cNvPr>
          <p:cNvSpPr/>
          <p:nvPr/>
        </p:nvSpPr>
        <p:spPr>
          <a:xfrm>
            <a:off x="581025" y="1343025"/>
            <a:ext cx="52768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9" descr="image.png">
            <a:extLst>
              <a:ext uri="{FF2B5EF4-FFF2-40B4-BE49-F238E27FC236}">
                <a16:creationId xmlns:a16="http://schemas.microsoft.com/office/drawing/2014/main" id="{829570C0-42A8-03F8-AFBE-BDCA0A7ED9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90700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>
            <a:extLst>
              <a:ext uri="{FF2B5EF4-FFF2-40B4-BE49-F238E27FC236}">
                <a16:creationId xmlns:a16="http://schemas.microsoft.com/office/drawing/2014/main" id="{9BB5D394-D292-FED1-AAA2-F92E5AF4E81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6875" y="1790700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>
            <a:extLst>
              <a:ext uri="{FF2B5EF4-FFF2-40B4-BE49-F238E27FC236}">
                <a16:creationId xmlns:a16="http://schemas.microsoft.com/office/drawing/2014/main" id="{479CCDDF-6719-4ABB-1DA9-AAFEC2056DE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2725" y="1790700"/>
            <a:ext cx="1085850" cy="53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220BF71-F8D7-7893-2967-F9E6AB41A3D3}"/>
              </a:ext>
            </a:extLst>
          </p:cNvPr>
          <p:cNvGrpSpPr/>
          <p:nvPr/>
        </p:nvGrpSpPr>
        <p:grpSpPr>
          <a:xfrm>
            <a:off x="5763637" y="2278089"/>
            <a:ext cx="6123214" cy="3654372"/>
            <a:chOff x="5894614" y="1583019"/>
            <a:chExt cx="6123214" cy="365437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1942B0A-561B-389D-9EA0-18154949F878}"/>
                </a:ext>
              </a:extLst>
            </p:cNvPr>
            <p:cNvSpPr/>
            <p:nvPr/>
          </p:nvSpPr>
          <p:spPr>
            <a:xfrm>
              <a:off x="8353427" y="1583019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4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903154B-66F5-9B51-6422-B2CA0AEA5D29}"/>
                </a:ext>
              </a:extLst>
            </p:cNvPr>
            <p:cNvSpPr/>
            <p:nvPr/>
          </p:nvSpPr>
          <p:spPr>
            <a:xfrm>
              <a:off x="6730303" y="2926384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2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779B1DA-9EEB-0F94-A0FD-2498A2D94BC0}"/>
                </a:ext>
              </a:extLst>
            </p:cNvPr>
            <p:cNvSpPr/>
            <p:nvPr/>
          </p:nvSpPr>
          <p:spPr>
            <a:xfrm>
              <a:off x="10112828" y="2926384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6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2FBCFA6-9B35-21D8-F168-9B8F0C4EF1FA}"/>
                </a:ext>
              </a:extLst>
            </p:cNvPr>
            <p:cNvSpPr/>
            <p:nvPr/>
          </p:nvSpPr>
          <p:spPr>
            <a:xfrm>
              <a:off x="5894614" y="4309040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BAE8DFB-F75D-293E-92E6-A664AB214791}"/>
                </a:ext>
              </a:extLst>
            </p:cNvPr>
            <p:cNvSpPr/>
            <p:nvPr/>
          </p:nvSpPr>
          <p:spPr>
            <a:xfrm>
              <a:off x="7527471" y="4298155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CC509B6-A815-A876-8B3A-0F55D2F854EB}"/>
                </a:ext>
              </a:extLst>
            </p:cNvPr>
            <p:cNvSpPr/>
            <p:nvPr/>
          </p:nvSpPr>
          <p:spPr>
            <a:xfrm>
              <a:off x="9160328" y="4330813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53430DA-DF8C-6442-6264-C507761BCB35}"/>
                </a:ext>
              </a:extLst>
            </p:cNvPr>
            <p:cNvSpPr/>
            <p:nvPr/>
          </p:nvSpPr>
          <p:spPr>
            <a:xfrm>
              <a:off x="11065328" y="4330813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7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1D1ED8-6875-5404-413C-C5F2F99A0ECF}"/>
              </a:ext>
            </a:extLst>
          </p:cNvPr>
          <p:cNvCxnSpPr>
            <a:stCxn id="3" idx="3"/>
            <a:endCxn id="4" idx="7"/>
          </p:cNvCxnSpPr>
          <p:nvPr/>
        </p:nvCxnSpPr>
        <p:spPr>
          <a:xfrm flipH="1">
            <a:off x="7412336" y="3051902"/>
            <a:ext cx="949604" cy="7023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7F359D-8515-9E4E-06FE-BBF3B3F55580}"/>
              </a:ext>
            </a:extLst>
          </p:cNvPr>
          <p:cNvCxnSpPr>
            <a:stCxn id="4" idx="3"/>
            <a:endCxn id="6" idx="0"/>
          </p:cNvCxnSpPr>
          <p:nvPr/>
        </p:nvCxnSpPr>
        <p:spPr>
          <a:xfrm flipH="1">
            <a:off x="6239887" y="4395267"/>
            <a:ext cx="498929" cy="6088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B7605F-C45A-3A0C-95F5-4F13078782D8}"/>
              </a:ext>
            </a:extLst>
          </p:cNvPr>
          <p:cNvCxnSpPr>
            <a:endCxn id="5" idx="1"/>
          </p:cNvCxnSpPr>
          <p:nvPr/>
        </p:nvCxnSpPr>
        <p:spPr>
          <a:xfrm>
            <a:off x="9029351" y="3051902"/>
            <a:ext cx="1091990" cy="7023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B90295-86A3-62DE-B4BD-08C5FC1F0C2D}"/>
              </a:ext>
            </a:extLst>
          </p:cNvPr>
          <p:cNvCxnSpPr>
            <a:stCxn id="5" idx="3"/>
            <a:endCxn id="8" idx="0"/>
          </p:cNvCxnSpPr>
          <p:nvPr/>
        </p:nvCxnSpPr>
        <p:spPr>
          <a:xfrm flipH="1">
            <a:off x="9505601" y="4395267"/>
            <a:ext cx="615740" cy="6306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50B9E78-02EC-202F-4723-B729311277F5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10794861" y="4395267"/>
            <a:ext cx="615740" cy="6306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631C96-6933-7EE6-2230-11A703F4B193}"/>
              </a:ext>
            </a:extLst>
          </p:cNvPr>
          <p:cNvCxnSpPr>
            <a:stCxn id="4" idx="5"/>
            <a:endCxn id="7" idx="0"/>
          </p:cNvCxnSpPr>
          <p:nvPr/>
        </p:nvCxnSpPr>
        <p:spPr>
          <a:xfrm>
            <a:off x="7412336" y="4395267"/>
            <a:ext cx="460408" cy="5979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053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6334125" y="2933104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ကလေးတွေ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(Child nodes)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အကုန်လုံးကို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အရင်ဖတ်ပြီး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အားလုံးပြီးမ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ှ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မိဘ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(Root)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ဆီကို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ပြန်လာဖတ်တာပ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pic>
        <p:nvPicPr>
          <p:cNvPr id="195" name="Google Shape;19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61579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19975" y="2161579"/>
            <a:ext cx="10858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39175" y="2161579"/>
            <a:ext cx="952500" cy="53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ECD8A02-DFA7-D8A1-59E2-116AD1D61934}"/>
              </a:ext>
            </a:extLst>
          </p:cNvPr>
          <p:cNvGrpSpPr/>
          <p:nvPr/>
        </p:nvGrpSpPr>
        <p:grpSpPr>
          <a:xfrm>
            <a:off x="6334125" y="3889175"/>
            <a:ext cx="5276850" cy="1881000"/>
            <a:chOff x="6334125" y="3889175"/>
            <a:chExt cx="5276850" cy="1881000"/>
          </a:xfrm>
        </p:grpSpPr>
        <p:pic>
          <p:nvPicPr>
            <p:cNvPr id="193" name="Google Shape;193;p20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334125" y="3889175"/>
              <a:ext cx="5276850" cy="18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0"/>
            <p:cNvSpPr txBox="1"/>
            <p:nvPr/>
          </p:nvSpPr>
          <p:spPr>
            <a:xfrm>
              <a:off x="6610350" y="4079676"/>
              <a:ext cx="476250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အဓိက အားသာချက်:</a:t>
              </a:r>
              <a:r>
                <a:rPr lang="en-US" sz="1650" b="0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သစ်ပင်ကို </a:t>
              </a:r>
              <a:r>
                <a:rPr lang="en-US" sz="1650" b="1" i="0" u="none" strike="noStrike" cap="none">
                  <a:solidFill>
                    <a:srgbClr val="F59E0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ဖျက်ပစ် (Delete) ချင်တဲ့အခါ</a:t>
              </a:r>
              <a:r>
                <a:rPr lang="en-US" sz="1650" b="0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သုံးပါတယ်။ (ကလေးတွေကို အရင်မဖျက်ဘဲ မိဘကို အရင်ဖျက်လိုက်ရင် ကလေးတွေ လမ်းပျောက်သွားမှာမို့လို့ပါ)</a:t>
              </a:r>
              <a:endParaRPr/>
            </a:p>
          </p:txBody>
        </p:sp>
      </p:grpSp>
      <p:sp>
        <p:nvSpPr>
          <p:cNvPr id="199" name="Google Shape;199;p20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Postorder Traversal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81025" y="1343025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0" descr="Image should be less text.&#10;3. Postorder Traversal&#10;&#10;ကလေးတွေ (Child nodes) အကုန်လုံးကို အရင်ဖတ်ပြီး၊ အားလုံးပြီးမှ မိဘ (Root) ဆီကို ပြန်လာဖတ်တာပါ။&#10;&#10;အဓိက အားသာချက်: သစ်ပင်ကို ဖျက်ပစ် (Delete) ချင်တဲ့အခါ သုံးပါတယ်။ (ကလေးတွေကို အရင်မဖျက်ဘဲ မိဘကို အရင်ဖျက်လိုက်ရင် ကလေးတွေ လမ်းပျောက်သွားမှာမို့လို့ပါ)&#10;"/>
          <p:cNvPicPr preferRelativeResize="0"/>
          <p:nvPr/>
        </p:nvPicPr>
        <p:blipFill>
          <a:blip r:embed="rId9">
            <a:alphaModFix/>
          </a:blip>
          <a:srcRect t="16785"/>
          <a:stretch>
            <a:fillRect/>
          </a:stretch>
        </p:blipFill>
        <p:spPr>
          <a:xfrm>
            <a:off x="581025" y="1711929"/>
            <a:ext cx="4876800" cy="405824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1">
          <a:extLst>
            <a:ext uri="{FF2B5EF4-FFF2-40B4-BE49-F238E27FC236}">
              <a16:creationId xmlns:a16="http://schemas.microsoft.com/office/drawing/2014/main" id="{54DB6A9B-4D91-7168-53D6-D3D92ABC3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>
            <a:extLst>
              <a:ext uri="{FF2B5EF4-FFF2-40B4-BE49-F238E27FC236}">
                <a16:creationId xmlns:a16="http://schemas.microsoft.com/office/drawing/2014/main" id="{2BA6E3E1-4AB1-2CAB-04C8-8C0B4B7B65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>
            <a:extLst>
              <a:ext uri="{FF2B5EF4-FFF2-40B4-BE49-F238E27FC236}">
                <a16:creationId xmlns:a16="http://schemas.microsoft.com/office/drawing/2014/main" id="{B34EFC78-E6A0-71CF-566D-C6C84D9722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578579"/>
            <a:ext cx="95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>
            <a:extLst>
              <a:ext uri="{FF2B5EF4-FFF2-40B4-BE49-F238E27FC236}">
                <a16:creationId xmlns:a16="http://schemas.microsoft.com/office/drawing/2014/main" id="{FE7FC26D-23AA-2846-5364-54F5AB60159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81850" y="1578579"/>
            <a:ext cx="10858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>
            <a:extLst>
              <a:ext uri="{FF2B5EF4-FFF2-40B4-BE49-F238E27FC236}">
                <a16:creationId xmlns:a16="http://schemas.microsoft.com/office/drawing/2014/main" id="{0B7BECD6-0314-07D7-6493-0CFE0F3ACD4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01050" y="1578579"/>
            <a:ext cx="9525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>
            <a:extLst>
              <a:ext uri="{FF2B5EF4-FFF2-40B4-BE49-F238E27FC236}">
                <a16:creationId xmlns:a16="http://schemas.microsoft.com/office/drawing/2014/main" id="{53AE22C0-654C-7765-09E0-3B6C6B909C7F}"/>
              </a:ext>
            </a:extLst>
          </p:cNvPr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Postorder Traversal</a:t>
            </a:r>
            <a:endParaRPr/>
          </a:p>
        </p:txBody>
      </p:sp>
      <p:sp>
        <p:nvSpPr>
          <p:cNvPr id="200" name="Google Shape;200;p20">
            <a:extLst>
              <a:ext uri="{FF2B5EF4-FFF2-40B4-BE49-F238E27FC236}">
                <a16:creationId xmlns:a16="http://schemas.microsoft.com/office/drawing/2014/main" id="{79E2F0EF-28A8-A343-2EBF-02A9BF97F02A}"/>
              </a:ext>
            </a:extLst>
          </p:cNvPr>
          <p:cNvSpPr/>
          <p:nvPr/>
        </p:nvSpPr>
        <p:spPr>
          <a:xfrm>
            <a:off x="581025" y="1343025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D3190B-8E69-4829-0FAA-DDB8A3DF4BB1}"/>
              </a:ext>
            </a:extLst>
          </p:cNvPr>
          <p:cNvGrpSpPr/>
          <p:nvPr/>
        </p:nvGrpSpPr>
        <p:grpSpPr>
          <a:xfrm>
            <a:off x="248534" y="2061989"/>
            <a:ext cx="6123214" cy="3654372"/>
            <a:chOff x="5894614" y="1583019"/>
            <a:chExt cx="6123214" cy="365437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9A7599C-78DF-2559-F6AF-18C27726B02D}"/>
                </a:ext>
              </a:extLst>
            </p:cNvPr>
            <p:cNvSpPr/>
            <p:nvPr/>
          </p:nvSpPr>
          <p:spPr>
            <a:xfrm>
              <a:off x="8353427" y="1583019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4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A3BE097-A220-915B-C917-D0A9874E1F59}"/>
                </a:ext>
              </a:extLst>
            </p:cNvPr>
            <p:cNvSpPr/>
            <p:nvPr/>
          </p:nvSpPr>
          <p:spPr>
            <a:xfrm>
              <a:off x="6730303" y="2926384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2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0B32E22-4ED2-B37E-DB3D-F89CB04D6DD8}"/>
                </a:ext>
              </a:extLst>
            </p:cNvPr>
            <p:cNvSpPr/>
            <p:nvPr/>
          </p:nvSpPr>
          <p:spPr>
            <a:xfrm>
              <a:off x="10112828" y="2926384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6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390B5E2-B375-893E-9DB0-3B5507E1F767}"/>
                </a:ext>
              </a:extLst>
            </p:cNvPr>
            <p:cNvSpPr/>
            <p:nvPr/>
          </p:nvSpPr>
          <p:spPr>
            <a:xfrm>
              <a:off x="5894614" y="4309040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5D3FDE8-BF9C-C3DE-F6E2-164110F65AAB}"/>
                </a:ext>
              </a:extLst>
            </p:cNvPr>
            <p:cNvSpPr/>
            <p:nvPr/>
          </p:nvSpPr>
          <p:spPr>
            <a:xfrm>
              <a:off x="7527471" y="4298155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19705F4-4ECA-59E7-A868-E9D0774348D0}"/>
                </a:ext>
              </a:extLst>
            </p:cNvPr>
            <p:cNvSpPr/>
            <p:nvPr/>
          </p:nvSpPr>
          <p:spPr>
            <a:xfrm>
              <a:off x="9160328" y="4330813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BCE89D8-5566-4BBD-67DC-3B08A56F9535}"/>
                </a:ext>
              </a:extLst>
            </p:cNvPr>
            <p:cNvSpPr/>
            <p:nvPr/>
          </p:nvSpPr>
          <p:spPr>
            <a:xfrm>
              <a:off x="11065328" y="4330813"/>
              <a:ext cx="952500" cy="90657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TH" dirty="0"/>
                <a:t>7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80D4A8-E9A1-92F5-841F-5276B763EAAF}"/>
              </a:ext>
            </a:extLst>
          </p:cNvPr>
          <p:cNvCxnSpPr>
            <a:stCxn id="3" idx="3"/>
            <a:endCxn id="4" idx="7"/>
          </p:cNvCxnSpPr>
          <p:nvPr/>
        </p:nvCxnSpPr>
        <p:spPr>
          <a:xfrm flipH="1">
            <a:off x="1897233" y="2835802"/>
            <a:ext cx="949604" cy="7023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47B59D-D70A-62FC-76EC-9D1413FE8FD8}"/>
              </a:ext>
            </a:extLst>
          </p:cNvPr>
          <p:cNvCxnSpPr>
            <a:stCxn id="4" idx="3"/>
            <a:endCxn id="6" idx="0"/>
          </p:cNvCxnSpPr>
          <p:nvPr/>
        </p:nvCxnSpPr>
        <p:spPr>
          <a:xfrm flipH="1">
            <a:off x="724784" y="4179167"/>
            <a:ext cx="498929" cy="6088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036B1A-EF02-7CB6-AC03-AA1777434CDD}"/>
              </a:ext>
            </a:extLst>
          </p:cNvPr>
          <p:cNvCxnSpPr>
            <a:stCxn id="4" idx="5"/>
            <a:endCxn id="7" idx="0"/>
          </p:cNvCxnSpPr>
          <p:nvPr/>
        </p:nvCxnSpPr>
        <p:spPr>
          <a:xfrm>
            <a:off x="1897233" y="4179167"/>
            <a:ext cx="460408" cy="5979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B6380E-39B5-40BD-7A57-5C435236F06A}"/>
              </a:ext>
            </a:extLst>
          </p:cNvPr>
          <p:cNvCxnSpPr>
            <a:stCxn id="3" idx="5"/>
            <a:endCxn id="5" idx="1"/>
          </p:cNvCxnSpPr>
          <p:nvPr/>
        </p:nvCxnSpPr>
        <p:spPr>
          <a:xfrm>
            <a:off x="3520357" y="2835802"/>
            <a:ext cx="1085881" cy="7023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6EECF0-5537-7A5A-900A-E7DA1097729E}"/>
              </a:ext>
            </a:extLst>
          </p:cNvPr>
          <p:cNvCxnSpPr>
            <a:stCxn id="5" idx="3"/>
            <a:endCxn id="8" idx="0"/>
          </p:cNvCxnSpPr>
          <p:nvPr/>
        </p:nvCxnSpPr>
        <p:spPr>
          <a:xfrm flipH="1">
            <a:off x="3990498" y="4179167"/>
            <a:ext cx="615740" cy="6306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388D9E-61C5-A62E-0CF8-6D31C17B2CDF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5279758" y="4179167"/>
            <a:ext cx="615740" cy="6306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49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p21"/>
          <p:cNvGraphicFramePr/>
          <p:nvPr/>
        </p:nvGraphicFramePr>
        <p:xfrm>
          <a:off x="590550" y="1317426"/>
          <a:ext cx="11010900" cy="3625925"/>
        </p:xfrm>
        <a:graphic>
          <a:graphicData uri="http://schemas.openxmlformats.org/drawingml/2006/table">
            <a:tbl>
              <a:tblPr firstRow="1" bandRow="1">
                <a:noFill/>
                <a:tableStyleId>{9E1C15F4-F767-4498-8302-2EB9A20009FD}</a:tableStyleId>
              </a:tblPr>
              <a:tblGrid>
                <a:gridCol w="19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Complexity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ရှင်းလင်းချက်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Time (အမြန်နှုန်း)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O(n)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သစ်ပင်မှာ ရှိသမျှ Node (n) အားလုံးဆီကို တစ်ခေါက်စီ မဖြစ်မနေ လည်ပတ် (Visit) ရတဲ့အတွက်ကြောင့် ဖြစ်ပါတယ်။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Space (နေရာယူမှု)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O(h)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Recursion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ကိုသုံးထားလို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Call Stack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အသုံးပြုပါတယ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်။ h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ဆိုတာ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သစ်ပင်ရဲ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အမြင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့် (Height)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ကို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ဆိုလိုပါတယ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်။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p21"/>
          <p:cNvSpPr txBox="1"/>
          <p:nvPr/>
        </p:nvSpPr>
        <p:spPr>
          <a:xfrm>
            <a:off x="581025" y="412551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&amp; Space Complexity ⏱️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81025" y="1174551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C626EB4-6DCC-3D2E-D399-8F54E9F3CC43}"/>
              </a:ext>
            </a:extLst>
          </p:cNvPr>
          <p:cNvGrpSpPr/>
          <p:nvPr/>
        </p:nvGrpSpPr>
        <p:grpSpPr>
          <a:xfrm>
            <a:off x="581025" y="2695901"/>
            <a:ext cx="3486150" cy="2431050"/>
            <a:chOff x="581025" y="2695901"/>
            <a:chExt cx="3486150" cy="2431050"/>
          </a:xfrm>
        </p:grpSpPr>
        <p:pic>
          <p:nvPicPr>
            <p:cNvPr id="217" name="Google Shape;217;p22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695901"/>
              <a:ext cx="3486150" cy="2431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22"/>
            <p:cNvSpPr txBox="1"/>
            <p:nvPr/>
          </p:nvSpPr>
          <p:spPr>
            <a:xfrm>
              <a:off x="753903" y="3214687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 err="1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Inorder</a:t>
              </a:r>
              <a:endParaRPr dirty="0"/>
            </a:p>
          </p:txBody>
        </p:sp>
        <p:sp>
          <p:nvSpPr>
            <p:cNvPr id="221" name="Google Shape;221;p22"/>
            <p:cNvSpPr txBox="1"/>
            <p:nvPr/>
          </p:nvSpPr>
          <p:spPr>
            <a:xfrm>
              <a:off x="828675" y="3643312"/>
              <a:ext cx="2991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BST တွေကနေ Data တွေကို အငယ်မှအကြီး </a:t>
              </a:r>
              <a:r>
                <a:rPr lang="en-US" sz="13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Sorted (အစဉ်လိုက်)</a:t>
              </a: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ဆွဲထုတ်ချင်တဲ့ အခါတိုင်း သုံးပါတယ်။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C987E0F-C874-8D70-9A1E-0161E18FA386}"/>
              </a:ext>
            </a:extLst>
          </p:cNvPr>
          <p:cNvGrpSpPr/>
          <p:nvPr/>
        </p:nvGrpSpPr>
        <p:grpSpPr>
          <a:xfrm>
            <a:off x="4352925" y="2695900"/>
            <a:ext cx="3486150" cy="2431050"/>
            <a:chOff x="4352925" y="2695900"/>
            <a:chExt cx="3486150" cy="2431050"/>
          </a:xfrm>
        </p:grpSpPr>
        <p:pic>
          <p:nvPicPr>
            <p:cNvPr id="218" name="Google Shape;218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2695900"/>
              <a:ext cx="3486150" cy="2431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22"/>
            <p:cNvSpPr txBox="1"/>
            <p:nvPr/>
          </p:nvSpPr>
          <p:spPr>
            <a:xfrm>
              <a:off x="4525803" y="3214687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A855F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Preorder</a:t>
              </a:r>
              <a:endParaRPr dirty="0"/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4600575" y="3643312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သစ်ပင်ကို </a:t>
              </a:r>
              <a:r>
                <a:rPr lang="en-US" sz="13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ပုံစံမပျက် Copy ကူးချင်တဲ့အခါ</a:t>
              </a: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ဒါမှမဟုတ် Expression တွေကို Prefix ပုံစံ ဖတ်ချင်တဲ့အခါ သုံးပါတယ်။</a:t>
              </a: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340C01E-BDD0-7091-E9BA-54A8EFDAD691}"/>
              </a:ext>
            </a:extLst>
          </p:cNvPr>
          <p:cNvGrpSpPr/>
          <p:nvPr/>
        </p:nvGrpSpPr>
        <p:grpSpPr>
          <a:xfrm>
            <a:off x="8124825" y="2695901"/>
            <a:ext cx="3486150" cy="2431050"/>
            <a:chOff x="8124825" y="2695901"/>
            <a:chExt cx="3486150" cy="2431050"/>
          </a:xfrm>
        </p:grpSpPr>
        <p:pic>
          <p:nvPicPr>
            <p:cNvPr id="219" name="Google Shape;219;p22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4825" y="2695901"/>
              <a:ext cx="3486150" cy="2431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2"/>
            <p:cNvSpPr txBox="1"/>
            <p:nvPr/>
          </p:nvSpPr>
          <p:spPr>
            <a:xfrm>
              <a:off x="8297703" y="3214687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Postorder</a:t>
              </a:r>
              <a:endParaRPr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8372475" y="3643312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သစ်ပင်တစ်ခုလုံးကို </a:t>
              </a:r>
              <a:r>
                <a:rPr lang="en-US" sz="13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ဖျက်ပစ် (Delete) ချင်တဲ့အခါ</a:t>
              </a: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ဒါမှမဟုတ် အောက်ခြေကနေ အပေါ်ကို တွက်ချက်ချင်တဲ့အခါ သုံးပါတယ်။</a:t>
              </a:r>
              <a:endParaRPr/>
            </a:p>
          </p:txBody>
        </p:sp>
      </p:grpSp>
      <p:sp>
        <p:nvSpPr>
          <p:cNvPr id="226" name="Google Shape;226;p22"/>
          <p:cNvSpPr txBox="1"/>
          <p:nvPr/>
        </p:nvSpPr>
        <p:spPr>
          <a:xfrm>
            <a:off x="581025" y="581025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ဘယ်အချိန်မှာ ဘာသုံးမလဲ? (အနှစ်ချုပ်)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81025" y="1638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13.5|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|3.9|6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2|13.1|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7|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2|4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2|4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15.8|11.9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1157</Words>
  <Application>Microsoft Macintosh PowerPoint</Application>
  <PresentationFormat>Widescreen</PresentationFormat>
  <Paragraphs>75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Noto Sans Myanmar</vt:lpstr>
      <vt:lpstr>Poppins</vt:lpstr>
      <vt:lpstr>Fira Code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9</cp:revision>
  <dcterms:modified xsi:type="dcterms:W3CDTF">2026-04-06T15:49:27Z</dcterms:modified>
</cp:coreProperties>
</file>