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Fira Code" panose="020B0809050000020004" pitchFamily="49" charset="0"/>
      <p:regular r:id="rId12"/>
      <p:bold r:id="rId13"/>
    </p:embeddedFont>
    <p:embeddedFont>
      <p:font typeface="Lato" panose="020F0502020204030203" pitchFamily="34" charset="77"/>
      <p:regular r:id="rId14"/>
      <p:bold r:id="rId15"/>
      <p:italic r:id="rId16"/>
      <p:boldItalic r:id="rId17"/>
    </p:embeddedFont>
    <p:embeddedFont>
      <p:font typeface="Poppins" pitchFamily="2" charset="77"/>
      <p:regular r:id="rId18"/>
      <p:bold r:id="rId19"/>
      <p:italic r:id="rId20"/>
      <p:boldItalic r:id="rId21"/>
    </p:embeddedFont>
    <p:embeddedFont>
      <p:font typeface="Poppins SemiBold" pitchFamily="2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D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CF591C-10FF-4183-935D-B19ECEC2BA0C}">
  <a:tblStyle styleId="{44CF591C-10FF-4183-935D-B19ECEC2BA0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>
      <p:cViewPr varScale="1">
        <p:scale>
          <a:sx n="117" d="100"/>
          <a:sy n="117" d="100"/>
        </p:scale>
        <p:origin x="9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20478" y="2160240"/>
            <a:ext cx="835104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E6F1FF"/>
                </a:solidFill>
                <a:latin typeface="Poppins"/>
                <a:ea typeface="Poppins"/>
                <a:cs typeface="Poppins"/>
                <a:sym typeface="Poppins"/>
              </a:rPr>
              <a:t>Array </a:t>
            </a:r>
            <a:r>
              <a:rPr lang="en-US" sz="6000" b="1" i="0" u="none" strike="noStrike" cap="none">
                <a:solidFill>
                  <a:srgbClr val="64FFDA"/>
                </a:solidFill>
                <a:latin typeface="Poppins"/>
                <a:ea typeface="Poppins"/>
                <a:cs typeface="Poppins"/>
                <a:sym typeface="Poppins"/>
              </a:rPr>
              <a:t>Data Structure</a:t>
            </a:r>
            <a:endParaRPr/>
          </a:p>
        </p:txBody>
      </p:sp>
      <p:sp>
        <p:nvSpPr>
          <p:cNvPr id="3" name="Google Shape;86;p13">
            <a:extLst>
              <a:ext uri="{FF2B5EF4-FFF2-40B4-BE49-F238E27FC236}">
                <a16:creationId xmlns:a16="http://schemas.microsoft.com/office/drawing/2014/main" id="{03976D27-5E05-7805-1899-45C20BD89633}"/>
              </a:ext>
            </a:extLst>
          </p:cNvPr>
          <p:cNvSpPr txBox="1"/>
          <p:nvPr/>
        </p:nvSpPr>
        <p:spPr>
          <a:xfrm>
            <a:off x="1809749" y="3556350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- 3 ]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239565"/>
            <a:ext cx="5276850" cy="337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2239565"/>
            <a:ext cx="5276850" cy="337899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859154" y="2630090"/>
            <a:ext cx="472059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57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Collections of Items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71550" y="3230165"/>
            <a:ext cx="44958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Array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ဆိုတာ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အမျိုးအစားတူတဲ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့ Data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တွေ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ဥပမာ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-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ဂဏန်းတွေချည်းပဲ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၊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စာသားတွေချည်းပဲ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)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ကို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နေရာတစ်နေရာတည်းမှာ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စုပြီးသိမ်းထားတဲ</a:t>
            </a:r>
            <a:r>
              <a:rPr lang="en-US" sz="1650" b="1" i="0" u="none" strike="noStrike" cap="none" dirty="0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့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Data Structure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တစ်ခု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ဖြစ်ပါတယ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်။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6612255" y="2696765"/>
            <a:ext cx="4720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Real World Analogy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24650" y="3296840"/>
            <a:ext cx="44958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ကြက်ဥကတ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် 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အကန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့်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လေးတွေပါတဲ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့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ဘူးနဲ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့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တူပါတယ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်။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အကန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့်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တစ်ခုစီမှာ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ပစ္စည်းတစ်ခုစီ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ထည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့်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ထားသလိုမျိုး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၊ Memory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ထဲမှာ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Data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တွေကို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အစဉ်လိုက</a:t>
            </a:r>
            <a:r>
              <a:rPr lang="en-US" sz="1650" b="1" i="0" u="none" strike="noStrike" cap="none" dirty="0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်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ထည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့်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သိမ်းတာပ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ါ။</a:t>
            </a:r>
            <a:endParaRPr dirty="0"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38275" y="269676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62812" y="2706290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Array ဆိုတာ ဘာလဲ?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/>
      <p:bldP spid="9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581025" y="581025"/>
            <a:ext cx="5540692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Memory ထဲမှာ ဘယ်လိုနေလဲ?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81025" y="2062460"/>
            <a:ext cx="52768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Array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တစ်ခုကို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တည်ဆောက်လိုက်တဲ့အခ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ါ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ကွန်ပျူတာက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Memory (RAM)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ထဲမှာ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နေရာလွတ်တွေကို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 err="1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အစဉ်လိုက</a:t>
            </a:r>
            <a:r>
              <a:rPr lang="en-US" sz="1650" b="1" i="0" u="none" strike="noStrike" cap="none" dirty="0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် (Contiguous Memory Locations)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ယူလိုက်ပါတယ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်။</a:t>
            </a:r>
            <a:endParaRPr dirty="0"/>
          </a:p>
        </p:txBody>
      </p:sp>
      <p:sp>
        <p:nvSpPr>
          <p:cNvPr id="109" name="Google Shape;109;p15"/>
          <p:cNvSpPr txBox="1"/>
          <p:nvPr/>
        </p:nvSpPr>
        <p:spPr>
          <a:xfrm>
            <a:off x="581025" y="4982467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ဒီလို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ဆက်တိုက်ရှိနေတဲ့အတွက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် Data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တွေကို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ရှာဖွေရတာ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(Access)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အလွန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်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လွယ်ကူမြန်ဆန်ပါတယ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်။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06DFB5-2C7C-75D4-7D4D-3168E75094C2}"/>
              </a:ext>
            </a:extLst>
          </p:cNvPr>
          <p:cNvGrpSpPr/>
          <p:nvPr/>
        </p:nvGrpSpPr>
        <p:grpSpPr>
          <a:xfrm>
            <a:off x="581025" y="3401317"/>
            <a:ext cx="5276850" cy="1295400"/>
            <a:chOff x="581025" y="3401317"/>
            <a:chExt cx="5276850" cy="1295400"/>
          </a:xfrm>
        </p:grpSpPr>
        <p:pic>
          <p:nvPicPr>
            <p:cNvPr id="106" name="Google Shape;106;p1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3401317"/>
              <a:ext cx="5276850" cy="12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5"/>
            <p:cNvSpPr txBox="1"/>
            <p:nvPr/>
          </p:nvSpPr>
          <p:spPr>
            <a:xfrm>
              <a:off x="885825" y="3528333"/>
              <a:ext cx="4667250" cy="914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ဥပမာ</a:t>
              </a:r>
              <a:r>
                <a:rPr lang="en-US" sz="150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- Variable ၅ </a:t>
              </a:r>
              <a:r>
                <a:rPr lang="en-US" sz="150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ခုစာ</a:t>
              </a:r>
              <a:r>
                <a:rPr lang="en-US" sz="150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Array </a:t>
              </a:r>
              <a:r>
                <a:rPr lang="en-US" sz="150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ဆောက်ရင</a:t>
              </a:r>
              <a:r>
                <a:rPr lang="en-US" sz="150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်၊ </a:t>
              </a:r>
              <a:r>
                <a:rPr lang="en-US" sz="150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ကွန်ပျူတာက</a:t>
              </a:r>
              <a:r>
                <a:rPr lang="en-US" sz="150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Memory </a:t>
              </a:r>
              <a:r>
                <a:rPr lang="en-US" sz="150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ထဲမှာ</a:t>
              </a:r>
              <a:r>
                <a:rPr lang="en-US" sz="150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1" i="0" u="none" strike="noStrike" cap="none" dirty="0" err="1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အကန</a:t>
              </a:r>
              <a:r>
                <a:rPr lang="en-US" sz="1500" b="1" i="0" u="none" strike="noStrike" cap="none" dirty="0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့် ၅ </a:t>
              </a:r>
              <a:r>
                <a:rPr lang="en-US" sz="1500" b="1" i="0" u="none" strike="noStrike" cap="none" dirty="0" err="1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ကန</a:t>
              </a:r>
              <a:r>
                <a:rPr lang="en-US" sz="1500" b="1" i="0" u="none" strike="noStrike" cap="none" dirty="0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့် </a:t>
              </a:r>
              <a:r>
                <a:rPr lang="en-US" sz="1500" b="1" i="0" u="none" strike="noStrike" cap="none" dirty="0" err="1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ဆက်တိုက</a:t>
              </a:r>
              <a:r>
                <a:rPr lang="en-US" sz="1500" b="1" i="0" u="none" strike="noStrike" cap="none" dirty="0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်</a:t>
              </a:r>
              <a:r>
                <a:rPr lang="en-US" sz="150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ဖယ်ထားပေးပါတယ</a:t>
              </a:r>
              <a:r>
                <a:rPr lang="en-US" sz="150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်။</a:t>
              </a:r>
              <a:endParaRPr dirty="0"/>
            </a:p>
          </p:txBody>
        </p:sp>
      </p:grpSp>
      <p:pic>
        <p:nvPicPr>
          <p:cNvPr id="111" name="Google Shape;111;p15" descr="Memory ထဲမှာ ဘယ်လိုနေလဲ?&#10;Array တစ်ခုကို တည်ဆောက်လိုက်တဲ့အခါ ကွန်ပျူတာက Memory (RAM) ထဲမှာ နေရာလွတ်တွေကို အစဉ်လိုက် (Contiguous Memory Locations) ယူလိုက်ပါတယ်။&#10;ဥပမာ - Variable ၅ ခုစာ Array ဆောက်ရင်၊ ကွန်ပျူတာက Memory ထဲမှာ အကန့် ၅ ကန့် ဆက်တိုက် ဖယ်ထားပေးပါတယ်။&#10;ဒီလို ဆက်တိုက်ရှိနေတဲ့အတွက် Data တွေကို ရှာဖွေရတာ (Access) အလွန် လွယ်ကူမြန်ဆန်ပါတယ်။&#10;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30500" y="1200150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0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81050" y="2396550"/>
            <a:ext cx="38604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b="1" i="0" u="none" strike="noStrike" cap="none" dirty="0">
                <a:solidFill>
                  <a:srgbClr val="64FFDA"/>
                </a:solidFill>
                <a:latin typeface="Fira Code"/>
                <a:ea typeface="Fira Code"/>
                <a:cs typeface="Fira Code"/>
                <a:sym typeface="Fira Code"/>
              </a:rPr>
              <a:t>0</a:t>
            </a:r>
            <a:endParaRPr dirty="0"/>
          </a:p>
        </p:txBody>
      </p:sp>
      <p:sp>
        <p:nvSpPr>
          <p:cNvPr id="119" name="Google Shape;119;p16"/>
          <p:cNvSpPr txBox="1"/>
          <p:nvPr/>
        </p:nvSpPr>
        <p:spPr>
          <a:xfrm>
            <a:off x="581025" y="4705350"/>
            <a:ext cx="3860452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892B0"/>
                </a:solidFill>
                <a:latin typeface="Fira Code"/>
                <a:ea typeface="Fira Code"/>
                <a:cs typeface="Fira Code"/>
                <a:sym typeface="Fira Code"/>
              </a:rPr>
              <a:t>STARTING INDEX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5012977" y="2130028"/>
            <a:ext cx="692789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E6F1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Zero-based Indexing</a:t>
            </a:r>
            <a:endParaRPr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5012977" y="2730103"/>
            <a:ext cx="6597997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Computer Science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မှာ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ရေတွက်တဲ့အခ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ါ </a:t>
            </a:r>
            <a:r>
              <a:rPr lang="en-US" sz="1650" b="1" i="0" u="none" strike="noStrike" cap="none" dirty="0">
                <a:solidFill>
                  <a:srgbClr val="E6F1F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ကနေ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မစဘဲ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1" i="0" u="none" strike="noStrike" cap="none" dirty="0">
                <a:solidFill>
                  <a:srgbClr val="64FFDA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ကနေ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စပါတယ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်။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ဒါကို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 Zero-based Indexing 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လို့ခေ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ါ်</a:t>
            </a:r>
            <a:r>
              <a:rPr lang="en-US" sz="1650" b="0" i="0" u="none" strike="noStrike" cap="none" dirty="0" err="1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ပါတယ</a:t>
            </a: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်။</a:t>
            </a:r>
            <a:endParaRPr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E4CC25-EF08-2C71-1C92-9A52C16F1948}"/>
              </a:ext>
            </a:extLst>
          </p:cNvPr>
          <p:cNvGrpSpPr/>
          <p:nvPr/>
        </p:nvGrpSpPr>
        <p:grpSpPr>
          <a:xfrm>
            <a:off x="5012977" y="3543300"/>
            <a:ext cx="6597900" cy="812530"/>
            <a:chOff x="5012977" y="3543300"/>
            <a:chExt cx="6597900" cy="812530"/>
          </a:xfrm>
        </p:grpSpPr>
        <p:sp>
          <p:nvSpPr>
            <p:cNvPr id="122" name="Google Shape;122;p16"/>
            <p:cNvSpPr txBox="1"/>
            <p:nvPr/>
          </p:nvSpPr>
          <p:spPr>
            <a:xfrm>
              <a:off x="5012977" y="3543300"/>
              <a:ext cx="6597900" cy="8125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ဒါကြောင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့် Array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ထဲက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ပထမဆုံး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အခန်းကို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လိုချင်ရင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်                              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လို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ခေ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ါ်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ရပါတယ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်။</a:t>
              </a:r>
              <a:endParaRPr dirty="0"/>
            </a:p>
          </p:txBody>
        </p:sp>
        <p:pic>
          <p:nvPicPr>
            <p:cNvPr id="123" name="Google Shape;123;p16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323756" y="3600449"/>
              <a:ext cx="1066800" cy="3238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7A24E7D-A72A-9FE7-48F2-F0B4CEAE8E8F}"/>
              </a:ext>
            </a:extLst>
          </p:cNvPr>
          <p:cNvGrpSpPr/>
          <p:nvPr/>
        </p:nvGrpSpPr>
        <p:grpSpPr>
          <a:xfrm>
            <a:off x="5012977" y="4404121"/>
            <a:ext cx="6597997" cy="1323975"/>
            <a:chOff x="5012977" y="4404121"/>
            <a:chExt cx="6597997" cy="1323975"/>
          </a:xfrm>
        </p:grpSpPr>
        <p:pic>
          <p:nvPicPr>
            <p:cNvPr id="117" name="Google Shape;117;p16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012977" y="4404121"/>
              <a:ext cx="6597997" cy="1323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" name="Google Shape;124;p16"/>
            <p:cNvSpPr txBox="1"/>
            <p:nvPr/>
          </p:nvSpPr>
          <p:spPr>
            <a:xfrm>
              <a:off x="5308252" y="4604146"/>
              <a:ext cx="6007447" cy="923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3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>
                  <a:solidFill>
                    <a:srgbClr val="64FFDA"/>
                  </a:solidFill>
                  <a:latin typeface="Lato"/>
                  <a:ea typeface="Lato"/>
                  <a:cs typeface="Lato"/>
                  <a:sym typeface="Lato"/>
                </a:rPr>
                <a:t>[10, 20, 30, 40]</a:t>
              </a:r>
              <a:r>
                <a:rPr lang="en-US" sz="1500" b="0" i="0" u="none" strike="noStrike" cap="none" dirty="0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ဆိုရင</a:t>
              </a:r>
              <a:r>
                <a:rPr lang="en-US" sz="1500" b="0" i="0" u="none" strike="noStrike" cap="none" dirty="0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်,</a:t>
              </a:r>
              <a:b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500" b="1" i="0" u="none" strike="noStrike" cap="none" dirty="0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10</a:t>
              </a:r>
              <a:r>
                <a:rPr lang="en-US" sz="1500" b="0" i="0" u="none" strike="noStrike" cap="none" dirty="0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ရဲ</a:t>
              </a:r>
              <a:r>
                <a:rPr lang="en-US" sz="1500" b="0" i="0" u="none" strike="noStrike" cap="none" dirty="0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့ Index </a:t>
              </a:r>
              <a:r>
                <a:rPr lang="en-US" sz="1500" b="0" i="0" u="none" strike="noStrike" cap="none" dirty="0" err="1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က</a:t>
              </a:r>
              <a:r>
                <a:rPr lang="en-US" sz="1500" b="0" i="0" u="none" strike="noStrike" cap="none" dirty="0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1" i="0" u="none" strike="noStrike" cap="none" dirty="0">
                  <a:solidFill>
                    <a:srgbClr val="64FFDA"/>
                  </a:solidFill>
                  <a:latin typeface="Lato"/>
                  <a:ea typeface="Lato"/>
                  <a:cs typeface="Lato"/>
                  <a:sym typeface="Lato"/>
                </a:rPr>
                <a:t>0</a:t>
              </a:r>
              <a:b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500" b="1" i="0" u="none" strike="noStrike" cap="none" dirty="0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40</a:t>
              </a:r>
              <a:r>
                <a:rPr lang="en-US" sz="1500" b="0" i="0" u="none" strike="noStrike" cap="none" dirty="0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ရဲ</a:t>
              </a:r>
              <a:r>
                <a:rPr lang="en-US" sz="1500" b="0" i="0" u="none" strike="noStrike" cap="none" dirty="0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့ Index </a:t>
              </a:r>
              <a:r>
                <a:rPr lang="en-US" sz="1500" b="0" i="0" u="none" strike="noStrike" cap="none" dirty="0" err="1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က</a:t>
              </a:r>
              <a:r>
                <a:rPr lang="en-US" sz="1500" b="0" i="0" u="none" strike="noStrike" cap="none" dirty="0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1" i="0" u="none" strike="noStrike" cap="none" dirty="0">
                  <a:solidFill>
                    <a:srgbClr val="64FFDA"/>
                  </a:solidFill>
                  <a:latin typeface="Lato"/>
                  <a:ea typeface="Lato"/>
                  <a:cs typeface="Lato"/>
                  <a:sym typeface="Lato"/>
                </a:rPr>
                <a:t>3</a:t>
              </a:r>
              <a:r>
                <a:rPr lang="en-US" sz="1500" b="0" i="0" u="none" strike="noStrike" cap="none" dirty="0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500" b="0" i="0" u="none" strike="noStrike" cap="none" dirty="0" err="1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ဖြစ်ပါတယ</a:t>
              </a:r>
              <a:r>
                <a:rPr lang="en-US" sz="1500" b="0" i="0" u="none" strike="noStrike" cap="none" dirty="0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်။</a:t>
              </a:r>
              <a:endParaRPr dirty="0"/>
            </a:p>
          </p:txBody>
        </p:sp>
      </p:grpSp>
      <p:sp>
        <p:nvSpPr>
          <p:cNvPr id="125" name="Google Shape;125;p16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Computer Science ရဲ့ ရေတွက်ပုံ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C5F9DBC-0496-CFAE-DC3A-8D69D2127CA6}"/>
              </a:ext>
            </a:extLst>
          </p:cNvPr>
          <p:cNvGrpSpPr/>
          <p:nvPr/>
        </p:nvGrpSpPr>
        <p:grpSpPr>
          <a:xfrm>
            <a:off x="581025" y="1752004"/>
            <a:ext cx="3422600" cy="4354115"/>
            <a:chOff x="581025" y="1752004"/>
            <a:chExt cx="3422600" cy="4354115"/>
          </a:xfrm>
        </p:grpSpPr>
        <p:pic>
          <p:nvPicPr>
            <p:cNvPr id="131" name="Google Shape;131;p17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1752004"/>
              <a:ext cx="3422600" cy="43541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17"/>
            <p:cNvSpPr txBox="1"/>
            <p:nvPr/>
          </p:nvSpPr>
          <p:spPr>
            <a:xfrm>
              <a:off x="1272123" y="3018829"/>
              <a:ext cx="2040255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 dirty="0">
                  <a:solidFill>
                    <a:srgbClr val="64FFD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Read / Access</a:t>
              </a:r>
              <a:endParaRPr dirty="0"/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876300" y="3561754"/>
              <a:ext cx="2832050" cy="16758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Array ထဲက Data ကို ဖတ်ခြင်း။ </a:t>
              </a:r>
              <a:b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50" b="1" i="0" u="none" strike="noStrike" cap="none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Index</a:t>
              </a:r>
              <a:r>
                <a:rPr lang="en-US" sz="1650" b="0" i="0" u="none" strike="noStrike" cap="none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ကိုသိရင် ချက်ချင်း ယူလို့ရလို့ အရမ်းမြန်ပါတယ်။ Memory ထဲမှာ နေရာတွက်ချက်ရ လွယ်ကူလို့ပါ။</a:t>
              </a:r>
              <a:endParaRPr/>
            </a:p>
          </p:txBody>
        </p:sp>
        <p:pic>
          <p:nvPicPr>
            <p:cNvPr id="140" name="Google Shape;140;p17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92213" y="2199679"/>
              <a:ext cx="600075" cy="533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1E4BAA6-C40F-E500-2584-7C0874C83420}"/>
              </a:ext>
            </a:extLst>
          </p:cNvPr>
          <p:cNvGrpSpPr/>
          <p:nvPr/>
        </p:nvGrpSpPr>
        <p:grpSpPr>
          <a:xfrm>
            <a:off x="4384625" y="1752004"/>
            <a:ext cx="3422600" cy="4354115"/>
            <a:chOff x="4384625" y="1752004"/>
            <a:chExt cx="3422600" cy="4354115"/>
          </a:xfrm>
        </p:grpSpPr>
        <p:pic>
          <p:nvPicPr>
            <p:cNvPr id="132" name="Google Shape;132;p17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384625" y="1752004"/>
              <a:ext cx="3422600" cy="435411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37DCEFB-CB41-ECFC-EFB4-5F223D841778}"/>
                </a:ext>
              </a:extLst>
            </p:cNvPr>
            <p:cNvGrpSpPr/>
            <p:nvPr/>
          </p:nvGrpSpPr>
          <p:grpSpPr>
            <a:xfrm>
              <a:off x="4679900" y="2199679"/>
              <a:ext cx="2832050" cy="3373040"/>
              <a:chOff x="4679900" y="2199679"/>
              <a:chExt cx="2832050" cy="3373040"/>
            </a:xfrm>
          </p:grpSpPr>
          <p:sp>
            <p:nvSpPr>
              <p:cNvPr id="136" name="Google Shape;136;p17"/>
              <p:cNvSpPr txBox="1"/>
              <p:nvPr/>
            </p:nvSpPr>
            <p:spPr>
              <a:xfrm>
                <a:off x="5255746" y="3018829"/>
                <a:ext cx="1680210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100" b="0" i="0" u="none" strike="noStrike" cap="none">
                    <a:solidFill>
                      <a:srgbClr val="58A6FF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Insert / Add</a:t>
                </a:r>
                <a:endParaRPr/>
              </a:p>
            </p:txBody>
          </p:sp>
          <p:sp>
            <p:nvSpPr>
              <p:cNvPr id="137" name="Google Shape;137;p17"/>
              <p:cNvSpPr txBox="1"/>
              <p:nvPr/>
            </p:nvSpPr>
            <p:spPr>
              <a:xfrm>
                <a:off x="4679900" y="3561754"/>
                <a:ext cx="2832050" cy="20109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14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CCD6F6"/>
                    </a:solidFill>
                    <a:latin typeface="Lato"/>
                    <a:ea typeface="Lato"/>
                    <a:cs typeface="Lato"/>
                    <a:sym typeface="Lato"/>
                  </a:rPr>
                  <a:t>Array အသစ်ထဲကို Data ထည့်ခြင်း။ </a:t>
                </a:r>
                <a:br>
                  <a:rPr lang="en-US"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sz="1650" b="0" i="0" u="none" strike="noStrike" cap="none">
                    <a:solidFill>
                      <a:srgbClr val="CCD6F6"/>
                    </a:solidFill>
                    <a:latin typeface="Lato"/>
                    <a:ea typeface="Lato"/>
                    <a:cs typeface="Lato"/>
                    <a:sym typeface="Lato"/>
                  </a:rPr>
                  <a:t> နောက်ဆုံးမှာ ထည့်တာ မြန်ပေမယ့်၊ </a:t>
                </a:r>
                <a:r>
                  <a:rPr lang="en-US" sz="1650" b="1" i="0" u="none" strike="noStrike" cap="none">
                    <a:solidFill>
                      <a:srgbClr val="E6F1FF"/>
                    </a:solidFill>
                    <a:latin typeface="Lato"/>
                    <a:ea typeface="Lato"/>
                    <a:cs typeface="Lato"/>
                    <a:sym typeface="Lato"/>
                  </a:rPr>
                  <a:t>အလယ်မှာ</a:t>
                </a:r>
                <a:r>
                  <a:rPr lang="en-US" sz="1650" b="0" i="0" u="none" strike="noStrike" cap="none">
                    <a:solidFill>
                      <a:srgbClr val="CCD6F6"/>
                    </a:solidFill>
                    <a:latin typeface="Lato"/>
                    <a:ea typeface="Lato"/>
                    <a:cs typeface="Lato"/>
                    <a:sym typeface="Lato"/>
                  </a:rPr>
                  <a:t> ဖြတ်ထည့်ရင် ကျန်တဲ့ Data တွေ ရွှေ့ရလို့ အချိန်ပိုကြာပါတယ်။</a:t>
                </a:r>
                <a:endParaRPr/>
              </a:p>
            </p:txBody>
          </p:sp>
          <p:pic>
            <p:nvPicPr>
              <p:cNvPr id="141" name="Google Shape;141;p17" descr="image.png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5829151" y="2199679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FDD2BEB-7807-4F8D-9576-439475E4CAE5}"/>
              </a:ext>
            </a:extLst>
          </p:cNvPr>
          <p:cNvGrpSpPr/>
          <p:nvPr/>
        </p:nvGrpSpPr>
        <p:grpSpPr>
          <a:xfrm>
            <a:off x="8188225" y="1752004"/>
            <a:ext cx="3422600" cy="4354115"/>
            <a:chOff x="8188225" y="1752004"/>
            <a:chExt cx="3422600" cy="4354115"/>
          </a:xfrm>
        </p:grpSpPr>
        <p:pic>
          <p:nvPicPr>
            <p:cNvPr id="133" name="Google Shape;133;p17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188225" y="1752004"/>
              <a:ext cx="3422600" cy="43541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17"/>
            <p:cNvSpPr txBox="1"/>
            <p:nvPr/>
          </p:nvSpPr>
          <p:spPr>
            <a:xfrm>
              <a:off x="8724304" y="3018829"/>
              <a:ext cx="2350293" cy="4000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0" i="0" u="none" strike="noStrike" cap="none">
                  <a:solidFill>
                    <a:srgbClr val="FF7B72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Delete / Remove</a:t>
              </a:r>
              <a:endParaRPr/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8483500" y="3561754"/>
              <a:ext cx="2832050" cy="13406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Array ထဲက Data ကို ဖျက်ခြင်း။ </a:t>
              </a:r>
              <a:b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650" b="0" i="0" u="none" strike="noStrike" cap="none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ဖျက်လိုက်တဲ့ နေရာလွတ်ကို ပြန်ဖြည့်ဖို့ ကျန်တဲ့ Data တွေ </a:t>
              </a:r>
              <a:r>
                <a:rPr lang="en-US" sz="1650" b="1" i="0" u="none" strike="noStrike" cap="none">
                  <a:solidFill>
                    <a:srgbClr val="E6F1FF"/>
                  </a:solidFill>
                  <a:latin typeface="Lato"/>
                  <a:ea typeface="Lato"/>
                  <a:cs typeface="Lato"/>
                  <a:sym typeface="Lato"/>
                </a:rPr>
                <a:t>ရှေ့ကို ပြန်ရွှေ့</a:t>
              </a:r>
              <a:r>
                <a:rPr lang="en-US" sz="1650" b="0" i="0" u="none" strike="noStrike" cap="none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ပေးရပါတယ်။</a:t>
              </a:r>
              <a:endParaRPr/>
            </a:p>
          </p:txBody>
        </p:sp>
        <p:pic>
          <p:nvPicPr>
            <p:cNvPr id="142" name="Google Shape;142;p17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9666089" y="2199679"/>
              <a:ext cx="466725" cy="533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17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Array ရဲ့ အခြေခံ လုပ်ဆောင်ချက်များ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37432"/>
            <a:ext cx="11029950" cy="35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2295525" y="5542657"/>
            <a:ext cx="7600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 dirty="0" err="1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မှတ်ချက</a:t>
            </a:r>
            <a:r>
              <a:rPr lang="en-US" sz="1650" b="0" i="1" u="none" strike="noStrike" cap="none" dirty="0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်: Array </a:t>
            </a:r>
            <a:r>
              <a:rPr lang="en-US" sz="1650" b="0" i="1" u="none" strike="noStrike" cap="none" dirty="0" err="1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နောက်ဆုံး</a:t>
            </a:r>
            <a:r>
              <a:rPr lang="en-US" sz="1650" b="0" i="1" u="none" strike="noStrike" cap="none" dirty="0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 (End) </a:t>
            </a:r>
            <a:r>
              <a:rPr lang="en-US" sz="1650" b="0" i="1" u="none" strike="noStrike" cap="none" dirty="0" err="1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မှာ</a:t>
            </a:r>
            <a:r>
              <a:rPr lang="en-US" sz="1650" b="0" i="1" u="none" strike="noStrike" cap="none" dirty="0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 Data </a:t>
            </a:r>
            <a:r>
              <a:rPr lang="en-US" sz="1650" b="0" i="1" u="none" strike="noStrike" cap="none" dirty="0" err="1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အသစ်ထည</a:t>
            </a:r>
            <a:r>
              <a:rPr lang="en-US" sz="1650" b="0" i="1" u="none" strike="noStrike" cap="none" dirty="0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့်</a:t>
            </a:r>
            <a:r>
              <a:rPr lang="en-US" sz="1650" b="0" i="1" u="none" strike="noStrike" cap="none" dirty="0" err="1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တာ</a:t>
            </a:r>
            <a:r>
              <a:rPr lang="en-US" sz="1650" b="0" i="1" u="none" strike="noStrike" cap="none" dirty="0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/</a:t>
            </a:r>
            <a:r>
              <a:rPr lang="en-US" sz="1650" b="0" i="1" u="none" strike="noStrike" cap="none" dirty="0" err="1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ဖျက်တာကတော</a:t>
            </a:r>
            <a:r>
              <a:rPr lang="en-US" sz="1650" b="0" i="1" u="none" strike="noStrike" cap="none" dirty="0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့ O(1) </a:t>
            </a:r>
            <a:r>
              <a:rPr lang="en-US" sz="1650" b="0" i="1" u="none" strike="noStrike" cap="none" dirty="0" err="1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ပဲ</a:t>
            </a:r>
            <a:r>
              <a:rPr lang="en-US" sz="1650" b="0" i="1" u="none" strike="noStrike" cap="none" dirty="0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50" b="0" i="1" u="none" strike="noStrike" cap="none" dirty="0" err="1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ကြာပါတယ</a:t>
            </a:r>
            <a:r>
              <a:rPr lang="en-US" sz="1650" b="0" i="1" u="none" strike="noStrike" cap="none" dirty="0">
                <a:solidFill>
                  <a:srgbClr val="8892B0"/>
                </a:solidFill>
                <a:latin typeface="Lato"/>
                <a:ea typeface="Lato"/>
                <a:cs typeface="Lato"/>
                <a:sym typeface="Lato"/>
              </a:rPr>
              <a:t>်။</a:t>
            </a:r>
            <a:endParaRPr dirty="0"/>
          </a:p>
        </p:txBody>
      </p:sp>
      <p:graphicFrame>
        <p:nvGraphicFramePr>
          <p:cNvPr id="151" name="Google Shape;151;p18"/>
          <p:cNvGraphicFramePr/>
          <p:nvPr/>
        </p:nvGraphicFramePr>
        <p:xfrm>
          <a:off x="590550" y="1846957"/>
          <a:ext cx="11010900" cy="3504250"/>
        </p:xfrm>
        <a:graphic>
          <a:graphicData uri="http://schemas.openxmlformats.org/drawingml/2006/table">
            <a:tbl>
              <a:tblPr firstRow="1" bandRow="1">
                <a:noFill/>
                <a:tableStyleId>{44CF591C-10FF-4183-935D-B19ECEC2BA0C}</a:tableStyleId>
              </a:tblPr>
              <a:tblGrid>
                <a:gridCol w="491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7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64FFD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Operation (လုပ်ဆောင်ချက်)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64FFD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Average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64FFDA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Worst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3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Access</a:t>
                      </a: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 (Index ဖြင့် ဖတ်ခြင်း)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O(1) Fast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O(1)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Search</a:t>
                      </a: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 (တန်ဖိုး လိုက်ရှာခြင်း)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O(n)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O(n)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Insert</a:t>
                      </a: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 (Data အသစ် ထည့်ခြင်း)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O(n) *Shift required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O(n)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Delete</a:t>
                      </a: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 (Data တစ်ခု ဖျက်ခြင်း)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latin typeface="Lato"/>
                          <a:ea typeface="Lato"/>
                          <a:cs typeface="Lato"/>
                          <a:sym typeface="Lato"/>
                        </a:rPr>
                        <a:t>O(n) *Shift required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latin typeface="Lato"/>
                          <a:ea typeface="Lato"/>
                          <a:cs typeface="Lato"/>
                          <a:sym typeface="Lato"/>
                        </a:rPr>
                        <a:t>O(n)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2" name="Google Shape;152;p18"/>
          <p:cNvSpPr/>
          <p:nvPr/>
        </p:nvSpPr>
        <p:spPr>
          <a:xfrm>
            <a:off x="590550" y="2594669"/>
            <a:ext cx="491891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5509468" y="2594669"/>
            <a:ext cx="321617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8725644" y="2594669"/>
            <a:ext cx="287580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90550" y="3280469"/>
            <a:ext cx="491891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509468" y="3280469"/>
            <a:ext cx="321617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8725644" y="3280469"/>
            <a:ext cx="287580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90550" y="3966269"/>
            <a:ext cx="491891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5509468" y="3966269"/>
            <a:ext cx="321617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8725644" y="3966269"/>
            <a:ext cx="287580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590550" y="4652069"/>
            <a:ext cx="491891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5509468" y="4652069"/>
            <a:ext cx="321617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8725644" y="4652069"/>
            <a:ext cx="2875805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Time Complexity (Big O of Array)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581150"/>
            <a:ext cx="11029950" cy="4695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EB4B1B9-FCB5-E2F4-BED9-C50215377EF3}"/>
              </a:ext>
            </a:extLst>
          </p:cNvPr>
          <p:cNvGrpSpPr/>
          <p:nvPr/>
        </p:nvGrpSpPr>
        <p:grpSpPr>
          <a:xfrm>
            <a:off x="581025" y="4335958"/>
            <a:ext cx="5590698" cy="1481732"/>
            <a:chOff x="581025" y="4335958"/>
            <a:chExt cx="5590698" cy="1481732"/>
          </a:xfrm>
        </p:grpSpPr>
        <p:sp>
          <p:nvSpPr>
            <p:cNvPr id="171" name="Google Shape;171;p19"/>
            <p:cNvSpPr txBox="1"/>
            <p:nvPr/>
          </p:nvSpPr>
          <p:spPr>
            <a:xfrm>
              <a:off x="581025" y="4335958"/>
              <a:ext cx="5590698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58A6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Static Array</a:t>
              </a:r>
              <a:endParaRPr dirty="0"/>
            </a:p>
          </p:txBody>
        </p:sp>
        <p:sp>
          <p:nvSpPr>
            <p:cNvPr id="172" name="Google Shape;172;p19"/>
            <p:cNvSpPr txBox="1"/>
            <p:nvPr/>
          </p:nvSpPr>
          <p:spPr>
            <a:xfrm>
              <a:off x="581025" y="4812208"/>
              <a:ext cx="532447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အစကတည်းက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အခန်းအရေအတွက်ကို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ကြိုတင်သတ်မှတ်ထားရပါတယ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်။ (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ဥပမာ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အခန်း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၁၀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ခန်းဆိုရင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် ၁၁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ခုမြောက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ထည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လို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လုံးဝမရပ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ါ)။</a:t>
              </a:r>
              <a:endParaRPr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627D152-1526-543A-A543-79738A1AA8C0}"/>
              </a:ext>
            </a:extLst>
          </p:cNvPr>
          <p:cNvGrpSpPr/>
          <p:nvPr/>
        </p:nvGrpSpPr>
        <p:grpSpPr>
          <a:xfrm>
            <a:off x="6286500" y="4335958"/>
            <a:ext cx="5590698" cy="1481732"/>
            <a:chOff x="6286500" y="4335958"/>
            <a:chExt cx="5590698" cy="1481732"/>
          </a:xfrm>
        </p:grpSpPr>
        <p:sp>
          <p:nvSpPr>
            <p:cNvPr id="173" name="Google Shape;173;p19"/>
            <p:cNvSpPr txBox="1"/>
            <p:nvPr/>
          </p:nvSpPr>
          <p:spPr>
            <a:xfrm>
              <a:off x="6286500" y="4335958"/>
              <a:ext cx="5590698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64FFD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Dynamic Array</a:t>
              </a:r>
              <a:endParaRPr dirty="0"/>
            </a:p>
          </p:txBody>
        </p:sp>
        <p:sp>
          <p:nvSpPr>
            <p:cNvPr id="174" name="Google Shape;174;p19"/>
            <p:cNvSpPr txBox="1"/>
            <p:nvPr/>
          </p:nvSpPr>
          <p:spPr>
            <a:xfrm>
              <a:off x="6286500" y="4812208"/>
              <a:ext cx="5324475" cy="10054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Data ထည့်ရင် ထည့်သလောက် သူ့ဘာသာ အလိုအလျောက် Size ကြီးသွားပါတယ်။ (Behind the scenes မှာ Array အသစ်ဆောက်ပြီး Data ကူးပြောင်းပေးတာပါ)။</a:t>
              </a:r>
              <a:endParaRPr/>
            </a:p>
          </p:txBody>
        </p:sp>
      </p:grpSp>
      <p:sp>
        <p:nvSpPr>
          <p:cNvPr id="175" name="Google Shape;175;p19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Static vs Dynamic Arrays</a:t>
            </a:r>
            <a:endParaRPr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/>
          <p:nvPr/>
        </p:nvSpPr>
        <p:spPr>
          <a:xfrm>
            <a:off x="1333500" y="3929062"/>
            <a:ext cx="9525000" cy="1051321"/>
          </a:xfrm>
          <a:prstGeom prst="roundRect">
            <a:avLst>
              <a:gd name="adj" fmla="val 7248"/>
            </a:avLst>
          </a:prstGeom>
          <a:solidFill>
            <a:srgbClr val="11224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6358184-B694-01CE-92BF-BD018CD6DBC7}"/>
              </a:ext>
            </a:extLst>
          </p:cNvPr>
          <p:cNvGrpSpPr/>
          <p:nvPr/>
        </p:nvGrpSpPr>
        <p:grpSpPr>
          <a:xfrm>
            <a:off x="1333500" y="1350168"/>
            <a:ext cx="9525000" cy="1051321"/>
            <a:chOff x="1333500" y="1350168"/>
            <a:chExt cx="9525000" cy="1051321"/>
          </a:xfrm>
        </p:grpSpPr>
        <p:sp>
          <p:nvSpPr>
            <p:cNvPr id="181" name="Google Shape;181;p20"/>
            <p:cNvSpPr/>
            <p:nvPr/>
          </p:nvSpPr>
          <p:spPr>
            <a:xfrm>
              <a:off x="1333500" y="1350168"/>
              <a:ext cx="9525000" cy="1051321"/>
            </a:xfrm>
            <a:prstGeom prst="roundRect">
              <a:avLst>
                <a:gd name="adj" fmla="val 7248"/>
              </a:avLst>
            </a:prstGeom>
            <a:solidFill>
              <a:srgbClr val="11224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20"/>
            <p:cNvSpPr txBox="1"/>
            <p:nvPr/>
          </p:nvSpPr>
          <p:spPr>
            <a:xfrm>
              <a:off x="1857375" y="1540668"/>
              <a:ext cx="88107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64FFDA"/>
                  </a:solidFill>
                  <a:latin typeface="Lato"/>
                  <a:ea typeface="Lato"/>
                  <a:cs typeface="Lato"/>
                  <a:sym typeface="Lato"/>
                </a:rPr>
                <a:t>Fast Access: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Index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ကိုသိရင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် Data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ကို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ချက်ချင်း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                    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ဖတ်လို့ရတဲ့အတွက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် Access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လုပ်ရာမှာ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အလွန်မြန်ဆန်ပါတယ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်။</a:t>
              </a:r>
              <a:endParaRPr dirty="0"/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1333500" y="1350168"/>
              <a:ext cx="38100" cy="1051321"/>
            </a:xfrm>
            <a:prstGeom prst="rect">
              <a:avLst/>
            </a:prstGeom>
            <a:solidFill>
              <a:srgbClr val="64FFD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3" name="Google Shape;193;p20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957887" y="1593056"/>
              <a:ext cx="609600" cy="323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5" name="Google Shape;195;p20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514475" y="1593056"/>
              <a:ext cx="238125" cy="2762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44EC95-F1BC-52ED-6548-6CA2AED9204A}"/>
              </a:ext>
            </a:extLst>
          </p:cNvPr>
          <p:cNvGrpSpPr/>
          <p:nvPr/>
        </p:nvGrpSpPr>
        <p:grpSpPr>
          <a:xfrm>
            <a:off x="1333500" y="2639615"/>
            <a:ext cx="9525000" cy="1051321"/>
            <a:chOff x="1333500" y="2639615"/>
            <a:chExt cx="9525000" cy="1051321"/>
          </a:xfrm>
        </p:grpSpPr>
        <p:sp>
          <p:nvSpPr>
            <p:cNvPr id="184" name="Google Shape;184;p20"/>
            <p:cNvSpPr/>
            <p:nvPr/>
          </p:nvSpPr>
          <p:spPr>
            <a:xfrm>
              <a:off x="1333500" y="2639615"/>
              <a:ext cx="9525000" cy="1051321"/>
            </a:xfrm>
            <a:prstGeom prst="roundRect">
              <a:avLst>
                <a:gd name="adj" fmla="val 7248"/>
              </a:avLst>
            </a:prstGeom>
            <a:solidFill>
              <a:srgbClr val="11224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20"/>
            <p:cNvSpPr txBox="1"/>
            <p:nvPr/>
          </p:nvSpPr>
          <p:spPr>
            <a:xfrm>
              <a:off x="1857375" y="2830115"/>
              <a:ext cx="881062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64FFDA"/>
                  </a:solidFill>
                  <a:latin typeface="Lato"/>
                  <a:ea typeface="Lato"/>
                  <a:cs typeface="Lato"/>
                  <a:sym typeface="Lato"/>
                </a:rPr>
                <a:t>Cache Friendly: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Data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တွေကို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Memory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ထဲမှာ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အစဉ်လိုက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သိမ်းထားတဲ့အတွက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် CPU Cache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ပေ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ါ်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ရောက်လွယ်ပြီး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Process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လုပ်ရတာ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ပိုသွက်ပါတယ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်။</a:t>
              </a:r>
              <a:endParaRPr dirty="0"/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1333500" y="2639615"/>
              <a:ext cx="38100" cy="1051321"/>
            </a:xfrm>
            <a:prstGeom prst="rect">
              <a:avLst/>
            </a:prstGeom>
            <a:solidFill>
              <a:srgbClr val="64FFD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6" name="Google Shape;196;p20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514475" y="2882503"/>
              <a:ext cx="238125" cy="2762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35F969B-B58E-E189-4664-D9B296247835}"/>
              </a:ext>
            </a:extLst>
          </p:cNvPr>
          <p:cNvGrpSpPr/>
          <p:nvPr/>
        </p:nvGrpSpPr>
        <p:grpSpPr>
          <a:xfrm>
            <a:off x="1333500" y="3929062"/>
            <a:ext cx="9334575" cy="1051321"/>
            <a:chOff x="1333500" y="3929062"/>
            <a:chExt cx="9334575" cy="1051321"/>
          </a:xfrm>
        </p:grpSpPr>
        <p:sp>
          <p:nvSpPr>
            <p:cNvPr id="188" name="Google Shape;188;p20"/>
            <p:cNvSpPr txBox="1"/>
            <p:nvPr/>
          </p:nvSpPr>
          <p:spPr>
            <a:xfrm>
              <a:off x="1857375" y="4097790"/>
              <a:ext cx="8810700" cy="66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>
                  <a:solidFill>
                    <a:srgbClr val="FF7B72"/>
                  </a:solidFill>
                  <a:latin typeface="Lato"/>
                  <a:ea typeface="Lato"/>
                  <a:cs typeface="Lato"/>
                  <a:sym typeface="Lato"/>
                </a:rPr>
                <a:t>Slow Insert/Delete: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အလယ်မှာ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Data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အသစ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ဖြတ်ထည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့်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တာ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(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သို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့)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ဖျက်တာ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လုပ်ချင်ရင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်၊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နောက်က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Data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တွေကို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တစ်ခန်းချင်းစီ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ရှေ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့/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နောက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်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ရ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ွှ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ေ့ရတဲ့အတွက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်                    </a:t>
              </a:r>
              <a:r>
                <a:rPr lang="en-US" sz="1650" b="0" i="0" u="none" strike="noStrike" cap="none" dirty="0" err="1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ကြာပါတယ</a:t>
              </a:r>
              <a:r>
                <a:rPr lang="en-US" sz="1650" b="0" i="0" u="none" strike="noStrike" cap="none" dirty="0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်။</a:t>
              </a:r>
              <a:endParaRPr dirty="0"/>
            </a:p>
          </p:txBody>
        </p:sp>
        <p:sp>
          <p:nvSpPr>
            <p:cNvPr id="189" name="Google Shape;189;p20"/>
            <p:cNvSpPr/>
            <p:nvPr/>
          </p:nvSpPr>
          <p:spPr>
            <a:xfrm>
              <a:off x="1333500" y="3929062"/>
              <a:ext cx="38100" cy="1051321"/>
            </a:xfrm>
            <a:prstGeom prst="rect">
              <a:avLst/>
            </a:prstGeom>
            <a:solidFill>
              <a:srgbClr val="FF7B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4" name="Google Shape;194;p20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957887" y="4553303"/>
              <a:ext cx="609600" cy="3238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0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514475" y="4150178"/>
              <a:ext cx="209550" cy="2762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E2D575-4E19-4DA9-387C-B598932F9131}"/>
              </a:ext>
            </a:extLst>
          </p:cNvPr>
          <p:cNvGrpSpPr/>
          <p:nvPr/>
        </p:nvGrpSpPr>
        <p:grpSpPr>
          <a:xfrm>
            <a:off x="1333500" y="5218509"/>
            <a:ext cx="9525000" cy="1051321"/>
            <a:chOff x="1333500" y="5218509"/>
            <a:chExt cx="9525000" cy="1051321"/>
          </a:xfrm>
        </p:grpSpPr>
        <p:sp>
          <p:nvSpPr>
            <p:cNvPr id="190" name="Google Shape;190;p20"/>
            <p:cNvSpPr/>
            <p:nvPr/>
          </p:nvSpPr>
          <p:spPr>
            <a:xfrm>
              <a:off x="1333500" y="5218509"/>
              <a:ext cx="9525000" cy="1051321"/>
            </a:xfrm>
            <a:prstGeom prst="roundRect">
              <a:avLst>
                <a:gd name="adj" fmla="val 7248"/>
              </a:avLst>
            </a:prstGeom>
            <a:solidFill>
              <a:srgbClr val="11224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20"/>
            <p:cNvSpPr txBox="1"/>
            <p:nvPr/>
          </p:nvSpPr>
          <p:spPr>
            <a:xfrm>
              <a:off x="1857375" y="5409009"/>
              <a:ext cx="881062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FF7B72"/>
                  </a:solidFill>
                  <a:latin typeface="Lato"/>
                  <a:ea typeface="Lato"/>
                  <a:cs typeface="Lato"/>
                  <a:sym typeface="Lato"/>
                </a:rPr>
                <a:t>Fixed Size Issue:</a:t>
              </a:r>
              <a:r>
                <a:rPr lang="en-US" sz="1650" b="0" i="0" u="none" strike="noStrike" cap="none">
                  <a:solidFill>
                    <a:srgbClr val="CCD6F6"/>
                  </a:solidFill>
                  <a:latin typeface="Lato"/>
                  <a:ea typeface="Lato"/>
                  <a:cs typeface="Lato"/>
                  <a:sym typeface="Lato"/>
                </a:rPr>
                <a:t> Static Array တွေမှာ နေရာပိုနေရင် Memory အလကားဖြစ်ပြီး၊ နေရာမလောက်ရင် အသစ်ပြန်ဆောက်ရလို့ အလုပ်ရှုပ်ပါတယ်။</a:t>
              </a:r>
              <a:endParaRPr/>
            </a:p>
          </p:txBody>
        </p:sp>
        <p:sp>
          <p:nvSpPr>
            <p:cNvPr id="192" name="Google Shape;192;p20"/>
            <p:cNvSpPr/>
            <p:nvPr/>
          </p:nvSpPr>
          <p:spPr>
            <a:xfrm>
              <a:off x="1333500" y="5218509"/>
              <a:ext cx="38100" cy="1051321"/>
            </a:xfrm>
            <a:prstGeom prst="rect">
              <a:avLst/>
            </a:prstGeom>
            <a:solidFill>
              <a:srgbClr val="FF7B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98" name="Google Shape;198;p20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514475" y="5461396"/>
              <a:ext cx="209550" cy="276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" name="Google Shape;199;p20"/>
          <p:cNvSpPr txBox="1"/>
          <p:nvPr/>
        </p:nvSpPr>
        <p:spPr>
          <a:xfrm>
            <a:off x="581025" y="350043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အားသာချက် နှင့် အားနည်းချက်များ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581025" y="581025"/>
            <a:ext cx="11581447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 dirty="0">
                <a:solidFill>
                  <a:srgbClr val="64FFD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Find the Maximum Value in an Array</a:t>
            </a:r>
            <a:endParaRPr lang="my-MM" dirty="0"/>
          </a:p>
        </p:txBody>
      </p:sp>
      <p:sp>
        <p:nvSpPr>
          <p:cNvPr id="5" name="Google Shape;172;p19">
            <a:extLst>
              <a:ext uri="{FF2B5EF4-FFF2-40B4-BE49-F238E27FC236}">
                <a16:creationId xmlns:a16="http://schemas.microsoft.com/office/drawing/2014/main" id="{AF08BF96-642C-7BAB-5F64-FC72DB16AEBD}"/>
              </a:ext>
            </a:extLst>
          </p:cNvPr>
          <p:cNvSpPr txBox="1"/>
          <p:nvPr/>
        </p:nvSpPr>
        <p:spPr>
          <a:xfrm>
            <a:off x="581025" y="1339959"/>
            <a:ext cx="10972543" cy="507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CD6F6"/>
                </a:solidFill>
                <a:latin typeface="Lato"/>
                <a:ea typeface="Lato"/>
                <a:cs typeface="Lato"/>
                <a:sym typeface="Lato"/>
              </a:rPr>
              <a:t>Description: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CCD6F6"/>
                </a:solidFill>
                <a:latin typeface="Lato"/>
                <a:sym typeface="Lato"/>
              </a:rPr>
              <a:t>Given an array (list) of integers, write a function that finds and returns the maximum value in the array. You should not use the built-in max() function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650" dirty="0">
              <a:solidFill>
                <a:srgbClr val="CCD6F6"/>
              </a:solidFill>
              <a:latin typeface="Lato"/>
              <a:sym typeface="Lato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CD7F7"/>
                </a:solidFill>
                <a:latin typeface="Lato" panose="020F0502020204030203" pitchFamily="34" charset="77"/>
              </a:rPr>
              <a:t>Example 1: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CD7F7"/>
                </a:solidFill>
                <a:latin typeface="Lato" panose="020F0502020204030203" pitchFamily="34" charset="77"/>
              </a:rPr>
              <a:t>Input: [1, 5, 3, 9, 2]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CD7F7"/>
                </a:solidFill>
                <a:latin typeface="Lato" panose="020F0502020204030203" pitchFamily="34" charset="77"/>
              </a:rPr>
              <a:t>Output: 9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CCD7F7"/>
              </a:solidFill>
              <a:latin typeface="Lato" panose="020F0502020204030203" pitchFamily="34" charset="7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CD7F7"/>
                </a:solidFill>
                <a:latin typeface="Lato" panose="020F0502020204030203" pitchFamily="34" charset="77"/>
              </a:rPr>
              <a:t>Example 2: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CD7F7"/>
                </a:solidFill>
                <a:latin typeface="Lato" panose="020F0502020204030203" pitchFamily="34" charset="77"/>
              </a:rPr>
              <a:t>Input: [-10, -3, -5, -1]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CD7F7"/>
                </a:solidFill>
                <a:latin typeface="Lato" panose="020F0502020204030203" pitchFamily="34" charset="77"/>
              </a:rPr>
              <a:t>Output: -1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CCD7F7"/>
              </a:solidFill>
              <a:latin typeface="Lato" panose="020F0502020204030203" pitchFamily="34" charset="77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CD7F7"/>
                </a:solidFill>
                <a:latin typeface="Lato" panose="020F0502020204030203" pitchFamily="34" charset="77"/>
              </a:rPr>
              <a:t>Example 3: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CD7F7"/>
                </a:solidFill>
                <a:latin typeface="Lato" panose="020F0502020204030203" pitchFamily="34" charset="77"/>
              </a:rPr>
              <a:t>Input: [42]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CCD7F7"/>
                </a:solidFill>
                <a:latin typeface="Lato" panose="020F0502020204030203" pitchFamily="34" charset="77"/>
              </a:rPr>
              <a:t>Output: 42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2|46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7|38.8|24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9|1.6|2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31.1|95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|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6|23.1|90.2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</TotalTime>
  <Words>1223</Words>
  <Application>Microsoft Macintosh PowerPoint</Application>
  <PresentationFormat>Widescreen</PresentationFormat>
  <Paragraphs>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Poppins</vt:lpstr>
      <vt:lpstr>Fira Code</vt:lpstr>
      <vt:lpstr>Poppins SemiBold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7</cp:revision>
  <dcterms:modified xsi:type="dcterms:W3CDTF">2026-04-06T15:46:19Z</dcterms:modified>
</cp:coreProperties>
</file>